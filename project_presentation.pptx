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nton" charset="1" panose="00000500000000000000"/>
      <p:regular r:id="rId23"/>
    </p:embeddedFont>
    <p:embeddedFont>
      <p:font typeface="Poppins Bold" charset="1" panose="00000800000000000000"/>
      <p:regular r:id="rId24"/>
    </p:embeddedFont>
    <p:embeddedFont>
      <p:font typeface="Poppins"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Une étape de nettoyage a été réalisée afin de garantir la fiabilité des données. Nous avons notamment contrôlé les valeurs nulles, analysé les doublons et conservé la dimension temporelle pour permettre une analyse de l’évolution dans le temps.”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Une étape de nettoyage a été réalisée afin de garantir la fiabilité des données. Nous avons notamment contrôlé les valeurs nulles, analysé les doublons et conservé la dimension temporelle pour permettre une analyse de l’évolution dans le temps.”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Une étape de nettoyage a été réalisée afin de garantir la fiabilité des données. Nous avons notamment contrôlé les valeurs nulles, analysé les doublons et conservé la dimension temporelle pour permettre une analyse de l’évolution dans le temps.”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Une étape de nettoyage a été réalisée afin de garantir la fiabilité des données. Nous avons notamment contrôlé les valeurs nulles, analysé les doublons et conservé la dimension temporelle pour permettre une analyse de l’évolution dans le temps.”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Une étape de nettoyage a été réalisée afin de garantir la fiabilité des données. Nous avons notamment contrôlé les valeurs nulles, analysé les doublons et conservé la dimension temporelle pour permettre une analyse de l’évolution dans le temps.”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Une étape de nettoyage a été réalisée afin de garantir la fiabilité des données. Nous avons notamment contrôlé les valeurs nulles, analysé les doublons et conservé la dimension temporelle pour permettre une analyse de l’évolution dans le temps.”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La CAH m'a permis d'observer la structure naturelle des données et de confirmer qu'une partition en trois groupes était pertinente avant d'appliquer l'algorithme K-Means.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La CAH m'a permis d'observer la structure naturelle des données et de confirmer qu'une partition en trois groupes était pertinente avant d'appliquer l'algorithme K-Means.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Cluster 1</a:t>
            </a:r>
          </a:p>
          <a:p>
            <a:r>
              <a:rPr lang="en-US"/>
              <a:t/>
            </a:r>
          </a:p>
          <a:p>
            <a:r>
              <a:rPr lang="en-US"/>
              <a:t>Ce groupe regroupe des pays caractérisés par :</a:t>
            </a:r>
          </a:p>
          <a:p>
            <a:r>
              <a:rPr lang="en-US"/>
              <a:t/>
            </a:r>
          </a:p>
          <a:p>
            <a:r>
              <a:rPr lang="en-US"/>
              <a:t>- un PIB par habitant élevé ;</a:t>
            </a:r>
          </a:p>
          <a:p>
            <a:r>
              <a:rPr lang="en-US"/>
              <a:t>- une forte stabilité politique ;</a:t>
            </a:r>
          </a:p>
          <a:p>
            <a:r>
              <a:rPr lang="en-US"/>
              <a:t>- une consommation importante de volaille ;</a:t>
            </a:r>
          </a:p>
          <a:p>
            <a:r>
              <a:rPr lang="en-US"/>
              <a:t>- une disponibilité intérieure supérieure au cluster 0 ;</a:t>
            </a:r>
          </a:p>
          <a:p>
            <a:r>
              <a:rPr lang="en-US"/>
              <a:t>- une production et des échanges commerciaux modérés.</a:t>
            </a:r>
          </a:p>
          <a:p>
            <a:r>
              <a:rPr lang="en-US"/>
              <a:t/>
            </a:r>
          </a:p>
          <a:p>
            <a:r>
              <a:rPr lang="en-US"/>
              <a:t>Ces pays disposent d'un pouvoir d'achat élevé et d'un environnement économique favorable.</a:t>
            </a:r>
          </a:p>
          <a:p>
            <a:r>
              <a:rPr lang="en-US"/>
              <a:t/>
            </a:r>
          </a:p>
          <a:p>
            <a:r>
              <a:rPr lang="en-US"/>
              <a:t>Ce cluster correspond à des marchés développés, susceptibles de représenter des opportunités intéressantes pour une stratégie d'exportation.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La CAH m'a permis d'observer la structure naturelle des données et de confirmer qu'une partition en trois groupes était pertinente avant d'appliquer l'algorithme K-Means.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La CAH m'a permis d'observer la structure naturelle des données et de confirmer qu'une partition en trois groupes était pertinente avant d'appliquer l'algorithme K-Means.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La CAH m'a permis d'observer la structure naturelle des données et de confirmer qu'une partition en trois groupes était pertinente avant d'appliquer l'algorithme K-Means.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https://openclassrooms.com/fr/paths/1040/projects/1580" TargetMode="External" Type="http://schemas.openxmlformats.org/officeDocument/2006/relationships/hyperlink"/><Relationship Id="rId8" Target="https://openclassrooms.com/fr/paths/1040/projects/1580"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png"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2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893162" y="4381165"/>
            <a:ext cx="15304372" cy="15304372"/>
          </a:xfrm>
          <a:custGeom>
            <a:avLst/>
            <a:gdLst/>
            <a:ahLst/>
            <a:cxnLst/>
            <a:rect r="r" b="b" t="t" l="l"/>
            <a:pathLst>
              <a:path h="15304372" w="15304372">
                <a:moveTo>
                  <a:pt x="0" y="0"/>
                </a:moveTo>
                <a:lnTo>
                  <a:pt x="15304372" y="0"/>
                </a:lnTo>
                <a:lnTo>
                  <a:pt x="15304372" y="15304373"/>
                </a:lnTo>
                <a:lnTo>
                  <a:pt x="0" y="15304373"/>
                </a:lnTo>
                <a:lnTo>
                  <a:pt x="0" y="0"/>
                </a:lnTo>
                <a:close/>
              </a:path>
            </a:pathLst>
          </a:custGeom>
          <a:blipFill>
            <a:blip r:embed="rId2">
              <a:alphaModFix amt="32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39887" y="9038887"/>
            <a:ext cx="438826" cy="438826"/>
          </a:xfrm>
          <a:custGeom>
            <a:avLst/>
            <a:gdLst/>
            <a:ahLst/>
            <a:cxnLst/>
            <a:rect r="r" b="b" t="t" l="l"/>
            <a:pathLst>
              <a:path h="438826" w="438826">
                <a:moveTo>
                  <a:pt x="0" y="0"/>
                </a:moveTo>
                <a:lnTo>
                  <a:pt x="438826" y="0"/>
                </a:lnTo>
                <a:lnTo>
                  <a:pt x="438826" y="438826"/>
                </a:lnTo>
                <a:lnTo>
                  <a:pt x="0" y="4388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957" y="-1829156"/>
            <a:ext cx="19506742" cy="12420643"/>
          </a:xfrm>
          <a:custGeom>
            <a:avLst/>
            <a:gdLst/>
            <a:ahLst/>
            <a:cxnLst/>
            <a:rect r="r" b="b" t="t" l="l"/>
            <a:pathLst>
              <a:path h="12420643" w="19506742">
                <a:moveTo>
                  <a:pt x="0" y="0"/>
                </a:moveTo>
                <a:lnTo>
                  <a:pt x="19506742" y="0"/>
                </a:lnTo>
                <a:lnTo>
                  <a:pt x="19506742" y="12420643"/>
                </a:lnTo>
                <a:lnTo>
                  <a:pt x="0" y="12420643"/>
                </a:lnTo>
                <a:lnTo>
                  <a:pt x="0" y="0"/>
                </a:lnTo>
                <a:close/>
              </a:path>
            </a:pathLst>
          </a:custGeom>
          <a:blipFill>
            <a:blip r:embed="rId6"/>
            <a:stretch>
              <a:fillRect l="-451" t="-5646" r="-451" b="0"/>
            </a:stretch>
          </a:blipFill>
        </p:spPr>
      </p:sp>
      <p:grpSp>
        <p:nvGrpSpPr>
          <p:cNvPr name="Group 5" id="5"/>
          <p:cNvGrpSpPr/>
          <p:nvPr/>
        </p:nvGrpSpPr>
        <p:grpSpPr>
          <a:xfrm rot="0">
            <a:off x="-2171891" y="6103567"/>
            <a:ext cx="11965219" cy="1226464"/>
            <a:chOff x="0" y="0"/>
            <a:chExt cx="2621312" cy="268691"/>
          </a:xfrm>
        </p:grpSpPr>
        <p:sp>
          <p:nvSpPr>
            <p:cNvPr name="Freeform 6" id="6"/>
            <p:cNvSpPr/>
            <p:nvPr/>
          </p:nvSpPr>
          <p:spPr>
            <a:xfrm flipH="false" flipV="false" rot="0">
              <a:off x="0" y="0"/>
              <a:ext cx="2621312" cy="268691"/>
            </a:xfrm>
            <a:custGeom>
              <a:avLst/>
              <a:gdLst/>
              <a:ahLst/>
              <a:cxnLst/>
              <a:rect r="r" b="b" t="t" l="l"/>
              <a:pathLst>
                <a:path h="268691" w="2621312">
                  <a:moveTo>
                    <a:pt x="0" y="0"/>
                  </a:moveTo>
                  <a:lnTo>
                    <a:pt x="2621312" y="0"/>
                  </a:lnTo>
                  <a:lnTo>
                    <a:pt x="2621312" y="268691"/>
                  </a:lnTo>
                  <a:lnTo>
                    <a:pt x="0" y="268691"/>
                  </a:lnTo>
                  <a:close/>
                </a:path>
              </a:pathLst>
            </a:custGeom>
            <a:gradFill rotWithShape="true">
              <a:gsLst>
                <a:gs pos="0">
                  <a:srgbClr val="3428BA">
                    <a:alpha val="100000"/>
                  </a:srgbClr>
                </a:gs>
                <a:gs pos="100000">
                  <a:srgbClr val="5FA2DB">
                    <a:alpha val="100000"/>
                  </a:srgbClr>
                </a:gs>
              </a:gsLst>
              <a:lin ang="0"/>
            </a:gradFill>
          </p:spPr>
        </p:sp>
        <p:sp>
          <p:nvSpPr>
            <p:cNvPr name="TextBox 7" id="7"/>
            <p:cNvSpPr txBox="true"/>
            <p:nvPr/>
          </p:nvSpPr>
          <p:spPr>
            <a:xfrm>
              <a:off x="0" y="-57150"/>
              <a:ext cx="2621312" cy="32584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818225" y="3486619"/>
            <a:ext cx="8378701" cy="2255156"/>
            <a:chOff x="0" y="0"/>
            <a:chExt cx="1835586" cy="494054"/>
          </a:xfrm>
        </p:grpSpPr>
        <p:sp>
          <p:nvSpPr>
            <p:cNvPr name="Freeform 9" id="9"/>
            <p:cNvSpPr/>
            <p:nvPr/>
          </p:nvSpPr>
          <p:spPr>
            <a:xfrm flipH="false" flipV="false" rot="0">
              <a:off x="0" y="0"/>
              <a:ext cx="1835586" cy="494054"/>
            </a:xfrm>
            <a:custGeom>
              <a:avLst/>
              <a:gdLst/>
              <a:ahLst/>
              <a:cxnLst/>
              <a:rect r="r" b="b" t="t" l="l"/>
              <a:pathLst>
                <a:path h="494054" w="1835586">
                  <a:moveTo>
                    <a:pt x="0" y="0"/>
                  </a:moveTo>
                  <a:lnTo>
                    <a:pt x="1835586" y="0"/>
                  </a:lnTo>
                  <a:lnTo>
                    <a:pt x="1835586" y="494054"/>
                  </a:lnTo>
                  <a:lnTo>
                    <a:pt x="0" y="494054"/>
                  </a:lnTo>
                  <a:close/>
                </a:path>
              </a:pathLst>
            </a:custGeom>
            <a:gradFill rotWithShape="true">
              <a:gsLst>
                <a:gs pos="0">
                  <a:srgbClr val="3428BA">
                    <a:alpha val="100000"/>
                  </a:srgbClr>
                </a:gs>
                <a:gs pos="100000">
                  <a:srgbClr val="5FA2DB">
                    <a:alpha val="100000"/>
                  </a:srgbClr>
                </a:gs>
              </a:gsLst>
              <a:lin ang="0"/>
            </a:gradFill>
          </p:spPr>
        </p:sp>
        <p:sp>
          <p:nvSpPr>
            <p:cNvPr name="TextBox 10" id="10"/>
            <p:cNvSpPr txBox="true"/>
            <p:nvPr/>
          </p:nvSpPr>
          <p:spPr>
            <a:xfrm>
              <a:off x="0" y="-57150"/>
              <a:ext cx="1835586" cy="55120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845914" y="3522629"/>
            <a:ext cx="9118294" cy="3136966"/>
          </a:xfrm>
          <a:prstGeom prst="rect">
            <a:avLst/>
          </a:prstGeom>
        </p:spPr>
        <p:txBody>
          <a:bodyPr anchor="t" rtlCol="false" tIns="0" lIns="0" bIns="0" rIns="0">
            <a:spAutoFit/>
          </a:bodyPr>
          <a:lstStyle/>
          <a:p>
            <a:pPr algn="l">
              <a:lnSpc>
                <a:spcPts val="8387"/>
              </a:lnSpc>
            </a:pPr>
            <a:r>
              <a:rPr lang="en-US" sz="5991">
                <a:solidFill>
                  <a:srgbClr val="FFFFFF"/>
                </a:solidFill>
                <a:latin typeface="Anton"/>
                <a:ea typeface="Anton"/>
                <a:cs typeface="Anton"/>
                <a:sym typeface="Anton"/>
                <a:hlinkClick r:id="rId7" tooltip="https://openclassrooms.com/fr/paths/1040/projects/1580"/>
              </a:rPr>
              <a:t>ÉTUDE DE MARCHÉ INTERNATIONALE </a:t>
            </a:r>
          </a:p>
          <a:p>
            <a:pPr algn="l">
              <a:lnSpc>
                <a:spcPts val="8387"/>
              </a:lnSpc>
              <a:spcBef>
                <a:spcPct val="0"/>
              </a:spcBef>
            </a:pPr>
          </a:p>
        </p:txBody>
      </p:sp>
      <p:sp>
        <p:nvSpPr>
          <p:cNvPr name="TextBox 12" id="12"/>
          <p:cNvSpPr txBox="true"/>
          <p:nvPr/>
        </p:nvSpPr>
        <p:spPr>
          <a:xfrm rot="0">
            <a:off x="845914" y="6146333"/>
            <a:ext cx="9483867" cy="2300723"/>
          </a:xfrm>
          <a:prstGeom prst="rect">
            <a:avLst/>
          </a:prstGeom>
        </p:spPr>
        <p:txBody>
          <a:bodyPr anchor="t" rtlCol="false" tIns="0" lIns="0" bIns="0" rIns="0">
            <a:spAutoFit/>
          </a:bodyPr>
          <a:lstStyle/>
          <a:p>
            <a:pPr algn="l">
              <a:lnSpc>
                <a:spcPts val="4619"/>
              </a:lnSpc>
            </a:pPr>
            <a:r>
              <a:rPr lang="en-US" sz="3299">
                <a:solidFill>
                  <a:srgbClr val="FFFFFF"/>
                </a:solidFill>
                <a:latin typeface="Anton"/>
                <a:ea typeface="Anton"/>
                <a:cs typeface="Anton"/>
                <a:sym typeface="Anton"/>
                <a:hlinkClick r:id="rId8" tooltip="https://openclassrooms.com/fr/paths/1040/projects/1580"/>
              </a:rPr>
              <a:t>Analyser les marchés • Identifier les opportunités • Développer les exportations</a:t>
            </a:r>
          </a:p>
          <a:p>
            <a:pPr algn="l">
              <a:lnSpc>
                <a:spcPts val="9507"/>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6648128" y="-116195"/>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2">
              <a:alphaModFix amt="32999"/>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8076849" y="2723421"/>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17259300" y="8819474"/>
            <a:ext cx="438826" cy="438826"/>
          </a:xfrm>
          <a:custGeom>
            <a:avLst/>
            <a:gdLst/>
            <a:ahLst/>
            <a:cxnLst/>
            <a:rect r="r" b="b" t="t" l="l"/>
            <a:pathLst>
              <a:path h="438826" w="438826">
                <a:moveTo>
                  <a:pt x="0" y="0"/>
                </a:moveTo>
                <a:lnTo>
                  <a:pt x="438826" y="0"/>
                </a:lnTo>
                <a:lnTo>
                  <a:pt x="438826" y="438826"/>
                </a:lnTo>
                <a:lnTo>
                  <a:pt x="0" y="4388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309487" y="1267455"/>
            <a:ext cx="15730401" cy="1111467"/>
          </a:xfrm>
          <a:prstGeom prst="rect">
            <a:avLst/>
          </a:prstGeom>
        </p:spPr>
        <p:txBody>
          <a:bodyPr anchor="t" rtlCol="false" tIns="0" lIns="0" bIns="0" rIns="0">
            <a:spAutoFit/>
          </a:bodyPr>
          <a:lstStyle/>
          <a:p>
            <a:pPr algn="ctr">
              <a:lnSpc>
                <a:spcPts val="9088"/>
              </a:lnSpc>
              <a:spcBef>
                <a:spcPct val="0"/>
              </a:spcBef>
            </a:pPr>
            <a:r>
              <a:rPr lang="en-US" sz="6491">
                <a:solidFill>
                  <a:srgbClr val="262B34"/>
                </a:solidFill>
                <a:latin typeface="Anton"/>
                <a:ea typeface="Anton"/>
                <a:cs typeface="Anton"/>
                <a:sym typeface="Anton"/>
              </a:rPr>
              <a:t>CONTEXTE ET OBJECTIF</a:t>
            </a:r>
          </a:p>
        </p:txBody>
      </p:sp>
      <p:sp>
        <p:nvSpPr>
          <p:cNvPr name="TextBox 6" id="6"/>
          <p:cNvSpPr txBox="true"/>
          <p:nvPr/>
        </p:nvSpPr>
        <p:spPr>
          <a:xfrm rot="0">
            <a:off x="1900333" y="2590071"/>
            <a:ext cx="14548708" cy="7315200"/>
          </a:xfrm>
          <a:prstGeom prst="rect">
            <a:avLst/>
          </a:prstGeom>
        </p:spPr>
        <p:txBody>
          <a:bodyPr anchor="t" rtlCol="false" tIns="0" lIns="0" bIns="0" rIns="0">
            <a:spAutoFit/>
          </a:bodyPr>
          <a:lstStyle/>
          <a:p>
            <a:pPr algn="l">
              <a:lnSpc>
                <a:spcPts val="4199"/>
              </a:lnSpc>
            </a:pPr>
            <a:r>
              <a:rPr lang="en-US" sz="2499" b="true">
                <a:solidFill>
                  <a:srgbClr val="000000"/>
                </a:solidFill>
                <a:latin typeface="Poppins Bold"/>
                <a:ea typeface="Poppins Bold"/>
                <a:cs typeface="Poppins Bold"/>
                <a:sym typeface="Poppins Bold"/>
              </a:rPr>
              <a:t>Contexte</a:t>
            </a:r>
          </a:p>
          <a:p>
            <a:pPr algn="l">
              <a:lnSpc>
                <a:spcPts val="4199"/>
              </a:lnSpc>
            </a:pPr>
            <a:r>
              <a:rPr lang="en-US" sz="2499">
                <a:solidFill>
                  <a:srgbClr val="000000"/>
                </a:solidFill>
                <a:latin typeface="Poppins"/>
                <a:ea typeface="Poppins"/>
                <a:cs typeface="Poppins"/>
                <a:sym typeface="Poppins"/>
              </a:rPr>
              <a:t>La Poule Qui Chante </a:t>
            </a:r>
            <a:r>
              <a:rPr lang="en-US" sz="2499">
                <a:solidFill>
                  <a:srgbClr val="000000"/>
                </a:solidFill>
                <a:latin typeface="Poppins"/>
                <a:ea typeface="Poppins"/>
                <a:cs typeface="Poppins"/>
                <a:sym typeface="Poppins"/>
              </a:rPr>
              <a:t> souhaite s'appuyer sur une analyse de données afin de cibler les pays présentant le meilleur potentiel commercial et de limiter les risques liés à une expansion internationale.</a:t>
            </a:r>
          </a:p>
          <a:p>
            <a:pPr algn="l">
              <a:lnSpc>
                <a:spcPts val="4199"/>
              </a:lnSpc>
            </a:pPr>
          </a:p>
          <a:p>
            <a:pPr algn="l">
              <a:lnSpc>
                <a:spcPts val="4199"/>
              </a:lnSpc>
            </a:pPr>
            <a:r>
              <a:rPr lang="en-US" sz="2499" b="true">
                <a:solidFill>
                  <a:srgbClr val="000000"/>
                </a:solidFill>
                <a:latin typeface="Poppins Bold"/>
                <a:ea typeface="Poppins Bold"/>
                <a:cs typeface="Poppins Bold"/>
                <a:sym typeface="Poppins Bold"/>
              </a:rPr>
              <a:t>Objectif de la mission</a:t>
            </a:r>
          </a:p>
          <a:p>
            <a:pPr algn="l">
              <a:lnSpc>
                <a:spcPts val="4199"/>
              </a:lnSpc>
            </a:pPr>
            <a:r>
              <a:rPr lang="en-US" sz="2499">
                <a:solidFill>
                  <a:srgbClr val="000000"/>
                </a:solidFill>
                <a:latin typeface="Poppins"/>
                <a:ea typeface="Poppins"/>
                <a:cs typeface="Poppins"/>
                <a:sym typeface="Poppins"/>
              </a:rPr>
              <a:t>Réaliser une étude de marché basée sur des données économiques, démographiques et commerciales afin de :</a:t>
            </a:r>
          </a:p>
          <a:p>
            <a:pPr algn="l" marL="539749" indent="-269875" lvl="1">
              <a:lnSpc>
                <a:spcPts val="4199"/>
              </a:lnSpc>
              <a:buFont typeface="Arial"/>
              <a:buChar char="•"/>
            </a:pPr>
            <a:r>
              <a:rPr lang="en-US" sz="2499">
                <a:solidFill>
                  <a:srgbClr val="000000"/>
                </a:solidFill>
                <a:latin typeface="Poppins"/>
                <a:ea typeface="Poppins"/>
                <a:cs typeface="Poppins"/>
                <a:sym typeface="Poppins"/>
              </a:rPr>
              <a:t>Ide</a:t>
            </a:r>
            <a:r>
              <a:rPr lang="en-US" sz="2499">
                <a:solidFill>
                  <a:srgbClr val="000000"/>
                </a:solidFill>
                <a:latin typeface="Poppins"/>
                <a:ea typeface="Poppins"/>
                <a:cs typeface="Poppins"/>
                <a:sym typeface="Poppins"/>
              </a:rPr>
              <a:t>ntifier les profils de pays présentant des caractéristiques similaires grâce à des méthodes de clustering.</a:t>
            </a:r>
          </a:p>
          <a:p>
            <a:pPr algn="l" marL="539749" indent="-269875" lvl="1">
              <a:lnSpc>
                <a:spcPts val="4199"/>
              </a:lnSpc>
              <a:buFont typeface="Arial"/>
              <a:buChar char="•"/>
            </a:pPr>
            <a:r>
              <a:rPr lang="en-US" sz="2499">
                <a:solidFill>
                  <a:srgbClr val="000000"/>
                </a:solidFill>
                <a:latin typeface="Poppins"/>
                <a:ea typeface="Poppins"/>
                <a:cs typeface="Poppins"/>
                <a:sym typeface="Poppins"/>
              </a:rPr>
              <a:t>Sélec</a:t>
            </a:r>
            <a:r>
              <a:rPr lang="en-US" sz="2499">
                <a:solidFill>
                  <a:srgbClr val="000000"/>
                </a:solidFill>
                <a:latin typeface="Poppins"/>
                <a:ea typeface="Poppins"/>
                <a:cs typeface="Poppins"/>
                <a:sym typeface="Poppins"/>
              </a:rPr>
              <a:t>tionner les marchés les plus attractifs pour une stratégie d'exportation.</a:t>
            </a:r>
          </a:p>
          <a:p>
            <a:pPr algn="l" marL="539749" indent="-269875" lvl="1">
              <a:lnSpc>
                <a:spcPts val="4199"/>
              </a:lnSpc>
              <a:buFont typeface="Arial"/>
              <a:buChar char="•"/>
            </a:pPr>
            <a:r>
              <a:rPr lang="en-US" sz="2499">
                <a:solidFill>
                  <a:srgbClr val="000000"/>
                </a:solidFill>
                <a:latin typeface="Poppins"/>
                <a:ea typeface="Poppins"/>
                <a:cs typeface="Poppins"/>
                <a:sym typeface="Poppins"/>
              </a:rPr>
              <a:t>F</a:t>
            </a:r>
            <a:r>
              <a:rPr lang="en-US" sz="2499">
                <a:solidFill>
                  <a:srgbClr val="000000"/>
                </a:solidFill>
                <a:latin typeface="Poppins"/>
                <a:ea typeface="Poppins"/>
                <a:cs typeface="Poppins"/>
                <a:sym typeface="Poppins"/>
              </a:rPr>
              <a:t>ormuler une recommandation argumentée des pays à fort potentiel pour La Poule Qui Chante.</a:t>
            </a:r>
          </a:p>
          <a:p>
            <a:pPr algn="l">
              <a:lnSpc>
                <a:spcPts val="41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8012709" y="-1229654"/>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2">
              <a:alphaModFix amt="32999"/>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7724329" y="2561651"/>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17259300" y="8983796"/>
            <a:ext cx="438826" cy="438826"/>
          </a:xfrm>
          <a:custGeom>
            <a:avLst/>
            <a:gdLst/>
            <a:ahLst/>
            <a:cxnLst/>
            <a:rect r="r" b="b" t="t" l="l"/>
            <a:pathLst>
              <a:path h="438826" w="438826">
                <a:moveTo>
                  <a:pt x="0" y="0"/>
                </a:moveTo>
                <a:lnTo>
                  <a:pt x="438826" y="0"/>
                </a:lnTo>
                <a:lnTo>
                  <a:pt x="438826" y="438826"/>
                </a:lnTo>
                <a:lnTo>
                  <a:pt x="0" y="4388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388963" y="732317"/>
            <a:ext cx="2620237" cy="1624547"/>
          </a:xfrm>
          <a:custGeom>
            <a:avLst/>
            <a:gdLst/>
            <a:ahLst/>
            <a:cxnLst/>
            <a:rect r="r" b="b" t="t" l="l"/>
            <a:pathLst>
              <a:path h="1624547" w="2620237">
                <a:moveTo>
                  <a:pt x="0" y="0"/>
                </a:moveTo>
                <a:lnTo>
                  <a:pt x="2620237" y="0"/>
                </a:lnTo>
                <a:lnTo>
                  <a:pt x="2620237" y="1624547"/>
                </a:lnTo>
                <a:lnTo>
                  <a:pt x="0" y="16245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278800" y="1245397"/>
            <a:ext cx="15730401" cy="1111467"/>
          </a:xfrm>
          <a:prstGeom prst="rect">
            <a:avLst/>
          </a:prstGeom>
        </p:spPr>
        <p:txBody>
          <a:bodyPr anchor="t" rtlCol="false" tIns="0" lIns="0" bIns="0" rIns="0">
            <a:spAutoFit/>
          </a:bodyPr>
          <a:lstStyle/>
          <a:p>
            <a:pPr algn="ctr">
              <a:lnSpc>
                <a:spcPts val="9088"/>
              </a:lnSpc>
              <a:spcBef>
                <a:spcPct val="0"/>
              </a:spcBef>
            </a:pPr>
            <a:r>
              <a:rPr lang="en-US" sz="6491">
                <a:solidFill>
                  <a:srgbClr val="262B34"/>
                </a:solidFill>
                <a:latin typeface="Anton"/>
                <a:ea typeface="Anton"/>
                <a:cs typeface="Anton"/>
                <a:sym typeface="Anton"/>
              </a:rPr>
              <a:t>DONNÉES UTILISÉES</a:t>
            </a:r>
          </a:p>
        </p:txBody>
      </p:sp>
      <p:sp>
        <p:nvSpPr>
          <p:cNvPr name="TextBox 7" id="7"/>
          <p:cNvSpPr txBox="true"/>
          <p:nvPr/>
        </p:nvSpPr>
        <p:spPr>
          <a:xfrm rot="0">
            <a:off x="2160491" y="2720368"/>
            <a:ext cx="13967017" cy="7750991"/>
          </a:xfrm>
          <a:prstGeom prst="rect">
            <a:avLst/>
          </a:prstGeom>
        </p:spPr>
        <p:txBody>
          <a:bodyPr anchor="t" rtlCol="false" tIns="0" lIns="0" bIns="0" rIns="0">
            <a:spAutoFit/>
          </a:bodyPr>
          <a:lstStyle/>
          <a:p>
            <a:pPr algn="l">
              <a:lnSpc>
                <a:spcPts val="4766"/>
              </a:lnSpc>
            </a:pPr>
            <a:r>
              <a:rPr lang="en-US" sz="2206" b="true">
                <a:solidFill>
                  <a:srgbClr val="000000"/>
                </a:solidFill>
                <a:latin typeface="Poppins Bold"/>
                <a:ea typeface="Poppins Bold"/>
                <a:cs typeface="Poppins Bold"/>
                <a:sym typeface="Poppins Bold"/>
              </a:rPr>
              <a:t>Sourc</a:t>
            </a:r>
            <a:r>
              <a:rPr lang="en-US" sz="2206" b="true">
                <a:solidFill>
                  <a:srgbClr val="000000"/>
                </a:solidFill>
                <a:latin typeface="Poppins Bold"/>
                <a:ea typeface="Poppins Bold"/>
                <a:cs typeface="Poppins Bold"/>
                <a:sym typeface="Poppins Bold"/>
              </a:rPr>
              <a:t>es internes</a:t>
            </a:r>
          </a:p>
          <a:p>
            <a:pPr algn="l" marL="476459" indent="-238230" lvl="1">
              <a:lnSpc>
                <a:spcPts val="4766"/>
              </a:lnSpc>
              <a:buFont typeface="Arial"/>
              <a:buChar char="•"/>
            </a:pPr>
            <a:r>
              <a:rPr lang="en-US" sz="2206">
                <a:solidFill>
                  <a:srgbClr val="000000"/>
                </a:solidFill>
                <a:latin typeface="Poppins"/>
                <a:ea typeface="Poppins"/>
                <a:cs typeface="Poppins"/>
                <a:sym typeface="Poppins"/>
              </a:rPr>
              <a:t>Disponibilité alimentaire - FAOSTAT (2018) : production, importation</a:t>
            </a:r>
            <a:r>
              <a:rPr lang="en-US" sz="2206">
                <a:solidFill>
                  <a:srgbClr val="000000"/>
                </a:solidFill>
                <a:latin typeface="Poppins"/>
                <a:ea typeface="Poppins"/>
                <a:cs typeface="Poppins"/>
                <a:sym typeface="Poppins"/>
              </a:rPr>
              <a:t>s, exportations, disponibilité intérieure et consommation de volaille.</a:t>
            </a:r>
          </a:p>
          <a:p>
            <a:pPr algn="l" marL="476459" indent="-238230" lvl="1">
              <a:lnSpc>
                <a:spcPts val="4766"/>
              </a:lnSpc>
              <a:buFont typeface="Arial"/>
              <a:buChar char="•"/>
            </a:pPr>
            <a:r>
              <a:rPr lang="en-US" sz="2206">
                <a:solidFill>
                  <a:srgbClr val="000000"/>
                </a:solidFill>
                <a:latin typeface="Poppins"/>
                <a:ea typeface="Poppins"/>
                <a:cs typeface="Poppins"/>
                <a:sym typeface="Poppins"/>
              </a:rPr>
              <a:t>Population (</a:t>
            </a:r>
            <a:r>
              <a:rPr lang="en-US" sz="2206">
                <a:solidFill>
                  <a:srgbClr val="000000"/>
                </a:solidFill>
                <a:latin typeface="Poppins"/>
                <a:ea typeface="Poppins"/>
                <a:cs typeface="Poppins"/>
                <a:sym typeface="Poppins"/>
              </a:rPr>
              <a:t>FAO) : population totale par pays.</a:t>
            </a:r>
          </a:p>
          <a:p>
            <a:pPr algn="l">
              <a:lnSpc>
                <a:spcPts val="4766"/>
              </a:lnSpc>
            </a:pPr>
          </a:p>
          <a:p>
            <a:pPr algn="l">
              <a:lnSpc>
                <a:spcPts val="4766"/>
              </a:lnSpc>
            </a:pPr>
            <a:r>
              <a:rPr lang="en-US" sz="2206" b="true">
                <a:solidFill>
                  <a:srgbClr val="000000"/>
                </a:solidFill>
                <a:latin typeface="Poppins Bold"/>
                <a:ea typeface="Poppins Bold"/>
                <a:cs typeface="Poppins Bold"/>
                <a:sym typeface="Poppins Bold"/>
              </a:rPr>
              <a:t>Source externe</a:t>
            </a:r>
          </a:p>
          <a:p>
            <a:pPr algn="l">
              <a:lnSpc>
                <a:spcPts val="4766"/>
              </a:lnSpc>
            </a:pPr>
            <a:r>
              <a:rPr lang="en-US" sz="2206">
                <a:solidFill>
                  <a:srgbClr val="000000"/>
                </a:solidFill>
                <a:latin typeface="Poppins"/>
                <a:ea typeface="Poppins"/>
                <a:cs typeface="Poppins"/>
                <a:sym typeface="Poppins"/>
              </a:rPr>
              <a:t>Ba</a:t>
            </a:r>
            <a:r>
              <a:rPr lang="en-US" sz="2206">
                <a:solidFill>
                  <a:srgbClr val="000000"/>
                </a:solidFill>
                <a:latin typeface="Poppins"/>
                <a:ea typeface="Poppins"/>
                <a:cs typeface="Poppins"/>
                <a:sym typeface="Poppins"/>
              </a:rPr>
              <a:t>nque mondiale :</a:t>
            </a:r>
          </a:p>
          <a:p>
            <a:pPr algn="l" marL="476459" indent="-238230" lvl="1">
              <a:lnSpc>
                <a:spcPts val="4766"/>
              </a:lnSpc>
              <a:buFont typeface="Arial"/>
              <a:buChar char="•"/>
            </a:pPr>
            <a:r>
              <a:rPr lang="en-US" sz="2206">
                <a:solidFill>
                  <a:srgbClr val="000000"/>
                </a:solidFill>
                <a:latin typeface="Poppins"/>
                <a:ea typeface="Poppins"/>
                <a:cs typeface="Poppins"/>
                <a:sym typeface="Poppins"/>
              </a:rPr>
              <a:t>PIB </a:t>
            </a:r>
            <a:r>
              <a:rPr lang="en-US" sz="2206">
                <a:solidFill>
                  <a:srgbClr val="000000"/>
                </a:solidFill>
                <a:latin typeface="Poppins"/>
                <a:ea typeface="Poppins"/>
                <a:cs typeface="Poppins"/>
                <a:sym typeface="Poppins"/>
              </a:rPr>
              <a:t>par habitant (USD)</a:t>
            </a:r>
          </a:p>
          <a:p>
            <a:pPr algn="l" marL="476459" indent="-238230" lvl="1">
              <a:lnSpc>
                <a:spcPts val="4766"/>
              </a:lnSpc>
              <a:buFont typeface="Arial"/>
              <a:buChar char="•"/>
            </a:pPr>
            <a:r>
              <a:rPr lang="en-US" sz="2206">
                <a:solidFill>
                  <a:srgbClr val="000000"/>
                </a:solidFill>
                <a:latin typeface="Poppins"/>
                <a:ea typeface="Poppins"/>
                <a:cs typeface="Poppins"/>
                <a:sym typeface="Poppins"/>
              </a:rPr>
              <a:t>Taux d'urbanisation (%)</a:t>
            </a:r>
          </a:p>
          <a:p>
            <a:pPr algn="l">
              <a:lnSpc>
                <a:spcPts val="4766"/>
              </a:lnSpc>
            </a:pPr>
            <a:r>
              <a:rPr lang="en-US" sz="2206">
                <a:solidFill>
                  <a:srgbClr val="000000"/>
                </a:solidFill>
                <a:latin typeface="Poppins"/>
                <a:ea typeface="Poppins"/>
                <a:cs typeface="Poppins"/>
                <a:sym typeface="Poppins"/>
              </a:rPr>
              <a:t>Worldwide Gover</a:t>
            </a:r>
            <a:r>
              <a:rPr lang="en-US" sz="2206">
                <a:solidFill>
                  <a:srgbClr val="000000"/>
                </a:solidFill>
                <a:latin typeface="Poppins"/>
                <a:ea typeface="Poppins"/>
                <a:cs typeface="Poppins"/>
                <a:sym typeface="Poppins"/>
              </a:rPr>
              <a:t>nance Indicators (WGI) :</a:t>
            </a:r>
          </a:p>
          <a:p>
            <a:pPr algn="l" marL="476459" indent="-238230" lvl="1">
              <a:lnSpc>
                <a:spcPts val="4766"/>
              </a:lnSpc>
              <a:buFont typeface="Arial"/>
              <a:buChar char="•"/>
            </a:pPr>
            <a:r>
              <a:rPr lang="en-US" sz="2206">
                <a:solidFill>
                  <a:srgbClr val="000000"/>
                </a:solidFill>
                <a:latin typeface="Poppins"/>
                <a:ea typeface="Poppins"/>
                <a:cs typeface="Poppins"/>
                <a:sym typeface="Poppins"/>
              </a:rPr>
              <a:t>Indicateur de stabilité politique</a:t>
            </a:r>
          </a:p>
          <a:p>
            <a:pPr algn="l">
              <a:lnSpc>
                <a:spcPts val="4766"/>
              </a:lnSpc>
            </a:pPr>
          </a:p>
          <a:p>
            <a:pPr algn="l">
              <a:lnSpc>
                <a:spcPts val="4766"/>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393951" y="9519723"/>
            <a:ext cx="438826" cy="438826"/>
          </a:xfrm>
          <a:custGeom>
            <a:avLst/>
            <a:gdLst/>
            <a:ahLst/>
            <a:cxnLst/>
            <a:rect r="r" b="b" t="t" l="l"/>
            <a:pathLst>
              <a:path h="438826" w="438826">
                <a:moveTo>
                  <a:pt x="0" y="0"/>
                </a:moveTo>
                <a:lnTo>
                  <a:pt x="438826" y="0"/>
                </a:lnTo>
                <a:lnTo>
                  <a:pt x="438826" y="438826"/>
                </a:lnTo>
                <a:lnTo>
                  <a:pt x="0" y="4388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906970" y="0"/>
            <a:ext cx="17871339" cy="17871339"/>
            <a:chOff x="0" y="0"/>
            <a:chExt cx="23828452" cy="23828452"/>
          </a:xfrm>
        </p:grpSpPr>
        <p:sp>
          <p:nvSpPr>
            <p:cNvPr name="Freeform 4" id="4"/>
            <p:cNvSpPr/>
            <p:nvPr/>
          </p:nvSpPr>
          <p:spPr>
            <a:xfrm flipH="false" flipV="false" rot="0">
              <a:off x="0" y="0"/>
              <a:ext cx="23828452" cy="23828452"/>
            </a:xfrm>
            <a:custGeom>
              <a:avLst/>
              <a:gdLst/>
              <a:ahLst/>
              <a:cxnLst/>
              <a:rect r="r" b="b" t="t" l="l"/>
              <a:pathLst>
                <a:path h="23828452" w="23828452">
                  <a:moveTo>
                    <a:pt x="0" y="0"/>
                  </a:moveTo>
                  <a:lnTo>
                    <a:pt x="23828452" y="0"/>
                  </a:lnTo>
                  <a:lnTo>
                    <a:pt x="23828452" y="23828452"/>
                  </a:lnTo>
                  <a:lnTo>
                    <a:pt x="0" y="23828452"/>
                  </a:lnTo>
                  <a:lnTo>
                    <a:pt x="0"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a:ln cap="rnd">
              <a:noFill/>
              <a:prstDash val="solid"/>
              <a:round/>
            </a:ln>
          </p:spPr>
        </p:sp>
        <p:grpSp>
          <p:nvGrpSpPr>
            <p:cNvPr name="Group 5" id="5"/>
            <p:cNvGrpSpPr/>
            <p:nvPr/>
          </p:nvGrpSpPr>
          <p:grpSpPr>
            <a:xfrm rot="0">
              <a:off x="3661203" y="1560456"/>
              <a:ext cx="16506047" cy="2360638"/>
              <a:chOff x="0" y="0"/>
              <a:chExt cx="2950697" cy="421999"/>
            </a:xfrm>
          </p:grpSpPr>
          <p:sp>
            <p:nvSpPr>
              <p:cNvPr name="Freeform 6" id="6"/>
              <p:cNvSpPr/>
              <p:nvPr/>
            </p:nvSpPr>
            <p:spPr>
              <a:xfrm flipH="false" flipV="false" rot="0">
                <a:off x="0" y="0"/>
                <a:ext cx="2950697" cy="421999"/>
              </a:xfrm>
              <a:custGeom>
                <a:avLst/>
                <a:gdLst/>
                <a:ahLst/>
                <a:cxnLst/>
                <a:rect r="r" b="b" t="t" l="l"/>
                <a:pathLst>
                  <a:path h="421999" w="2950697">
                    <a:moveTo>
                      <a:pt x="51281" y="0"/>
                    </a:moveTo>
                    <a:lnTo>
                      <a:pt x="2899416" y="0"/>
                    </a:lnTo>
                    <a:cubicBezTo>
                      <a:pt x="2913017" y="0"/>
                      <a:pt x="2926060" y="5403"/>
                      <a:pt x="2935678" y="15020"/>
                    </a:cubicBezTo>
                    <a:cubicBezTo>
                      <a:pt x="2945295" y="24637"/>
                      <a:pt x="2950697" y="37681"/>
                      <a:pt x="2950697" y="51281"/>
                    </a:cubicBezTo>
                    <a:lnTo>
                      <a:pt x="2950697" y="370717"/>
                    </a:lnTo>
                    <a:cubicBezTo>
                      <a:pt x="2950697" y="384318"/>
                      <a:pt x="2945295" y="397362"/>
                      <a:pt x="2935678" y="406979"/>
                    </a:cubicBezTo>
                    <a:cubicBezTo>
                      <a:pt x="2926060" y="416596"/>
                      <a:pt x="2913017" y="421999"/>
                      <a:pt x="2899416" y="421999"/>
                    </a:cubicBezTo>
                    <a:lnTo>
                      <a:pt x="51281" y="421999"/>
                    </a:lnTo>
                    <a:cubicBezTo>
                      <a:pt x="22959" y="421999"/>
                      <a:pt x="0" y="399039"/>
                      <a:pt x="0" y="370717"/>
                    </a:cubicBezTo>
                    <a:lnTo>
                      <a:pt x="0" y="51281"/>
                    </a:lnTo>
                    <a:cubicBezTo>
                      <a:pt x="0" y="37681"/>
                      <a:pt x="5403" y="24637"/>
                      <a:pt x="15020" y="15020"/>
                    </a:cubicBezTo>
                    <a:cubicBezTo>
                      <a:pt x="24637" y="5403"/>
                      <a:pt x="37681" y="0"/>
                      <a:pt x="51281" y="0"/>
                    </a:cubicBezTo>
                    <a:close/>
                  </a:path>
                </a:pathLst>
              </a:custGeom>
              <a:gradFill rotWithShape="true">
                <a:gsLst>
                  <a:gs pos="0">
                    <a:srgbClr val="3428BA">
                      <a:alpha val="100000"/>
                    </a:srgbClr>
                  </a:gs>
                  <a:gs pos="100000">
                    <a:srgbClr val="5FA2DB">
                      <a:alpha val="100000"/>
                    </a:srgbClr>
                  </a:gs>
                </a:gsLst>
                <a:lin ang="0"/>
              </a:gradFill>
            </p:spPr>
          </p:sp>
          <p:sp>
            <p:nvSpPr>
              <p:cNvPr name="TextBox 7" id="7"/>
              <p:cNvSpPr txBox="true"/>
              <p:nvPr/>
            </p:nvSpPr>
            <p:spPr>
              <a:xfrm>
                <a:off x="0" y="-38100"/>
                <a:ext cx="2950697" cy="460099"/>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1914226" y="2198061"/>
              <a:ext cx="10625971" cy="1199727"/>
            </a:xfrm>
            <a:prstGeom prst="rect">
              <a:avLst/>
            </a:prstGeom>
          </p:spPr>
          <p:txBody>
            <a:bodyPr anchor="t" rtlCol="false" tIns="0" lIns="0" bIns="0" rIns="0">
              <a:spAutoFit/>
            </a:bodyPr>
            <a:lstStyle/>
            <a:p>
              <a:pPr algn="l">
                <a:lnSpc>
                  <a:spcPts val="6565"/>
                </a:lnSpc>
              </a:pPr>
              <a:r>
                <a:rPr lang="en-US" sz="6500">
                  <a:solidFill>
                    <a:srgbClr val="FFFFFF"/>
                  </a:solidFill>
                  <a:latin typeface="Anton"/>
                  <a:ea typeface="Anton"/>
                  <a:cs typeface="Anton"/>
                  <a:sym typeface="Anton"/>
                </a:rPr>
                <a:t>MÉTHO</a:t>
              </a:r>
              <a:r>
                <a:rPr lang="en-US" sz="6500">
                  <a:solidFill>
                    <a:srgbClr val="FFFFFF"/>
                  </a:solidFill>
                  <a:latin typeface="Anton"/>
                  <a:ea typeface="Anton"/>
                  <a:cs typeface="Anton"/>
                  <a:sym typeface="Anton"/>
                </a:rPr>
                <a:t>do</a:t>
              </a:r>
              <a:r>
                <a:rPr lang="en-US" sz="6500">
                  <a:solidFill>
                    <a:srgbClr val="FFFFFF"/>
                  </a:solidFill>
                  <a:latin typeface="Anton"/>
                  <a:ea typeface="Anton"/>
                  <a:cs typeface="Anton"/>
                  <a:sym typeface="Anton"/>
                </a:rPr>
                <a:t>LOGIE</a:t>
              </a:r>
            </a:p>
          </p:txBody>
        </p:sp>
      </p:grpSp>
      <p:sp>
        <p:nvSpPr>
          <p:cNvPr name="Freeform 9" id="9"/>
          <p:cNvSpPr/>
          <p:nvPr/>
        </p:nvSpPr>
        <p:spPr>
          <a:xfrm flipH="false" flipV="false" rot="0">
            <a:off x="1614299" y="3344318"/>
            <a:ext cx="15059401" cy="6175405"/>
          </a:xfrm>
          <a:custGeom>
            <a:avLst/>
            <a:gdLst/>
            <a:ahLst/>
            <a:cxnLst/>
            <a:rect r="r" b="b" t="t" l="l"/>
            <a:pathLst>
              <a:path h="6175405" w="15059401">
                <a:moveTo>
                  <a:pt x="0" y="0"/>
                </a:moveTo>
                <a:lnTo>
                  <a:pt x="15059402" y="0"/>
                </a:lnTo>
                <a:lnTo>
                  <a:pt x="15059402" y="6175405"/>
                </a:lnTo>
                <a:lnTo>
                  <a:pt x="0" y="6175405"/>
                </a:lnTo>
                <a:lnTo>
                  <a:pt x="0" y="0"/>
                </a:lnTo>
                <a:close/>
              </a:path>
            </a:pathLst>
          </a:custGeom>
          <a:blipFill>
            <a:blip r:embed="rId6">
              <a:alphaModFix amt="93000"/>
            </a:blip>
            <a:stretch>
              <a:fillRect l="0" t="-22609" r="0" b="-11209"/>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5849823" y="-1149838"/>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2582307" y="2334225"/>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17259300" y="8983796"/>
            <a:ext cx="438826" cy="438826"/>
          </a:xfrm>
          <a:custGeom>
            <a:avLst/>
            <a:gdLst/>
            <a:ahLst/>
            <a:cxnLst/>
            <a:rect r="r" b="b" t="t" l="l"/>
            <a:pathLst>
              <a:path h="438826" w="438826">
                <a:moveTo>
                  <a:pt x="0" y="0"/>
                </a:moveTo>
                <a:lnTo>
                  <a:pt x="438826" y="0"/>
                </a:lnTo>
                <a:lnTo>
                  <a:pt x="438826" y="438826"/>
                </a:lnTo>
                <a:lnTo>
                  <a:pt x="0" y="4388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849823" y="3701019"/>
            <a:ext cx="12288855" cy="5071946"/>
          </a:xfrm>
          <a:custGeom>
            <a:avLst/>
            <a:gdLst/>
            <a:ahLst/>
            <a:cxnLst/>
            <a:rect r="r" b="b" t="t" l="l"/>
            <a:pathLst>
              <a:path h="5071946" w="12288855">
                <a:moveTo>
                  <a:pt x="0" y="0"/>
                </a:moveTo>
                <a:lnTo>
                  <a:pt x="12288855" y="0"/>
                </a:lnTo>
                <a:lnTo>
                  <a:pt x="12288855" y="5071946"/>
                </a:lnTo>
                <a:lnTo>
                  <a:pt x="0" y="50719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738398" y="3752065"/>
            <a:ext cx="6627165" cy="5932286"/>
          </a:xfrm>
          <a:prstGeom prst="rect">
            <a:avLst/>
          </a:prstGeom>
        </p:spPr>
        <p:txBody>
          <a:bodyPr anchor="t" rtlCol="false" tIns="0" lIns="0" bIns="0" rIns="0">
            <a:spAutoFit/>
          </a:bodyPr>
          <a:lstStyle/>
          <a:p>
            <a:pPr algn="l">
              <a:lnSpc>
                <a:spcPts val="4334"/>
              </a:lnSpc>
            </a:pPr>
            <a:r>
              <a:rPr lang="en-US" sz="2006" b="true">
                <a:solidFill>
                  <a:srgbClr val="000000"/>
                </a:solidFill>
                <a:latin typeface="Poppins Bold"/>
                <a:ea typeface="Poppins Bold"/>
                <a:cs typeface="Poppins Bold"/>
                <a:sym typeface="Poppins Bold"/>
              </a:rPr>
              <a:t>Préparation des données</a:t>
            </a:r>
          </a:p>
          <a:p>
            <a:pPr algn="l" marL="433281" indent="-216640" lvl="1">
              <a:lnSpc>
                <a:spcPts val="4334"/>
              </a:lnSpc>
              <a:buFont typeface="Arial"/>
              <a:buChar char="•"/>
            </a:pPr>
            <a:r>
              <a:rPr lang="en-US" sz="2006">
                <a:solidFill>
                  <a:srgbClr val="000000"/>
                </a:solidFill>
                <a:latin typeface="Poppins"/>
                <a:ea typeface="Poppins"/>
                <a:cs typeface="Poppins"/>
                <a:sym typeface="Poppins"/>
              </a:rPr>
              <a:t>Harmonisation des noms de pays</a:t>
            </a:r>
          </a:p>
          <a:p>
            <a:pPr algn="l" marL="433281" indent="-216640" lvl="1">
              <a:lnSpc>
                <a:spcPts val="4334"/>
              </a:lnSpc>
              <a:buFont typeface="Arial"/>
              <a:buChar char="•"/>
            </a:pPr>
            <a:r>
              <a:rPr lang="en-US" sz="2006">
                <a:solidFill>
                  <a:srgbClr val="000000"/>
                </a:solidFill>
                <a:latin typeface="Poppins"/>
                <a:ea typeface="Poppins"/>
                <a:cs typeface="Poppins"/>
                <a:sym typeface="Poppins"/>
              </a:rPr>
              <a:t>F</a:t>
            </a:r>
            <a:r>
              <a:rPr lang="en-US" sz="2006">
                <a:solidFill>
                  <a:srgbClr val="000000"/>
                </a:solidFill>
                <a:latin typeface="Poppins"/>
                <a:ea typeface="Poppins"/>
                <a:cs typeface="Poppins"/>
                <a:sym typeface="Poppins"/>
              </a:rPr>
              <a:t>usion des différentes sources</a:t>
            </a:r>
          </a:p>
          <a:p>
            <a:pPr algn="l" marL="433281" indent="-216640" lvl="1">
              <a:lnSpc>
                <a:spcPts val="4334"/>
              </a:lnSpc>
              <a:buFont typeface="Arial"/>
              <a:buChar char="•"/>
            </a:pPr>
            <a:r>
              <a:rPr lang="en-US" sz="2006">
                <a:solidFill>
                  <a:srgbClr val="000000"/>
                </a:solidFill>
                <a:latin typeface="Poppins"/>
                <a:ea typeface="Poppins"/>
                <a:cs typeface="Poppins"/>
                <a:sym typeface="Poppins"/>
              </a:rPr>
              <a:t> Gestion</a:t>
            </a:r>
            <a:r>
              <a:rPr lang="en-US" sz="2006">
                <a:solidFill>
                  <a:srgbClr val="000000"/>
                </a:solidFill>
                <a:latin typeface="Poppins"/>
                <a:ea typeface="Poppins"/>
                <a:cs typeface="Poppins"/>
                <a:sym typeface="Poppins"/>
              </a:rPr>
              <a:t> des valeurs manquantes</a:t>
            </a:r>
          </a:p>
          <a:p>
            <a:pPr algn="l" marL="433281" indent="-216640" lvl="1">
              <a:lnSpc>
                <a:spcPts val="4334"/>
              </a:lnSpc>
              <a:buFont typeface="Arial"/>
              <a:buChar char="•"/>
            </a:pPr>
            <a:r>
              <a:rPr lang="en-US" sz="2006">
                <a:solidFill>
                  <a:srgbClr val="000000"/>
                </a:solidFill>
                <a:latin typeface="Poppins"/>
                <a:ea typeface="Poppins"/>
                <a:cs typeface="Poppins"/>
                <a:sym typeface="Poppins"/>
              </a:rPr>
              <a:t>Enrichissement des donées</a:t>
            </a:r>
          </a:p>
          <a:p>
            <a:pPr algn="l">
              <a:lnSpc>
                <a:spcPts val="4334"/>
              </a:lnSpc>
            </a:pPr>
          </a:p>
          <a:p>
            <a:pPr algn="l">
              <a:lnSpc>
                <a:spcPts val="4334"/>
              </a:lnSpc>
            </a:pPr>
            <a:r>
              <a:rPr lang="en-US" sz="2006">
                <a:solidFill>
                  <a:srgbClr val="000000"/>
                </a:solidFill>
                <a:latin typeface="Poppins"/>
                <a:ea typeface="Poppins"/>
                <a:cs typeface="Poppins"/>
                <a:sym typeface="Poppins"/>
              </a:rPr>
              <a:t>Création de nouveaux indicateurs</a:t>
            </a:r>
          </a:p>
          <a:p>
            <a:pPr algn="l" marL="433281" indent="-216640" lvl="1">
              <a:lnSpc>
                <a:spcPts val="4334"/>
              </a:lnSpc>
              <a:buFont typeface="Arial"/>
              <a:buChar char="•"/>
            </a:pPr>
            <a:r>
              <a:rPr lang="en-US" sz="2006">
                <a:solidFill>
                  <a:srgbClr val="000000"/>
                </a:solidFill>
                <a:latin typeface="Poppins"/>
                <a:ea typeface="Poppins"/>
                <a:cs typeface="Poppins"/>
                <a:sym typeface="Poppins"/>
              </a:rPr>
              <a:t>Part des kcal issues de la volaille</a:t>
            </a:r>
          </a:p>
          <a:p>
            <a:pPr algn="l" marL="433281" indent="-216640" lvl="1">
              <a:lnSpc>
                <a:spcPts val="4334"/>
              </a:lnSpc>
              <a:buFont typeface="Arial"/>
              <a:buChar char="•"/>
            </a:pPr>
            <a:r>
              <a:rPr lang="en-US" sz="2006">
                <a:solidFill>
                  <a:srgbClr val="000000"/>
                </a:solidFill>
                <a:latin typeface="Poppins"/>
                <a:ea typeface="Poppins"/>
                <a:cs typeface="Poppins"/>
                <a:sym typeface="Poppins"/>
              </a:rPr>
              <a:t>Part des kg de volaille consommés</a:t>
            </a:r>
          </a:p>
          <a:p>
            <a:pPr algn="l">
              <a:lnSpc>
                <a:spcPts val="4334"/>
              </a:lnSpc>
            </a:pPr>
          </a:p>
          <a:p>
            <a:pPr algn="l">
              <a:lnSpc>
                <a:spcPts val="4334"/>
              </a:lnSpc>
            </a:pPr>
          </a:p>
        </p:txBody>
      </p:sp>
      <p:sp>
        <p:nvSpPr>
          <p:cNvPr name="Freeform 7" id="7"/>
          <p:cNvSpPr/>
          <p:nvPr/>
        </p:nvSpPr>
        <p:spPr>
          <a:xfrm flipH="false" flipV="false" rot="0">
            <a:off x="7365564" y="6672564"/>
            <a:ext cx="3704346" cy="2595848"/>
          </a:xfrm>
          <a:custGeom>
            <a:avLst/>
            <a:gdLst/>
            <a:ahLst/>
            <a:cxnLst/>
            <a:rect r="r" b="b" t="t" l="l"/>
            <a:pathLst>
              <a:path h="2595848" w="3704346">
                <a:moveTo>
                  <a:pt x="0" y="0"/>
                </a:moveTo>
                <a:lnTo>
                  <a:pt x="3704345" y="0"/>
                </a:lnTo>
                <a:lnTo>
                  <a:pt x="3704345" y="2595848"/>
                </a:lnTo>
                <a:lnTo>
                  <a:pt x="0" y="2595848"/>
                </a:lnTo>
                <a:lnTo>
                  <a:pt x="0" y="0"/>
                </a:lnTo>
                <a:close/>
              </a:path>
            </a:pathLst>
          </a:custGeom>
          <a:blipFill>
            <a:blip r:embed="rId9"/>
            <a:stretch>
              <a:fillRect l="0" t="0" r="0" b="0"/>
            </a:stretch>
          </a:blipFill>
        </p:spPr>
      </p:sp>
      <p:sp>
        <p:nvSpPr>
          <p:cNvPr name="Freeform 8" id="8"/>
          <p:cNvSpPr/>
          <p:nvPr/>
        </p:nvSpPr>
        <p:spPr>
          <a:xfrm flipH="false" flipV="false" rot="0">
            <a:off x="7365564" y="3310683"/>
            <a:ext cx="9594089" cy="3107305"/>
          </a:xfrm>
          <a:custGeom>
            <a:avLst/>
            <a:gdLst/>
            <a:ahLst/>
            <a:cxnLst/>
            <a:rect r="r" b="b" t="t" l="l"/>
            <a:pathLst>
              <a:path h="3107305" w="9594089">
                <a:moveTo>
                  <a:pt x="0" y="0"/>
                </a:moveTo>
                <a:lnTo>
                  <a:pt x="9594088" y="0"/>
                </a:lnTo>
                <a:lnTo>
                  <a:pt x="9594088" y="3107306"/>
                </a:lnTo>
                <a:lnTo>
                  <a:pt x="0" y="3107306"/>
                </a:lnTo>
                <a:lnTo>
                  <a:pt x="0" y="0"/>
                </a:lnTo>
                <a:close/>
              </a:path>
            </a:pathLst>
          </a:custGeom>
          <a:blipFill>
            <a:blip r:embed="rId10"/>
            <a:stretch>
              <a:fillRect l="0" t="0" r="0" b="0"/>
            </a:stretch>
          </a:blipFill>
        </p:spPr>
      </p:sp>
      <p:sp>
        <p:nvSpPr>
          <p:cNvPr name="TextBox 9" id="9"/>
          <p:cNvSpPr txBox="true"/>
          <p:nvPr/>
        </p:nvSpPr>
        <p:spPr>
          <a:xfrm rot="0">
            <a:off x="2582307" y="1226885"/>
            <a:ext cx="13123386" cy="1035902"/>
          </a:xfrm>
          <a:prstGeom prst="rect">
            <a:avLst/>
          </a:prstGeom>
        </p:spPr>
        <p:txBody>
          <a:bodyPr anchor="t" rtlCol="false" tIns="0" lIns="0" bIns="0" rIns="0">
            <a:spAutoFit/>
          </a:bodyPr>
          <a:lstStyle/>
          <a:p>
            <a:pPr algn="ctr">
              <a:lnSpc>
                <a:spcPts val="8528"/>
              </a:lnSpc>
              <a:spcBef>
                <a:spcPct val="0"/>
              </a:spcBef>
            </a:pPr>
            <a:r>
              <a:rPr lang="en-US" sz="6091">
                <a:solidFill>
                  <a:srgbClr val="262B34"/>
                </a:solidFill>
                <a:latin typeface="Anton"/>
                <a:ea typeface="Anton"/>
                <a:cs typeface="Anton"/>
                <a:sym typeface="Anton"/>
              </a:rPr>
              <a:t>Nettoyage et enrichissement des données</a:t>
            </a:r>
          </a:p>
        </p:txBody>
      </p:sp>
      <p:sp>
        <p:nvSpPr>
          <p:cNvPr name="TextBox 10" id="10"/>
          <p:cNvSpPr txBox="true"/>
          <p:nvPr/>
        </p:nvSpPr>
        <p:spPr>
          <a:xfrm rot="0">
            <a:off x="11461564" y="8949195"/>
            <a:ext cx="4244130" cy="267121"/>
          </a:xfrm>
          <a:prstGeom prst="rect">
            <a:avLst/>
          </a:prstGeom>
        </p:spPr>
        <p:txBody>
          <a:bodyPr anchor="t" rtlCol="false" tIns="0" lIns="0" bIns="0" rIns="0">
            <a:spAutoFit/>
          </a:bodyPr>
          <a:lstStyle/>
          <a:p>
            <a:pPr algn="l">
              <a:lnSpc>
                <a:spcPts val="2126"/>
              </a:lnSpc>
            </a:pPr>
            <a:r>
              <a:rPr lang="en-US" sz="1337" b="true">
                <a:solidFill>
                  <a:srgbClr val="000000"/>
                </a:solidFill>
                <a:latin typeface="Poppins Bold"/>
                <a:ea typeface="Poppins Bold"/>
                <a:cs typeface="Poppins Bold"/>
                <a:sym typeface="Poppins Bold"/>
              </a:rPr>
              <a:t>Création de nouveaux indicateurs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809052" y="-1454260"/>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3606403" y="2017077"/>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17259300" y="8983796"/>
            <a:ext cx="438826" cy="438826"/>
          </a:xfrm>
          <a:custGeom>
            <a:avLst/>
            <a:gdLst/>
            <a:ahLst/>
            <a:cxnLst/>
            <a:rect r="r" b="b" t="t" l="l"/>
            <a:pathLst>
              <a:path h="438826" w="438826">
                <a:moveTo>
                  <a:pt x="0" y="0"/>
                </a:moveTo>
                <a:lnTo>
                  <a:pt x="438826" y="0"/>
                </a:lnTo>
                <a:lnTo>
                  <a:pt x="438826" y="438826"/>
                </a:lnTo>
                <a:lnTo>
                  <a:pt x="0" y="4388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861940" y="2547127"/>
            <a:ext cx="12581544" cy="5192746"/>
          </a:xfrm>
          <a:custGeom>
            <a:avLst/>
            <a:gdLst/>
            <a:ahLst/>
            <a:cxnLst/>
            <a:rect r="r" b="b" t="t" l="l"/>
            <a:pathLst>
              <a:path h="5192746" w="12581544">
                <a:moveTo>
                  <a:pt x="0" y="0"/>
                </a:moveTo>
                <a:lnTo>
                  <a:pt x="12581544" y="0"/>
                </a:lnTo>
                <a:lnTo>
                  <a:pt x="12581544" y="5192746"/>
                </a:lnTo>
                <a:lnTo>
                  <a:pt x="0" y="51927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249624" y="2673910"/>
            <a:ext cx="5756644" cy="2833581"/>
          </a:xfrm>
          <a:custGeom>
            <a:avLst/>
            <a:gdLst/>
            <a:ahLst/>
            <a:cxnLst/>
            <a:rect r="r" b="b" t="t" l="l"/>
            <a:pathLst>
              <a:path h="2833581" w="5756644">
                <a:moveTo>
                  <a:pt x="0" y="0"/>
                </a:moveTo>
                <a:lnTo>
                  <a:pt x="5756644" y="0"/>
                </a:lnTo>
                <a:lnTo>
                  <a:pt x="5756644" y="2833581"/>
                </a:lnTo>
                <a:lnTo>
                  <a:pt x="0" y="2833581"/>
                </a:lnTo>
                <a:lnTo>
                  <a:pt x="0" y="0"/>
                </a:lnTo>
                <a:close/>
              </a:path>
            </a:pathLst>
          </a:custGeom>
          <a:blipFill>
            <a:blip r:embed="rId9"/>
            <a:stretch>
              <a:fillRect l="0" t="0" r="0" b="0"/>
            </a:stretch>
          </a:blipFill>
        </p:spPr>
      </p:sp>
      <p:sp>
        <p:nvSpPr>
          <p:cNvPr name="Freeform 7" id="7"/>
          <p:cNvSpPr/>
          <p:nvPr/>
        </p:nvSpPr>
        <p:spPr>
          <a:xfrm flipH="false" flipV="false" rot="0">
            <a:off x="13991172" y="5507491"/>
            <a:ext cx="1897887" cy="3081551"/>
          </a:xfrm>
          <a:custGeom>
            <a:avLst/>
            <a:gdLst/>
            <a:ahLst/>
            <a:cxnLst/>
            <a:rect r="r" b="b" t="t" l="l"/>
            <a:pathLst>
              <a:path h="3081551" w="1897887">
                <a:moveTo>
                  <a:pt x="0" y="0"/>
                </a:moveTo>
                <a:lnTo>
                  <a:pt x="1897887" y="0"/>
                </a:lnTo>
                <a:lnTo>
                  <a:pt x="1897887" y="3081551"/>
                </a:lnTo>
                <a:lnTo>
                  <a:pt x="0" y="3081551"/>
                </a:lnTo>
                <a:lnTo>
                  <a:pt x="0" y="0"/>
                </a:lnTo>
                <a:close/>
              </a:path>
            </a:pathLst>
          </a:custGeom>
          <a:blipFill>
            <a:blip r:embed="rId10"/>
            <a:stretch>
              <a:fillRect l="0" t="-8500" r="0" b="-5313"/>
            </a:stretch>
          </a:blipFill>
        </p:spPr>
      </p:sp>
      <p:sp>
        <p:nvSpPr>
          <p:cNvPr name="Freeform 8" id="8"/>
          <p:cNvSpPr/>
          <p:nvPr/>
        </p:nvSpPr>
        <p:spPr>
          <a:xfrm flipH="false" flipV="false" rot="0">
            <a:off x="-5861940" y="6387423"/>
            <a:ext cx="12581544" cy="5192746"/>
          </a:xfrm>
          <a:custGeom>
            <a:avLst/>
            <a:gdLst/>
            <a:ahLst/>
            <a:cxnLst/>
            <a:rect r="r" b="b" t="t" l="l"/>
            <a:pathLst>
              <a:path h="5192746" w="12581544">
                <a:moveTo>
                  <a:pt x="0" y="0"/>
                </a:moveTo>
                <a:lnTo>
                  <a:pt x="12581544" y="0"/>
                </a:lnTo>
                <a:lnTo>
                  <a:pt x="12581544" y="5192746"/>
                </a:lnTo>
                <a:lnTo>
                  <a:pt x="0" y="51927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606403" y="1018539"/>
            <a:ext cx="11075194" cy="927100"/>
          </a:xfrm>
          <a:prstGeom prst="rect">
            <a:avLst/>
          </a:prstGeom>
        </p:spPr>
        <p:txBody>
          <a:bodyPr anchor="t" rtlCol="false" tIns="0" lIns="0" bIns="0" rIns="0">
            <a:spAutoFit/>
          </a:bodyPr>
          <a:lstStyle/>
          <a:p>
            <a:pPr algn="ctr">
              <a:lnSpc>
                <a:spcPts val="7699"/>
              </a:lnSpc>
              <a:spcBef>
                <a:spcPct val="0"/>
              </a:spcBef>
            </a:pPr>
            <a:r>
              <a:rPr lang="en-US" sz="5499">
                <a:solidFill>
                  <a:srgbClr val="262B34"/>
                </a:solidFill>
                <a:latin typeface="Anton"/>
                <a:ea typeface="Anton"/>
                <a:cs typeface="Anton"/>
                <a:sym typeface="Anton"/>
              </a:rPr>
              <a:t>Prép</a:t>
            </a:r>
            <a:r>
              <a:rPr lang="en-US" sz="5499">
                <a:solidFill>
                  <a:srgbClr val="262B34"/>
                </a:solidFill>
                <a:latin typeface="Anton"/>
                <a:ea typeface="Anton"/>
                <a:cs typeface="Anton"/>
                <a:sym typeface="Anton"/>
              </a:rPr>
              <a:t>aration et exploration des données</a:t>
            </a:r>
          </a:p>
        </p:txBody>
      </p:sp>
      <p:sp>
        <p:nvSpPr>
          <p:cNvPr name="TextBox 10" id="10"/>
          <p:cNvSpPr txBox="true"/>
          <p:nvPr/>
        </p:nvSpPr>
        <p:spPr>
          <a:xfrm rot="0">
            <a:off x="608249" y="3068866"/>
            <a:ext cx="5996307" cy="3318557"/>
          </a:xfrm>
          <a:prstGeom prst="rect">
            <a:avLst/>
          </a:prstGeom>
        </p:spPr>
        <p:txBody>
          <a:bodyPr anchor="t" rtlCol="false" tIns="0" lIns="0" bIns="0" rIns="0">
            <a:spAutoFit/>
          </a:bodyPr>
          <a:lstStyle/>
          <a:p>
            <a:pPr algn="l">
              <a:lnSpc>
                <a:spcPts val="3817"/>
              </a:lnSpc>
            </a:pPr>
            <a:r>
              <a:rPr lang="en-US" sz="2206" b="true">
                <a:solidFill>
                  <a:srgbClr val="000000"/>
                </a:solidFill>
                <a:latin typeface="Poppins Bold"/>
                <a:ea typeface="Poppins Bold"/>
                <a:cs typeface="Poppins Bold"/>
                <a:sym typeface="Poppins Bold"/>
              </a:rPr>
              <a:t>Étapes réalisées</a:t>
            </a:r>
          </a:p>
          <a:p>
            <a:pPr algn="l">
              <a:lnSpc>
                <a:spcPts val="3817"/>
              </a:lnSpc>
            </a:pPr>
          </a:p>
          <a:p>
            <a:pPr algn="l" marL="476459" indent="-238230" lvl="1">
              <a:lnSpc>
                <a:spcPts val="3817"/>
              </a:lnSpc>
              <a:buFont typeface="Arial"/>
              <a:buChar char="•"/>
            </a:pPr>
            <a:r>
              <a:rPr lang="en-US" sz="2206">
                <a:solidFill>
                  <a:srgbClr val="000000"/>
                </a:solidFill>
                <a:latin typeface="Poppins"/>
                <a:ea typeface="Poppins"/>
                <a:cs typeface="Poppins"/>
                <a:sym typeface="Poppins"/>
              </a:rPr>
              <a:t>S</a:t>
            </a:r>
            <a:r>
              <a:rPr lang="en-US" sz="2206">
                <a:solidFill>
                  <a:srgbClr val="000000"/>
                </a:solidFill>
                <a:latin typeface="Poppins"/>
                <a:ea typeface="Poppins"/>
                <a:cs typeface="Poppins"/>
                <a:sym typeface="Poppins"/>
              </a:rPr>
              <a:t>élection des variables pertinentes</a:t>
            </a:r>
          </a:p>
          <a:p>
            <a:pPr algn="l" marL="476459" indent="-238230" lvl="1">
              <a:lnSpc>
                <a:spcPts val="3817"/>
              </a:lnSpc>
              <a:buFont typeface="Arial"/>
              <a:buChar char="•"/>
            </a:pPr>
            <a:r>
              <a:rPr lang="en-US" sz="2206">
                <a:solidFill>
                  <a:srgbClr val="000000"/>
                </a:solidFill>
                <a:latin typeface="Poppins"/>
                <a:ea typeface="Poppins"/>
                <a:cs typeface="Poppins"/>
                <a:sym typeface="Poppins"/>
              </a:rPr>
              <a:t>Vé</a:t>
            </a:r>
            <a:r>
              <a:rPr lang="en-US" sz="2206">
                <a:solidFill>
                  <a:srgbClr val="000000"/>
                </a:solidFill>
                <a:latin typeface="Poppins"/>
                <a:ea typeface="Poppins"/>
                <a:cs typeface="Poppins"/>
                <a:sym typeface="Poppins"/>
              </a:rPr>
              <a:t>rification des valeurs manquantes</a:t>
            </a:r>
          </a:p>
          <a:p>
            <a:pPr algn="l" marL="476459" indent="-238230" lvl="1">
              <a:lnSpc>
                <a:spcPts val="3817"/>
              </a:lnSpc>
              <a:buFont typeface="Arial"/>
              <a:buChar char="•"/>
            </a:pPr>
            <a:r>
              <a:rPr lang="en-US" sz="2206">
                <a:solidFill>
                  <a:srgbClr val="000000"/>
                </a:solidFill>
                <a:latin typeface="Poppins"/>
                <a:ea typeface="Poppins"/>
                <a:cs typeface="Poppins"/>
                <a:sym typeface="Poppins"/>
              </a:rPr>
              <a:t>Analyse des distributions</a:t>
            </a:r>
          </a:p>
          <a:p>
            <a:pPr algn="l" marL="476459" indent="-238230" lvl="1">
              <a:lnSpc>
                <a:spcPts val="3817"/>
              </a:lnSpc>
              <a:buFont typeface="Arial"/>
              <a:buChar char="•"/>
            </a:pPr>
            <a:r>
              <a:rPr lang="en-US" sz="2206">
                <a:solidFill>
                  <a:srgbClr val="000000"/>
                </a:solidFill>
                <a:latin typeface="Poppins"/>
                <a:ea typeface="Poppins"/>
                <a:cs typeface="Poppins"/>
                <a:sym typeface="Poppins"/>
              </a:rPr>
              <a:t>Visualisation des boxplots</a:t>
            </a:r>
          </a:p>
          <a:p>
            <a:pPr algn="l" marL="476459" indent="-238230" lvl="1">
              <a:lnSpc>
                <a:spcPts val="3817"/>
              </a:lnSpc>
              <a:buFont typeface="Arial"/>
              <a:buChar char="•"/>
            </a:pPr>
            <a:r>
              <a:rPr lang="en-US" sz="2206">
                <a:solidFill>
                  <a:srgbClr val="000000"/>
                </a:solidFill>
                <a:latin typeface="Poppins"/>
                <a:ea typeface="Poppins"/>
                <a:cs typeface="Poppins"/>
                <a:sym typeface="Poppins"/>
              </a:rPr>
              <a:t>Détection des valeurs aberrantes</a:t>
            </a:r>
          </a:p>
        </p:txBody>
      </p:sp>
      <p:sp>
        <p:nvSpPr>
          <p:cNvPr name="TextBox 11" id="11"/>
          <p:cNvSpPr txBox="true"/>
          <p:nvPr/>
        </p:nvSpPr>
        <p:spPr>
          <a:xfrm rot="0">
            <a:off x="608249" y="7072239"/>
            <a:ext cx="5853078" cy="1725209"/>
          </a:xfrm>
          <a:prstGeom prst="rect">
            <a:avLst/>
          </a:prstGeom>
        </p:spPr>
        <p:txBody>
          <a:bodyPr anchor="t" rtlCol="false" tIns="0" lIns="0" bIns="0" rIns="0">
            <a:spAutoFit/>
          </a:bodyPr>
          <a:lstStyle/>
          <a:p>
            <a:pPr algn="l">
              <a:lnSpc>
                <a:spcPts val="2713"/>
              </a:lnSpc>
            </a:pPr>
            <a:r>
              <a:rPr lang="en-US" sz="1706" b="true">
                <a:solidFill>
                  <a:srgbClr val="000000"/>
                </a:solidFill>
                <a:latin typeface="Poppins Bold"/>
                <a:ea typeface="Poppins Bold"/>
                <a:cs typeface="Poppins Bold"/>
                <a:sym typeface="Poppins Bold"/>
              </a:rPr>
              <a:t>L'analyse exploratoire met en évidence des distributions hétérogènes et la présence de valeurs aberrantes, justifiant un nettoyage des données avant les  analyses multivariées.</a:t>
            </a:r>
          </a:p>
          <a:p>
            <a:pPr algn="l">
              <a:lnSpc>
                <a:spcPts val="2713"/>
              </a:lnSpc>
            </a:pPr>
          </a:p>
        </p:txBody>
      </p:sp>
      <p:sp>
        <p:nvSpPr>
          <p:cNvPr name="Freeform 12" id="12"/>
          <p:cNvSpPr/>
          <p:nvPr/>
        </p:nvSpPr>
        <p:spPr>
          <a:xfrm flipH="false" flipV="false" rot="0">
            <a:off x="7249624" y="5752308"/>
            <a:ext cx="5556973" cy="3458202"/>
          </a:xfrm>
          <a:custGeom>
            <a:avLst/>
            <a:gdLst/>
            <a:ahLst/>
            <a:cxnLst/>
            <a:rect r="r" b="b" t="t" l="l"/>
            <a:pathLst>
              <a:path h="3458202" w="5556973">
                <a:moveTo>
                  <a:pt x="0" y="0"/>
                </a:moveTo>
                <a:lnTo>
                  <a:pt x="5556973" y="0"/>
                </a:lnTo>
                <a:lnTo>
                  <a:pt x="5556973" y="3458202"/>
                </a:lnTo>
                <a:lnTo>
                  <a:pt x="0" y="3458202"/>
                </a:lnTo>
                <a:lnTo>
                  <a:pt x="0" y="0"/>
                </a:lnTo>
                <a:close/>
              </a:path>
            </a:pathLst>
          </a:custGeom>
          <a:blipFill>
            <a:blip r:embed="rId11"/>
            <a:stretch>
              <a:fillRect l="0" t="0" r="0" b="0"/>
            </a:stretch>
          </a:blipFill>
        </p:spPr>
      </p:sp>
      <p:sp>
        <p:nvSpPr>
          <p:cNvPr name="TextBox 13" id="13"/>
          <p:cNvSpPr txBox="true"/>
          <p:nvPr/>
        </p:nvSpPr>
        <p:spPr>
          <a:xfrm rot="0">
            <a:off x="7249624" y="9391485"/>
            <a:ext cx="4244130" cy="267121"/>
          </a:xfrm>
          <a:prstGeom prst="rect">
            <a:avLst/>
          </a:prstGeom>
        </p:spPr>
        <p:txBody>
          <a:bodyPr anchor="t" rtlCol="false" tIns="0" lIns="0" bIns="0" rIns="0">
            <a:spAutoFit/>
          </a:bodyPr>
          <a:lstStyle/>
          <a:p>
            <a:pPr algn="l">
              <a:lnSpc>
                <a:spcPts val="2126"/>
              </a:lnSpc>
            </a:pPr>
            <a:r>
              <a:rPr lang="en-US" sz="1337" b="true">
                <a:solidFill>
                  <a:srgbClr val="000000"/>
                </a:solidFill>
                <a:latin typeface="Poppins Bold"/>
                <a:ea typeface="Poppins Bold"/>
                <a:cs typeface="Poppins Bold"/>
                <a:sym typeface="Poppins Bold"/>
              </a:rPr>
              <a:t>DataFrames final </a:t>
            </a:r>
          </a:p>
        </p:txBody>
      </p:sp>
      <p:sp>
        <p:nvSpPr>
          <p:cNvPr name="TextBox 14" id="14"/>
          <p:cNvSpPr txBox="true"/>
          <p:nvPr/>
        </p:nvSpPr>
        <p:spPr>
          <a:xfrm rot="0">
            <a:off x="13991172" y="8730773"/>
            <a:ext cx="4244130" cy="267121"/>
          </a:xfrm>
          <a:prstGeom prst="rect">
            <a:avLst/>
          </a:prstGeom>
        </p:spPr>
        <p:txBody>
          <a:bodyPr anchor="t" rtlCol="false" tIns="0" lIns="0" bIns="0" rIns="0">
            <a:spAutoFit/>
          </a:bodyPr>
          <a:lstStyle/>
          <a:p>
            <a:pPr algn="l">
              <a:lnSpc>
                <a:spcPts val="2126"/>
              </a:lnSpc>
            </a:pPr>
            <a:r>
              <a:rPr lang="en-US" sz="1337" b="true">
                <a:solidFill>
                  <a:srgbClr val="000000"/>
                </a:solidFill>
                <a:latin typeface="Poppins Bold"/>
                <a:ea typeface="Poppins Bold"/>
                <a:cs typeface="Poppins Bold"/>
                <a:sym typeface="Poppins Bold"/>
              </a:rPr>
              <a:t>Absence de donnés manquants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5321576" y="-955220"/>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true" rot="0">
            <a:off x="-6416165" y="5308658"/>
            <a:ext cx="14478485" cy="5975665"/>
          </a:xfrm>
          <a:custGeom>
            <a:avLst/>
            <a:gdLst/>
            <a:ahLst/>
            <a:cxnLst/>
            <a:rect r="r" b="b" t="t" l="l"/>
            <a:pathLst>
              <a:path h="5975665" w="14478485">
                <a:moveTo>
                  <a:pt x="0" y="5975665"/>
                </a:moveTo>
                <a:lnTo>
                  <a:pt x="14478485" y="5975665"/>
                </a:lnTo>
                <a:lnTo>
                  <a:pt x="14478485" y="0"/>
                </a:lnTo>
                <a:lnTo>
                  <a:pt x="0" y="0"/>
                </a:lnTo>
                <a:lnTo>
                  <a:pt x="0" y="5975665"/>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4" id="4"/>
          <p:cNvSpPr/>
          <p:nvPr/>
        </p:nvSpPr>
        <p:spPr>
          <a:xfrm flipV="true">
            <a:off x="417046" y="1738729"/>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5" id="5"/>
          <p:cNvSpPr/>
          <p:nvPr/>
        </p:nvSpPr>
        <p:spPr>
          <a:xfrm flipH="false" flipV="true" rot="0">
            <a:off x="-6416165" y="2155667"/>
            <a:ext cx="14478485" cy="5975665"/>
          </a:xfrm>
          <a:custGeom>
            <a:avLst/>
            <a:gdLst/>
            <a:ahLst/>
            <a:cxnLst/>
            <a:rect r="r" b="b" t="t" l="l"/>
            <a:pathLst>
              <a:path h="5975665" w="14478485">
                <a:moveTo>
                  <a:pt x="0" y="5975666"/>
                </a:moveTo>
                <a:lnTo>
                  <a:pt x="14478485" y="5975666"/>
                </a:lnTo>
                <a:lnTo>
                  <a:pt x="14478485" y="0"/>
                </a:lnTo>
                <a:lnTo>
                  <a:pt x="0" y="0"/>
                </a:lnTo>
                <a:lnTo>
                  <a:pt x="0" y="597566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417046" y="4057392"/>
            <a:ext cx="6395374" cy="2502532"/>
          </a:xfrm>
          <a:custGeom>
            <a:avLst/>
            <a:gdLst/>
            <a:ahLst/>
            <a:cxnLst/>
            <a:rect r="r" b="b" t="t" l="l"/>
            <a:pathLst>
              <a:path h="2502532" w="6395374">
                <a:moveTo>
                  <a:pt x="0" y="0"/>
                </a:moveTo>
                <a:lnTo>
                  <a:pt x="6395374" y="0"/>
                </a:lnTo>
                <a:lnTo>
                  <a:pt x="6395374" y="2502532"/>
                </a:lnTo>
                <a:lnTo>
                  <a:pt x="0" y="2502532"/>
                </a:lnTo>
                <a:lnTo>
                  <a:pt x="0" y="0"/>
                </a:lnTo>
                <a:close/>
              </a:path>
            </a:pathLst>
          </a:custGeom>
          <a:blipFill>
            <a:blip r:embed="rId7"/>
            <a:stretch>
              <a:fillRect l="0" t="0" r="-1738" b="0"/>
            </a:stretch>
          </a:blipFill>
        </p:spPr>
      </p:sp>
      <p:sp>
        <p:nvSpPr>
          <p:cNvPr name="Freeform 7" id="7"/>
          <p:cNvSpPr/>
          <p:nvPr/>
        </p:nvSpPr>
        <p:spPr>
          <a:xfrm flipH="false" flipV="false" rot="0">
            <a:off x="8451555" y="2007202"/>
            <a:ext cx="9457593" cy="3136298"/>
          </a:xfrm>
          <a:custGeom>
            <a:avLst/>
            <a:gdLst/>
            <a:ahLst/>
            <a:cxnLst/>
            <a:rect r="r" b="b" t="t" l="l"/>
            <a:pathLst>
              <a:path h="3136298" w="9457593">
                <a:moveTo>
                  <a:pt x="0" y="0"/>
                </a:moveTo>
                <a:lnTo>
                  <a:pt x="9457593" y="0"/>
                </a:lnTo>
                <a:lnTo>
                  <a:pt x="9457593" y="3136298"/>
                </a:lnTo>
                <a:lnTo>
                  <a:pt x="0" y="3136298"/>
                </a:lnTo>
                <a:lnTo>
                  <a:pt x="0" y="0"/>
                </a:lnTo>
                <a:close/>
              </a:path>
            </a:pathLst>
          </a:custGeom>
          <a:blipFill>
            <a:blip r:embed="rId8"/>
            <a:stretch>
              <a:fillRect l="0" t="0" r="0" b="0"/>
            </a:stretch>
          </a:blipFill>
        </p:spPr>
      </p:sp>
      <p:sp>
        <p:nvSpPr>
          <p:cNvPr name="TextBox 8" id="8"/>
          <p:cNvSpPr txBox="true"/>
          <p:nvPr/>
        </p:nvSpPr>
        <p:spPr>
          <a:xfrm rot="0">
            <a:off x="417046" y="542490"/>
            <a:ext cx="14290013" cy="953352"/>
          </a:xfrm>
          <a:prstGeom prst="rect">
            <a:avLst/>
          </a:prstGeom>
        </p:spPr>
        <p:txBody>
          <a:bodyPr anchor="t" rtlCol="false" tIns="0" lIns="0" bIns="0" rIns="0">
            <a:spAutoFit/>
          </a:bodyPr>
          <a:lstStyle/>
          <a:p>
            <a:pPr algn="l">
              <a:lnSpc>
                <a:spcPts val="7828"/>
              </a:lnSpc>
              <a:spcBef>
                <a:spcPct val="0"/>
              </a:spcBef>
            </a:pPr>
            <a:r>
              <a:rPr lang="en-US" sz="5591">
                <a:solidFill>
                  <a:srgbClr val="262B34"/>
                </a:solidFill>
                <a:latin typeface="Anton"/>
                <a:ea typeface="Anton"/>
                <a:cs typeface="Anton"/>
                <a:sym typeface="Anton"/>
              </a:rPr>
              <a:t>Détection et traitement des v</a:t>
            </a:r>
            <a:r>
              <a:rPr lang="en-US" sz="5591">
                <a:solidFill>
                  <a:srgbClr val="262B34"/>
                </a:solidFill>
                <a:latin typeface="Anton"/>
                <a:ea typeface="Anton"/>
                <a:cs typeface="Anton"/>
                <a:sym typeface="Anton"/>
              </a:rPr>
              <a:t>aleurs aberrantes</a:t>
            </a:r>
          </a:p>
        </p:txBody>
      </p:sp>
      <p:sp>
        <p:nvSpPr>
          <p:cNvPr name="TextBox 9" id="9"/>
          <p:cNvSpPr txBox="true"/>
          <p:nvPr/>
        </p:nvSpPr>
        <p:spPr>
          <a:xfrm rot="0">
            <a:off x="417046" y="2152892"/>
            <a:ext cx="6960795" cy="3750491"/>
          </a:xfrm>
          <a:prstGeom prst="rect">
            <a:avLst/>
          </a:prstGeom>
        </p:spPr>
        <p:txBody>
          <a:bodyPr anchor="t" rtlCol="false" tIns="0" lIns="0" bIns="0" rIns="0">
            <a:spAutoFit/>
          </a:bodyPr>
          <a:lstStyle/>
          <a:p>
            <a:pPr algn="l">
              <a:lnSpc>
                <a:spcPts val="4766"/>
              </a:lnSpc>
            </a:pPr>
            <a:r>
              <a:rPr lang="en-US" sz="2206" b="true">
                <a:solidFill>
                  <a:srgbClr val="000000"/>
                </a:solidFill>
                <a:latin typeface="Poppins Bold"/>
                <a:ea typeface="Poppins Bold"/>
                <a:cs typeface="Poppins Bold"/>
                <a:sym typeface="Poppins Bold"/>
              </a:rPr>
              <a:t>Détec</a:t>
            </a:r>
            <a:r>
              <a:rPr lang="en-US" sz="2206" b="true">
                <a:solidFill>
                  <a:srgbClr val="000000"/>
                </a:solidFill>
                <a:latin typeface="Poppins Bold"/>
                <a:ea typeface="Poppins Bold"/>
                <a:cs typeface="Poppins Bold"/>
                <a:sym typeface="Poppins Bold"/>
              </a:rPr>
              <a:t>tion des valeurs abe</a:t>
            </a:r>
            <a:r>
              <a:rPr lang="en-US" sz="2206" b="true">
                <a:solidFill>
                  <a:srgbClr val="000000"/>
                </a:solidFill>
                <a:latin typeface="Poppins Bold"/>
                <a:ea typeface="Poppins Bold"/>
                <a:cs typeface="Poppins Bold"/>
                <a:sym typeface="Poppins Bold"/>
              </a:rPr>
              <a:t>rra</a:t>
            </a:r>
            <a:r>
              <a:rPr lang="en-US" sz="2206" b="true">
                <a:solidFill>
                  <a:srgbClr val="000000"/>
                </a:solidFill>
                <a:latin typeface="Poppins Bold"/>
                <a:ea typeface="Poppins Bold"/>
                <a:cs typeface="Poppins Bold"/>
                <a:sym typeface="Poppins Bold"/>
              </a:rPr>
              <a:t>ntes</a:t>
            </a:r>
          </a:p>
          <a:p>
            <a:pPr algn="l">
              <a:lnSpc>
                <a:spcPts val="3199"/>
              </a:lnSpc>
            </a:pPr>
            <a:r>
              <a:rPr lang="en-US" sz="2206">
                <a:solidFill>
                  <a:srgbClr val="000000"/>
                </a:solidFill>
                <a:latin typeface="Poppins"/>
                <a:ea typeface="Poppins"/>
                <a:cs typeface="Poppins"/>
                <a:sym typeface="Poppins"/>
              </a:rPr>
              <a:t>Le</a:t>
            </a:r>
            <a:r>
              <a:rPr lang="en-US" sz="2206">
                <a:solidFill>
                  <a:srgbClr val="000000"/>
                </a:solidFill>
                <a:latin typeface="Poppins"/>
                <a:ea typeface="Poppins"/>
                <a:cs typeface="Poppins"/>
                <a:sym typeface="Poppins"/>
              </a:rPr>
              <a:t>s va</a:t>
            </a:r>
            <a:r>
              <a:rPr lang="en-US" sz="2206">
                <a:solidFill>
                  <a:srgbClr val="000000"/>
                </a:solidFill>
                <a:latin typeface="Poppins"/>
                <a:ea typeface="Poppins"/>
                <a:cs typeface="Poppins"/>
                <a:sym typeface="Poppins"/>
              </a:rPr>
              <a:t>l</a:t>
            </a:r>
            <a:r>
              <a:rPr lang="en-US" sz="2206">
                <a:solidFill>
                  <a:srgbClr val="000000"/>
                </a:solidFill>
                <a:latin typeface="Poppins"/>
                <a:ea typeface="Poppins"/>
                <a:cs typeface="Poppins"/>
                <a:sym typeface="Poppins"/>
              </a:rPr>
              <a:t>eurs aberrantes sont détectées à l'ai</a:t>
            </a:r>
            <a:r>
              <a:rPr lang="en-US" sz="2206">
                <a:solidFill>
                  <a:srgbClr val="000000"/>
                </a:solidFill>
                <a:latin typeface="Poppins"/>
                <a:ea typeface="Poppins"/>
                <a:cs typeface="Poppins"/>
                <a:sym typeface="Poppins"/>
              </a:rPr>
              <a:t>de</a:t>
            </a:r>
            <a:r>
              <a:rPr lang="en-US" sz="2206">
                <a:solidFill>
                  <a:srgbClr val="000000"/>
                </a:solidFill>
                <a:latin typeface="Poppins"/>
                <a:ea typeface="Poppins"/>
                <a:cs typeface="Poppins"/>
                <a:sym typeface="Poppins"/>
              </a:rPr>
              <a:t> de la méth</a:t>
            </a:r>
            <a:r>
              <a:rPr lang="en-US" sz="2206">
                <a:solidFill>
                  <a:srgbClr val="000000"/>
                </a:solidFill>
                <a:latin typeface="Poppins"/>
                <a:ea typeface="Poppins"/>
                <a:cs typeface="Poppins"/>
                <a:sym typeface="Poppins"/>
              </a:rPr>
              <a:t>ode de l'IQR.</a:t>
            </a:r>
          </a:p>
          <a:p>
            <a:pPr algn="l">
              <a:lnSpc>
                <a:spcPts val="4766"/>
              </a:lnSpc>
            </a:pPr>
          </a:p>
          <a:p>
            <a:pPr algn="l">
              <a:lnSpc>
                <a:spcPts val="4766"/>
              </a:lnSpc>
            </a:pPr>
          </a:p>
          <a:p>
            <a:pPr algn="l">
              <a:lnSpc>
                <a:spcPts val="4766"/>
              </a:lnSpc>
            </a:pPr>
          </a:p>
          <a:p>
            <a:pPr algn="l">
              <a:lnSpc>
                <a:spcPts val="4766"/>
              </a:lnSpc>
            </a:pPr>
          </a:p>
        </p:txBody>
      </p:sp>
      <p:sp>
        <p:nvSpPr>
          <p:cNvPr name="TextBox 10" id="10"/>
          <p:cNvSpPr txBox="true"/>
          <p:nvPr/>
        </p:nvSpPr>
        <p:spPr>
          <a:xfrm rot="0">
            <a:off x="417046" y="6627159"/>
            <a:ext cx="7392690" cy="1669332"/>
          </a:xfrm>
          <a:prstGeom prst="rect">
            <a:avLst/>
          </a:prstGeom>
        </p:spPr>
        <p:txBody>
          <a:bodyPr anchor="t" rtlCol="false" tIns="0" lIns="0" bIns="0" rIns="0">
            <a:spAutoFit/>
          </a:bodyPr>
          <a:lstStyle/>
          <a:p>
            <a:pPr algn="l">
              <a:lnSpc>
                <a:spcPts val="2569"/>
              </a:lnSpc>
            </a:pPr>
          </a:p>
          <a:p>
            <a:pPr algn="l">
              <a:lnSpc>
                <a:spcPts val="2569"/>
              </a:lnSpc>
            </a:pPr>
            <a:r>
              <a:rPr lang="en-US" sz="1724">
                <a:solidFill>
                  <a:srgbClr val="000000"/>
                </a:solidFill>
                <a:latin typeface="Poppins"/>
                <a:ea typeface="Poppins"/>
                <a:cs typeface="Poppins"/>
                <a:sym typeface="Poppins"/>
              </a:rPr>
              <a:t>C</a:t>
            </a:r>
            <a:r>
              <a:rPr lang="en-US" sz="1724">
                <a:solidFill>
                  <a:srgbClr val="000000"/>
                </a:solidFill>
                <a:latin typeface="Poppins"/>
                <a:ea typeface="Poppins"/>
                <a:cs typeface="Poppins"/>
                <a:sym typeface="Poppins"/>
              </a:rPr>
              <a:t>ette</a:t>
            </a:r>
            <a:r>
              <a:rPr lang="en-US" sz="1724">
                <a:solidFill>
                  <a:srgbClr val="000000"/>
                </a:solidFill>
                <a:latin typeface="Poppins"/>
                <a:ea typeface="Poppins"/>
                <a:cs typeface="Poppins"/>
                <a:sym typeface="Poppins"/>
              </a:rPr>
              <a:t> étape permet d'identifier </a:t>
            </a:r>
            <a:r>
              <a:rPr lang="en-US" sz="1724">
                <a:solidFill>
                  <a:srgbClr val="000000"/>
                </a:solidFill>
                <a:latin typeface="Poppins"/>
                <a:ea typeface="Poppins"/>
                <a:cs typeface="Poppins"/>
                <a:sym typeface="Poppins"/>
              </a:rPr>
              <a:t>l</a:t>
            </a:r>
            <a:r>
              <a:rPr lang="en-US" sz="1724">
                <a:solidFill>
                  <a:srgbClr val="000000"/>
                </a:solidFill>
                <a:latin typeface="Poppins"/>
                <a:ea typeface="Poppins"/>
                <a:cs typeface="Poppins"/>
                <a:sym typeface="Poppins"/>
              </a:rPr>
              <a:t>es observations susceptibles d'influencer les analyses multivariées, notamment l'ACP et les méth</a:t>
            </a:r>
            <a:r>
              <a:rPr lang="en-US" sz="1724">
                <a:solidFill>
                  <a:srgbClr val="000000"/>
                </a:solidFill>
                <a:latin typeface="Poppins"/>
                <a:ea typeface="Poppins"/>
                <a:cs typeface="Poppins"/>
                <a:sym typeface="Poppins"/>
              </a:rPr>
              <a:t>odes de clustering.</a:t>
            </a:r>
          </a:p>
          <a:p>
            <a:pPr algn="l">
              <a:lnSpc>
                <a:spcPts val="3724"/>
              </a:lnSpc>
            </a:pPr>
          </a:p>
        </p:txBody>
      </p:sp>
      <p:sp>
        <p:nvSpPr>
          <p:cNvPr name="TextBox 11" id="11"/>
          <p:cNvSpPr txBox="true"/>
          <p:nvPr/>
        </p:nvSpPr>
        <p:spPr>
          <a:xfrm rot="0">
            <a:off x="8451555" y="8612860"/>
            <a:ext cx="9457593" cy="1233731"/>
          </a:xfrm>
          <a:prstGeom prst="rect">
            <a:avLst/>
          </a:prstGeom>
        </p:spPr>
        <p:txBody>
          <a:bodyPr anchor="t" rtlCol="false" tIns="0" lIns="0" bIns="0" rIns="0">
            <a:spAutoFit/>
          </a:bodyPr>
          <a:lstStyle/>
          <a:p>
            <a:pPr algn="l">
              <a:lnSpc>
                <a:spcPts val="2420"/>
              </a:lnSpc>
            </a:pPr>
            <a:r>
              <a:rPr lang="en-US" sz="1624">
                <a:solidFill>
                  <a:srgbClr val="000000"/>
                </a:solidFill>
                <a:latin typeface="Poppins"/>
                <a:ea typeface="Poppins"/>
                <a:cs typeface="Poppins"/>
                <a:sym typeface="Poppins"/>
              </a:rPr>
              <a:t>• </a:t>
            </a:r>
            <a:r>
              <a:rPr lang="en-US" sz="1624">
                <a:solidFill>
                  <a:srgbClr val="000000"/>
                </a:solidFill>
                <a:latin typeface="Poppins"/>
                <a:ea typeface="Poppins"/>
                <a:cs typeface="Poppins"/>
                <a:sym typeface="Poppins"/>
              </a:rPr>
              <a:t>Le Brésil présente une production et un volume d'exportations exceptionnellement é</a:t>
            </a:r>
            <a:r>
              <a:rPr lang="en-US" sz="1624">
                <a:solidFill>
                  <a:srgbClr val="000000"/>
                </a:solidFill>
                <a:latin typeface="Poppins"/>
                <a:ea typeface="Poppins"/>
                <a:cs typeface="Poppins"/>
                <a:sym typeface="Poppins"/>
              </a:rPr>
              <a:t>levé</a:t>
            </a:r>
            <a:r>
              <a:rPr lang="en-US" sz="1624">
                <a:solidFill>
                  <a:srgbClr val="000000"/>
                </a:solidFill>
                <a:latin typeface="Poppins"/>
                <a:ea typeface="Poppins"/>
                <a:cs typeface="Poppins"/>
                <a:sym typeface="Poppins"/>
              </a:rPr>
              <a:t>s.</a:t>
            </a:r>
          </a:p>
          <a:p>
            <a:pPr algn="l">
              <a:lnSpc>
                <a:spcPts val="2420"/>
              </a:lnSpc>
            </a:pPr>
            <a:r>
              <a:rPr lang="en-US" sz="1624">
                <a:solidFill>
                  <a:srgbClr val="000000"/>
                </a:solidFill>
                <a:latin typeface="Poppins"/>
                <a:ea typeface="Poppins"/>
                <a:cs typeface="Poppins"/>
                <a:sym typeface="Poppins"/>
              </a:rPr>
              <a:t>• </a:t>
            </a:r>
            <a:r>
              <a:rPr lang="en-US" sz="1624">
                <a:solidFill>
                  <a:srgbClr val="000000"/>
                </a:solidFill>
                <a:latin typeface="Poppins"/>
                <a:ea typeface="Poppins"/>
                <a:cs typeface="Poppins"/>
                <a:sym typeface="Poppins"/>
              </a:rPr>
              <a:t>L'Inde se distingue par une population très supérieure au reste des pays.</a:t>
            </a:r>
          </a:p>
          <a:p>
            <a:pPr algn="l">
              <a:lnSpc>
                <a:spcPts val="2420"/>
              </a:lnSpc>
            </a:pPr>
            <a:r>
              <a:rPr lang="en-US" sz="1624">
                <a:solidFill>
                  <a:srgbClr val="000000"/>
                </a:solidFill>
                <a:latin typeface="Poppins"/>
                <a:ea typeface="Poppins"/>
                <a:cs typeface="Poppins"/>
                <a:sym typeface="Poppins"/>
              </a:rPr>
              <a:t>Ces deux pays ont été exclus afin de limiter leur influence sur l'ACP, la CAH et le K-Means.</a:t>
            </a:r>
          </a:p>
          <a:p>
            <a:pPr algn="l">
              <a:lnSpc>
                <a:spcPts val="2569"/>
              </a:lnSpc>
            </a:pPr>
          </a:p>
        </p:txBody>
      </p:sp>
      <p:grpSp>
        <p:nvGrpSpPr>
          <p:cNvPr name="Group 12" id="12"/>
          <p:cNvGrpSpPr/>
          <p:nvPr/>
        </p:nvGrpSpPr>
        <p:grpSpPr>
          <a:xfrm rot="0">
            <a:off x="8450634" y="5555932"/>
            <a:ext cx="2225165" cy="2544163"/>
            <a:chOff x="0" y="0"/>
            <a:chExt cx="2966887" cy="3392218"/>
          </a:xfrm>
        </p:grpSpPr>
        <p:sp>
          <p:nvSpPr>
            <p:cNvPr name="Freeform 13" id="13"/>
            <p:cNvSpPr/>
            <p:nvPr/>
          </p:nvSpPr>
          <p:spPr>
            <a:xfrm flipH="false" flipV="false" rot="0">
              <a:off x="0" y="0"/>
              <a:ext cx="2966887" cy="3392218"/>
            </a:xfrm>
            <a:custGeom>
              <a:avLst/>
              <a:gdLst/>
              <a:ahLst/>
              <a:cxnLst/>
              <a:rect r="r" b="b" t="t" l="l"/>
              <a:pathLst>
                <a:path h="3392218" w="2966887">
                  <a:moveTo>
                    <a:pt x="0" y="0"/>
                  </a:moveTo>
                  <a:lnTo>
                    <a:pt x="2966887" y="0"/>
                  </a:lnTo>
                  <a:lnTo>
                    <a:pt x="2966887" y="3392218"/>
                  </a:lnTo>
                  <a:lnTo>
                    <a:pt x="0" y="3392218"/>
                  </a:lnTo>
                  <a:lnTo>
                    <a:pt x="0" y="0"/>
                  </a:lnTo>
                  <a:close/>
                </a:path>
              </a:pathLst>
            </a:custGeom>
            <a:blipFill>
              <a:blip r:embed="rId9"/>
              <a:stretch>
                <a:fillRect l="-37483" t="0" r="0" b="0"/>
              </a:stretch>
            </a:blipFill>
          </p:spPr>
        </p:sp>
        <p:grpSp>
          <p:nvGrpSpPr>
            <p:cNvPr name="Group 14" id="14"/>
            <p:cNvGrpSpPr/>
            <p:nvPr/>
          </p:nvGrpSpPr>
          <p:grpSpPr>
            <a:xfrm rot="0">
              <a:off x="255726" y="721995"/>
              <a:ext cx="2447290" cy="405130"/>
              <a:chOff x="0" y="0"/>
              <a:chExt cx="2447290" cy="405130"/>
            </a:xfrm>
          </p:grpSpPr>
          <p:sp>
            <p:nvSpPr>
              <p:cNvPr name="Freeform 15" id="15"/>
              <p:cNvSpPr/>
              <p:nvPr/>
            </p:nvSpPr>
            <p:spPr>
              <a:xfrm flipH="false" flipV="false" rot="0">
                <a:off x="50772" y="47045"/>
                <a:ext cx="2350908" cy="312127"/>
              </a:xfrm>
              <a:custGeom>
                <a:avLst/>
                <a:gdLst/>
                <a:ahLst/>
                <a:cxnLst/>
                <a:rect r="r" b="b" t="t" l="l"/>
                <a:pathLst>
                  <a:path h="312127" w="2350908">
                    <a:moveTo>
                      <a:pt x="2279678" y="285695"/>
                    </a:moveTo>
                    <a:cubicBezTo>
                      <a:pt x="2162838" y="260295"/>
                      <a:pt x="2040918" y="267915"/>
                      <a:pt x="1971068" y="260295"/>
                    </a:cubicBezTo>
                    <a:cubicBezTo>
                      <a:pt x="1918998" y="253945"/>
                      <a:pt x="1894868" y="239975"/>
                      <a:pt x="1835178" y="236165"/>
                    </a:cubicBezTo>
                    <a:cubicBezTo>
                      <a:pt x="1719608" y="226005"/>
                      <a:pt x="1438938" y="232355"/>
                      <a:pt x="1325908" y="245055"/>
                    </a:cubicBezTo>
                    <a:cubicBezTo>
                      <a:pt x="1270028" y="250135"/>
                      <a:pt x="1244628" y="264105"/>
                      <a:pt x="1201448" y="269185"/>
                    </a:cubicBezTo>
                    <a:cubicBezTo>
                      <a:pt x="1155728" y="274265"/>
                      <a:pt x="1121438" y="274265"/>
                      <a:pt x="1060478" y="275535"/>
                    </a:cubicBezTo>
                    <a:cubicBezTo>
                      <a:pt x="943638" y="278075"/>
                      <a:pt x="713768" y="269185"/>
                      <a:pt x="553748" y="275535"/>
                    </a:cubicBezTo>
                    <a:cubicBezTo>
                      <a:pt x="410238" y="280615"/>
                      <a:pt x="153698" y="328875"/>
                      <a:pt x="144808" y="306015"/>
                    </a:cubicBezTo>
                    <a:cubicBezTo>
                      <a:pt x="140998" y="293315"/>
                      <a:pt x="240058" y="259025"/>
                      <a:pt x="236248" y="242515"/>
                    </a:cubicBezTo>
                    <a:cubicBezTo>
                      <a:pt x="231168" y="215845"/>
                      <a:pt x="3838" y="215845"/>
                      <a:pt x="28" y="190445"/>
                    </a:cubicBezTo>
                    <a:cubicBezTo>
                      <a:pt x="-2512" y="161235"/>
                      <a:pt x="167668" y="97735"/>
                      <a:pt x="257838" y="72335"/>
                    </a:cubicBezTo>
                    <a:cubicBezTo>
                      <a:pt x="351818" y="45665"/>
                      <a:pt x="440718" y="41855"/>
                      <a:pt x="553748" y="34235"/>
                    </a:cubicBezTo>
                    <a:cubicBezTo>
                      <a:pt x="704878" y="24075"/>
                      <a:pt x="934748" y="41855"/>
                      <a:pt x="1088418" y="34235"/>
                    </a:cubicBezTo>
                    <a:cubicBezTo>
                      <a:pt x="1202718" y="27885"/>
                      <a:pt x="1264948" y="8835"/>
                      <a:pt x="1389408" y="3755"/>
                    </a:cubicBezTo>
                    <a:cubicBezTo>
                      <a:pt x="1586258" y="-5135"/>
                      <a:pt x="1991388" y="2485"/>
                      <a:pt x="2160298" y="18995"/>
                    </a:cubicBezTo>
                    <a:cubicBezTo>
                      <a:pt x="2244118" y="27885"/>
                      <a:pt x="2322858" y="13915"/>
                      <a:pt x="2345718" y="52015"/>
                    </a:cubicBezTo>
                    <a:cubicBezTo>
                      <a:pt x="2373658" y="95195"/>
                      <a:pt x="2279678" y="285695"/>
                      <a:pt x="2279678" y="285695"/>
                    </a:cubicBezTo>
                  </a:path>
                </a:pathLst>
              </a:custGeom>
              <a:solidFill>
                <a:srgbClr val="FF7A68">
                  <a:alpha val="24706"/>
                </a:srgbClr>
              </a:solidFill>
              <a:ln cap="sq">
                <a:noFill/>
                <a:prstDash val="solid"/>
                <a:miter/>
              </a:ln>
            </p:spPr>
          </p:sp>
        </p:grpSp>
        <p:grpSp>
          <p:nvGrpSpPr>
            <p:cNvPr name="Group 16" id="16"/>
            <p:cNvGrpSpPr/>
            <p:nvPr/>
          </p:nvGrpSpPr>
          <p:grpSpPr>
            <a:xfrm rot="0">
              <a:off x="570200" y="1224280"/>
              <a:ext cx="2162810" cy="405130"/>
              <a:chOff x="0" y="0"/>
              <a:chExt cx="2162810" cy="405130"/>
            </a:xfrm>
          </p:grpSpPr>
          <p:sp>
            <p:nvSpPr>
              <p:cNvPr name="Freeform 17" id="17"/>
              <p:cNvSpPr/>
              <p:nvPr/>
            </p:nvSpPr>
            <p:spPr>
              <a:xfrm flipH="false" flipV="false" rot="0">
                <a:off x="28222" y="62616"/>
                <a:ext cx="2083935" cy="296292"/>
              </a:xfrm>
              <a:custGeom>
                <a:avLst/>
                <a:gdLst/>
                <a:ahLst/>
                <a:cxnLst/>
                <a:rect r="r" b="b" t="t" l="l"/>
                <a:pathLst>
                  <a:path h="296292" w="2083935">
                    <a:moveTo>
                      <a:pt x="22578" y="3424"/>
                    </a:moveTo>
                    <a:cubicBezTo>
                      <a:pt x="853158" y="-8006"/>
                      <a:pt x="949678" y="12314"/>
                      <a:pt x="1085568" y="18664"/>
                    </a:cubicBezTo>
                    <a:cubicBezTo>
                      <a:pt x="1249398" y="25014"/>
                      <a:pt x="1477998" y="9774"/>
                      <a:pt x="1622778" y="18664"/>
                    </a:cubicBezTo>
                    <a:cubicBezTo>
                      <a:pt x="1720568" y="25014"/>
                      <a:pt x="1789148" y="33904"/>
                      <a:pt x="1867888" y="50414"/>
                    </a:cubicBezTo>
                    <a:cubicBezTo>
                      <a:pt x="1942818" y="65654"/>
                      <a:pt x="2077438" y="80894"/>
                      <a:pt x="2083788" y="113914"/>
                    </a:cubicBezTo>
                    <a:cubicBezTo>
                      <a:pt x="2090138" y="149474"/>
                      <a:pt x="1888208" y="226944"/>
                      <a:pt x="1889478" y="257424"/>
                    </a:cubicBezTo>
                    <a:cubicBezTo>
                      <a:pt x="1890748" y="273934"/>
                      <a:pt x="1946628" y="284094"/>
                      <a:pt x="1945358" y="291714"/>
                    </a:cubicBezTo>
                    <a:cubicBezTo>
                      <a:pt x="1942818" y="300604"/>
                      <a:pt x="1870428" y="294254"/>
                      <a:pt x="1822168" y="291714"/>
                    </a:cubicBezTo>
                    <a:cubicBezTo>
                      <a:pt x="1751048" y="286634"/>
                      <a:pt x="1663418" y="266314"/>
                      <a:pt x="1560548" y="259964"/>
                    </a:cubicBezTo>
                    <a:cubicBezTo>
                      <a:pt x="1414498" y="251074"/>
                      <a:pt x="1178278" y="265044"/>
                      <a:pt x="1027148" y="257424"/>
                    </a:cubicBezTo>
                    <a:cubicBezTo>
                      <a:pt x="915388" y="251074"/>
                      <a:pt x="855698" y="233294"/>
                      <a:pt x="737588" y="229484"/>
                    </a:cubicBezTo>
                    <a:cubicBezTo>
                      <a:pt x="552168" y="223134"/>
                      <a:pt x="110208" y="333624"/>
                      <a:pt x="22578" y="247264"/>
                    </a:cubicBezTo>
                    <a:cubicBezTo>
                      <a:pt x="-28222" y="197734"/>
                      <a:pt x="22578" y="3424"/>
                      <a:pt x="22578" y="3424"/>
                    </a:cubicBezTo>
                  </a:path>
                </a:pathLst>
              </a:custGeom>
              <a:solidFill>
                <a:srgbClr val="FF7A68">
                  <a:alpha val="24706"/>
                </a:srgbClr>
              </a:solidFill>
              <a:ln cap="sq">
                <a:noFill/>
                <a:prstDash val="solid"/>
                <a:miter/>
              </a:ln>
            </p:spPr>
          </p:sp>
        </p:grpSp>
      </p:grpSp>
      <p:grpSp>
        <p:nvGrpSpPr>
          <p:cNvPr name="Group 18" id="18"/>
          <p:cNvGrpSpPr/>
          <p:nvPr/>
        </p:nvGrpSpPr>
        <p:grpSpPr>
          <a:xfrm rot="0">
            <a:off x="11459750" y="5555932"/>
            <a:ext cx="3441203" cy="2522430"/>
            <a:chOff x="0" y="0"/>
            <a:chExt cx="4588271" cy="3363239"/>
          </a:xfrm>
        </p:grpSpPr>
        <p:sp>
          <p:nvSpPr>
            <p:cNvPr name="Freeform 19" id="19"/>
            <p:cNvSpPr/>
            <p:nvPr/>
          </p:nvSpPr>
          <p:spPr>
            <a:xfrm flipH="false" flipV="false" rot="0">
              <a:off x="0" y="0"/>
              <a:ext cx="4510393" cy="3363239"/>
            </a:xfrm>
            <a:custGeom>
              <a:avLst/>
              <a:gdLst/>
              <a:ahLst/>
              <a:cxnLst/>
              <a:rect r="r" b="b" t="t" l="l"/>
              <a:pathLst>
                <a:path h="3363239" w="4510393">
                  <a:moveTo>
                    <a:pt x="0" y="0"/>
                  </a:moveTo>
                  <a:lnTo>
                    <a:pt x="4510393" y="0"/>
                  </a:lnTo>
                  <a:lnTo>
                    <a:pt x="4510393" y="3363239"/>
                  </a:lnTo>
                  <a:lnTo>
                    <a:pt x="0" y="3363239"/>
                  </a:lnTo>
                  <a:lnTo>
                    <a:pt x="0" y="0"/>
                  </a:lnTo>
                  <a:close/>
                </a:path>
              </a:pathLst>
            </a:custGeom>
            <a:blipFill>
              <a:blip r:embed="rId10"/>
              <a:stretch>
                <a:fillRect l="-18024" t="-5315" r="0" b="0"/>
              </a:stretch>
            </a:blipFill>
          </p:spPr>
        </p:sp>
        <p:grpSp>
          <p:nvGrpSpPr>
            <p:cNvPr name="Group 20" id="20"/>
            <p:cNvGrpSpPr/>
            <p:nvPr/>
          </p:nvGrpSpPr>
          <p:grpSpPr>
            <a:xfrm rot="0">
              <a:off x="523001" y="658611"/>
              <a:ext cx="4065270" cy="373380"/>
              <a:chOff x="0" y="0"/>
              <a:chExt cx="4065270" cy="373380"/>
            </a:xfrm>
          </p:grpSpPr>
          <p:sp>
            <p:nvSpPr>
              <p:cNvPr name="Freeform 21" id="21"/>
              <p:cNvSpPr/>
              <p:nvPr/>
            </p:nvSpPr>
            <p:spPr>
              <a:xfrm flipH="false" flipV="false" rot="0">
                <a:off x="40786" y="49438"/>
                <a:ext cx="3973759" cy="281423"/>
              </a:xfrm>
              <a:custGeom>
                <a:avLst/>
                <a:gdLst/>
                <a:ahLst/>
                <a:cxnLst/>
                <a:rect r="r" b="b" t="t" l="l"/>
                <a:pathLst>
                  <a:path h="281423" w="3973759">
                    <a:moveTo>
                      <a:pt x="40494" y="1362"/>
                    </a:moveTo>
                    <a:cubicBezTo>
                      <a:pt x="637394" y="29302"/>
                      <a:pt x="2364594" y="24222"/>
                      <a:pt x="2881484" y="15332"/>
                    </a:cubicBezTo>
                    <a:cubicBezTo>
                      <a:pt x="3097384" y="12792"/>
                      <a:pt x="3210414" y="-4988"/>
                      <a:pt x="3341224" y="1362"/>
                    </a:cubicBezTo>
                    <a:cubicBezTo>
                      <a:pt x="3440284" y="5172"/>
                      <a:pt x="3529184" y="26762"/>
                      <a:pt x="3600304" y="30572"/>
                    </a:cubicBezTo>
                    <a:cubicBezTo>
                      <a:pt x="3649834" y="33112"/>
                      <a:pt x="3684124" y="26762"/>
                      <a:pt x="3727304" y="31842"/>
                    </a:cubicBezTo>
                    <a:cubicBezTo>
                      <a:pt x="3771754" y="35652"/>
                      <a:pt x="3821284" y="42002"/>
                      <a:pt x="3863194" y="55972"/>
                    </a:cubicBezTo>
                    <a:cubicBezTo>
                      <a:pt x="3902564" y="68672"/>
                      <a:pt x="3972414" y="86452"/>
                      <a:pt x="3973684" y="111852"/>
                    </a:cubicBezTo>
                    <a:cubicBezTo>
                      <a:pt x="3977494" y="149952"/>
                      <a:pt x="3835254" y="247742"/>
                      <a:pt x="3742544" y="273142"/>
                    </a:cubicBezTo>
                    <a:cubicBezTo>
                      <a:pt x="3630784" y="302352"/>
                      <a:pt x="3479654" y="245202"/>
                      <a:pt x="3341224" y="241392"/>
                    </a:cubicBezTo>
                    <a:cubicBezTo>
                      <a:pt x="3192634" y="238852"/>
                      <a:pt x="3098654" y="254092"/>
                      <a:pt x="2881484" y="256632"/>
                    </a:cubicBezTo>
                    <a:cubicBezTo>
                      <a:pt x="2360784" y="265522"/>
                      <a:pt x="610724" y="269332"/>
                      <a:pt x="222104" y="256632"/>
                    </a:cubicBezTo>
                    <a:cubicBezTo>
                      <a:pt x="111614" y="254092"/>
                      <a:pt x="43034" y="282032"/>
                      <a:pt x="10014" y="243932"/>
                    </a:cubicBezTo>
                    <a:cubicBezTo>
                      <a:pt x="-24276" y="202022"/>
                      <a:pt x="40494" y="1362"/>
                      <a:pt x="40494" y="1362"/>
                    </a:cubicBezTo>
                  </a:path>
                </a:pathLst>
              </a:custGeom>
              <a:solidFill>
                <a:srgbClr val="FF7A68">
                  <a:alpha val="24706"/>
                </a:srgbClr>
              </a:solidFill>
              <a:ln cap="sq">
                <a:noFill/>
                <a:prstDash val="solid"/>
                <a:miter/>
              </a:ln>
            </p:spPr>
          </p:sp>
        </p:grpSp>
      </p:grpSp>
      <p:grpSp>
        <p:nvGrpSpPr>
          <p:cNvPr name="Group 22" id="22"/>
          <p:cNvGrpSpPr/>
          <p:nvPr/>
        </p:nvGrpSpPr>
        <p:grpSpPr>
          <a:xfrm rot="0">
            <a:off x="15345234" y="5577666"/>
            <a:ext cx="2287226" cy="2522430"/>
            <a:chOff x="0" y="0"/>
            <a:chExt cx="3049635" cy="3363239"/>
          </a:xfrm>
        </p:grpSpPr>
        <p:sp>
          <p:nvSpPr>
            <p:cNvPr name="Freeform 23" id="23"/>
            <p:cNvSpPr/>
            <p:nvPr/>
          </p:nvSpPr>
          <p:spPr>
            <a:xfrm flipH="false" flipV="false" rot="0">
              <a:off x="0" y="0"/>
              <a:ext cx="3049635" cy="3363239"/>
            </a:xfrm>
            <a:custGeom>
              <a:avLst/>
              <a:gdLst/>
              <a:ahLst/>
              <a:cxnLst/>
              <a:rect r="r" b="b" t="t" l="l"/>
              <a:pathLst>
                <a:path h="3363239" w="3049635">
                  <a:moveTo>
                    <a:pt x="0" y="0"/>
                  </a:moveTo>
                  <a:lnTo>
                    <a:pt x="3049635" y="0"/>
                  </a:lnTo>
                  <a:lnTo>
                    <a:pt x="3049635" y="3363239"/>
                  </a:lnTo>
                  <a:lnTo>
                    <a:pt x="0" y="3363239"/>
                  </a:lnTo>
                  <a:lnTo>
                    <a:pt x="0" y="0"/>
                  </a:lnTo>
                  <a:close/>
                </a:path>
              </a:pathLst>
            </a:custGeom>
            <a:blipFill>
              <a:blip r:embed="rId11"/>
              <a:stretch>
                <a:fillRect l="-32946" t="-3469" r="0" b="-3469"/>
              </a:stretch>
            </a:blipFill>
          </p:spPr>
        </p:sp>
        <p:grpSp>
          <p:nvGrpSpPr>
            <p:cNvPr name="Group 24" id="24"/>
            <p:cNvGrpSpPr/>
            <p:nvPr/>
          </p:nvGrpSpPr>
          <p:grpSpPr>
            <a:xfrm rot="0">
              <a:off x="681128" y="549910"/>
              <a:ext cx="2239010" cy="374650"/>
              <a:chOff x="0" y="0"/>
              <a:chExt cx="2239010" cy="374650"/>
            </a:xfrm>
          </p:grpSpPr>
          <p:sp>
            <p:nvSpPr>
              <p:cNvPr name="Freeform 25" id="25"/>
              <p:cNvSpPr/>
              <p:nvPr/>
            </p:nvSpPr>
            <p:spPr>
              <a:xfrm flipH="false" flipV="false" rot="0">
                <a:off x="46008" y="46990"/>
                <a:ext cx="2155744" cy="275287"/>
              </a:xfrm>
              <a:custGeom>
                <a:avLst/>
                <a:gdLst/>
                <a:ahLst/>
                <a:cxnLst/>
                <a:rect r="r" b="b" t="t" l="l"/>
                <a:pathLst>
                  <a:path h="275287" w="2155744">
                    <a:moveTo>
                      <a:pt x="2132042" y="264160"/>
                    </a:moveTo>
                    <a:cubicBezTo>
                      <a:pt x="785842" y="267970"/>
                      <a:pt x="746472" y="242570"/>
                      <a:pt x="690592" y="240030"/>
                    </a:cubicBezTo>
                    <a:cubicBezTo>
                      <a:pt x="643602" y="238760"/>
                      <a:pt x="616932" y="255270"/>
                      <a:pt x="559782" y="257810"/>
                    </a:cubicBezTo>
                    <a:cubicBezTo>
                      <a:pt x="453102" y="262890"/>
                      <a:pt x="185132" y="303530"/>
                      <a:pt x="94962" y="240030"/>
                    </a:cubicBezTo>
                    <a:cubicBezTo>
                      <a:pt x="31462" y="195580"/>
                      <a:pt x="-15528" y="50800"/>
                      <a:pt x="4792" y="16510"/>
                    </a:cubicBezTo>
                    <a:cubicBezTo>
                      <a:pt x="18762" y="-7620"/>
                      <a:pt x="72102" y="6350"/>
                      <a:pt x="122902" y="3810"/>
                    </a:cubicBezTo>
                    <a:cubicBezTo>
                      <a:pt x="211802" y="-1270"/>
                      <a:pt x="369282" y="-1270"/>
                      <a:pt x="493742" y="3810"/>
                    </a:cubicBezTo>
                    <a:cubicBezTo>
                      <a:pt x="619472" y="8890"/>
                      <a:pt x="723612" y="27940"/>
                      <a:pt x="874742" y="34290"/>
                    </a:cubicBezTo>
                    <a:cubicBezTo>
                      <a:pt x="1095722" y="43180"/>
                      <a:pt x="1540222" y="13970"/>
                      <a:pt x="1690082" y="34290"/>
                    </a:cubicBezTo>
                    <a:cubicBezTo>
                      <a:pt x="1749772" y="41910"/>
                      <a:pt x="1768822" y="68580"/>
                      <a:pt x="1810732" y="67310"/>
                    </a:cubicBezTo>
                    <a:cubicBezTo>
                      <a:pt x="1857722" y="66040"/>
                      <a:pt x="1903442" y="26670"/>
                      <a:pt x="1955512" y="19050"/>
                    </a:cubicBezTo>
                    <a:cubicBezTo>
                      <a:pt x="2012662" y="10160"/>
                      <a:pt x="2110452" y="-12700"/>
                      <a:pt x="2142202" y="21590"/>
                    </a:cubicBezTo>
                    <a:cubicBezTo>
                      <a:pt x="2177762" y="59690"/>
                      <a:pt x="2132042" y="264160"/>
                      <a:pt x="2132042" y="264160"/>
                    </a:cubicBezTo>
                  </a:path>
                </a:pathLst>
              </a:custGeom>
              <a:solidFill>
                <a:srgbClr val="FF7A68">
                  <a:alpha val="24706"/>
                </a:srgbClr>
              </a:solidFill>
              <a:ln cap="sq">
                <a:noFill/>
                <a:prstDash val="solid"/>
                <a:miter/>
              </a:ln>
            </p:spPr>
          </p:sp>
        </p:grpSp>
      </p:grpSp>
      <p:sp>
        <p:nvSpPr>
          <p:cNvPr name="TextBox 26" id="26"/>
          <p:cNvSpPr txBox="true"/>
          <p:nvPr/>
        </p:nvSpPr>
        <p:spPr>
          <a:xfrm rot="0">
            <a:off x="554578" y="8429841"/>
            <a:ext cx="3059515" cy="12496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Anton"/>
                <a:ea typeface="Anton"/>
                <a:cs typeface="Anton"/>
                <a:sym typeface="Anton"/>
              </a:rPr>
              <a:t>Jeu de données final</a:t>
            </a:r>
          </a:p>
          <a:p>
            <a:pPr algn="l">
              <a:lnSpc>
                <a:spcPts val="2520"/>
              </a:lnSpc>
              <a:spcBef>
                <a:spcPct val="0"/>
              </a:spcBef>
            </a:pPr>
          </a:p>
          <a:p>
            <a:pPr algn="l">
              <a:lnSpc>
                <a:spcPts val="2520"/>
              </a:lnSpc>
            </a:pPr>
            <a:r>
              <a:rPr lang="en-US" sz="1800">
                <a:solidFill>
                  <a:srgbClr val="000000"/>
                </a:solidFill>
                <a:latin typeface="Anton"/>
                <a:ea typeface="Anton"/>
                <a:cs typeface="Anton"/>
                <a:sym typeface="Anton"/>
              </a:rPr>
              <a:t>✔ </a:t>
            </a:r>
            <a:r>
              <a:rPr lang="en-US" sz="1800">
                <a:solidFill>
                  <a:srgbClr val="000000"/>
                </a:solidFill>
                <a:latin typeface="Anton"/>
                <a:ea typeface="Anton"/>
                <a:cs typeface="Anton"/>
                <a:sym typeface="Anton"/>
              </a:rPr>
              <a:t>141 pays</a:t>
            </a:r>
          </a:p>
          <a:p>
            <a:pPr algn="l">
              <a:lnSpc>
                <a:spcPts val="2520"/>
              </a:lnSpc>
            </a:pPr>
            <a:r>
              <a:rPr lang="en-US" sz="1800">
                <a:solidFill>
                  <a:srgbClr val="000000"/>
                </a:solidFill>
                <a:latin typeface="Anton"/>
                <a:ea typeface="Anton"/>
                <a:cs typeface="Anton"/>
                <a:sym typeface="Anton"/>
              </a:rPr>
              <a:t>✔ 10 variables quantitatives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7564795" y="-1243506"/>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2563733" y="1981800"/>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17259300" y="8983796"/>
            <a:ext cx="438826" cy="438826"/>
          </a:xfrm>
          <a:custGeom>
            <a:avLst/>
            <a:gdLst/>
            <a:ahLst/>
            <a:cxnLst/>
            <a:rect r="r" b="b" t="t" l="l"/>
            <a:pathLst>
              <a:path h="438826" w="438826">
                <a:moveTo>
                  <a:pt x="0" y="0"/>
                </a:moveTo>
                <a:lnTo>
                  <a:pt x="438826" y="0"/>
                </a:lnTo>
                <a:lnTo>
                  <a:pt x="438826" y="438826"/>
                </a:lnTo>
                <a:lnTo>
                  <a:pt x="0" y="4388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400678" y="2355755"/>
            <a:ext cx="12192035" cy="5031985"/>
          </a:xfrm>
          <a:custGeom>
            <a:avLst/>
            <a:gdLst/>
            <a:ahLst/>
            <a:cxnLst/>
            <a:rect r="r" b="b" t="t" l="l"/>
            <a:pathLst>
              <a:path h="5031985" w="12192035">
                <a:moveTo>
                  <a:pt x="0" y="0"/>
                </a:moveTo>
                <a:lnTo>
                  <a:pt x="12192035" y="0"/>
                </a:lnTo>
                <a:lnTo>
                  <a:pt x="12192035" y="5031986"/>
                </a:lnTo>
                <a:lnTo>
                  <a:pt x="0" y="5031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775719" y="2530253"/>
            <a:ext cx="8323459" cy="5588822"/>
          </a:xfrm>
          <a:custGeom>
            <a:avLst/>
            <a:gdLst/>
            <a:ahLst/>
            <a:cxnLst/>
            <a:rect r="r" b="b" t="t" l="l"/>
            <a:pathLst>
              <a:path h="5588822" w="8323459">
                <a:moveTo>
                  <a:pt x="0" y="0"/>
                </a:moveTo>
                <a:lnTo>
                  <a:pt x="8323459" y="0"/>
                </a:lnTo>
                <a:lnTo>
                  <a:pt x="8323459" y="5588822"/>
                </a:lnTo>
                <a:lnTo>
                  <a:pt x="0" y="5588822"/>
                </a:lnTo>
                <a:lnTo>
                  <a:pt x="0" y="0"/>
                </a:lnTo>
                <a:close/>
              </a:path>
            </a:pathLst>
          </a:custGeom>
          <a:blipFill>
            <a:blip r:embed="rId9"/>
            <a:stretch>
              <a:fillRect l="0" t="0" r="0" b="0"/>
            </a:stretch>
          </a:blipFill>
        </p:spPr>
      </p:sp>
      <p:sp>
        <p:nvSpPr>
          <p:cNvPr name="Freeform 7" id="7"/>
          <p:cNvSpPr/>
          <p:nvPr/>
        </p:nvSpPr>
        <p:spPr>
          <a:xfrm flipH="false" flipV="false" rot="0">
            <a:off x="-5400678" y="5877586"/>
            <a:ext cx="12192035" cy="5031985"/>
          </a:xfrm>
          <a:custGeom>
            <a:avLst/>
            <a:gdLst/>
            <a:ahLst/>
            <a:cxnLst/>
            <a:rect r="r" b="b" t="t" l="l"/>
            <a:pathLst>
              <a:path h="5031985" w="12192035">
                <a:moveTo>
                  <a:pt x="0" y="0"/>
                </a:moveTo>
                <a:lnTo>
                  <a:pt x="12192035" y="0"/>
                </a:lnTo>
                <a:lnTo>
                  <a:pt x="12192035" y="5031985"/>
                </a:lnTo>
                <a:lnTo>
                  <a:pt x="0" y="5031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695339" y="2568329"/>
            <a:ext cx="5805271" cy="7950434"/>
          </a:xfrm>
          <a:prstGeom prst="rect">
            <a:avLst/>
          </a:prstGeom>
        </p:spPr>
        <p:txBody>
          <a:bodyPr anchor="t" rtlCol="false" tIns="0" lIns="0" bIns="0" rIns="0">
            <a:spAutoFit/>
          </a:bodyPr>
          <a:lstStyle/>
          <a:p>
            <a:pPr algn="l">
              <a:lnSpc>
                <a:spcPts val="3331"/>
              </a:lnSpc>
            </a:pPr>
            <a:r>
              <a:rPr lang="en-US" sz="2006" b="true">
                <a:solidFill>
                  <a:srgbClr val="000000"/>
                </a:solidFill>
                <a:latin typeface="Poppins Bold"/>
                <a:ea typeface="Poppins Bold"/>
                <a:cs typeface="Poppins Bold"/>
                <a:sym typeface="Poppins Bold"/>
              </a:rPr>
              <a:t>Objectif</a:t>
            </a:r>
          </a:p>
          <a:p>
            <a:pPr algn="l" marL="433281" indent="-216640" lvl="1">
              <a:lnSpc>
                <a:spcPts val="3331"/>
              </a:lnSpc>
              <a:buFont typeface="Arial"/>
              <a:buChar char="•"/>
            </a:pPr>
            <a:r>
              <a:rPr lang="en-US" sz="2006">
                <a:solidFill>
                  <a:srgbClr val="000000"/>
                </a:solidFill>
                <a:latin typeface="Poppins"/>
                <a:ea typeface="Poppins"/>
                <a:cs typeface="Poppins"/>
                <a:sym typeface="Poppins"/>
              </a:rPr>
              <a:t>Réduire l</a:t>
            </a:r>
            <a:r>
              <a:rPr lang="en-US" sz="2006">
                <a:solidFill>
                  <a:srgbClr val="000000"/>
                </a:solidFill>
                <a:latin typeface="Poppins"/>
                <a:ea typeface="Poppins"/>
                <a:cs typeface="Poppins"/>
                <a:sym typeface="Poppins"/>
              </a:rPr>
              <a:t>e nombre de variables.</a:t>
            </a:r>
          </a:p>
          <a:p>
            <a:pPr algn="l" marL="433281" indent="-216640" lvl="1">
              <a:lnSpc>
                <a:spcPts val="3331"/>
              </a:lnSpc>
              <a:buFont typeface="Arial"/>
              <a:buChar char="•"/>
            </a:pPr>
            <a:r>
              <a:rPr lang="en-US" sz="2006">
                <a:solidFill>
                  <a:srgbClr val="000000"/>
                </a:solidFill>
                <a:latin typeface="Poppins"/>
                <a:ea typeface="Poppins"/>
                <a:cs typeface="Poppins"/>
                <a:sym typeface="Poppins"/>
              </a:rPr>
              <a:t>Conserver un maximum d'info</a:t>
            </a:r>
            <a:r>
              <a:rPr lang="en-US" sz="2006">
                <a:solidFill>
                  <a:srgbClr val="000000"/>
                </a:solidFill>
                <a:latin typeface="Poppins"/>
                <a:ea typeface="Poppins"/>
                <a:cs typeface="Poppins"/>
                <a:sym typeface="Poppins"/>
              </a:rPr>
              <a:t>rmation.</a:t>
            </a:r>
          </a:p>
          <a:p>
            <a:pPr algn="l" marL="433281" indent="-216640" lvl="1">
              <a:lnSpc>
                <a:spcPts val="3331"/>
              </a:lnSpc>
              <a:buFont typeface="Arial"/>
              <a:buChar char="•"/>
            </a:pPr>
            <a:r>
              <a:rPr lang="en-US" sz="2006">
                <a:solidFill>
                  <a:srgbClr val="000000"/>
                </a:solidFill>
                <a:latin typeface="Poppins"/>
                <a:ea typeface="Poppins"/>
                <a:cs typeface="Poppins"/>
                <a:sym typeface="Poppins"/>
              </a:rPr>
              <a:t>Faciliter l</a:t>
            </a:r>
            <a:r>
              <a:rPr lang="en-US" sz="2006">
                <a:solidFill>
                  <a:srgbClr val="000000"/>
                </a:solidFill>
                <a:latin typeface="Poppins"/>
                <a:ea typeface="Poppins"/>
                <a:cs typeface="Poppins"/>
                <a:sym typeface="Poppins"/>
              </a:rPr>
              <a:t>a visualisation et la segmentation des pays.</a:t>
            </a:r>
          </a:p>
          <a:p>
            <a:pPr algn="l">
              <a:lnSpc>
                <a:spcPts val="3331"/>
              </a:lnSpc>
            </a:pPr>
          </a:p>
          <a:p>
            <a:pPr algn="l">
              <a:lnSpc>
                <a:spcPts val="3331"/>
              </a:lnSpc>
            </a:pPr>
          </a:p>
          <a:p>
            <a:pPr algn="l">
              <a:lnSpc>
                <a:spcPts val="3331"/>
              </a:lnSpc>
            </a:pPr>
            <a:r>
              <a:rPr lang="en-US" sz="2006" b="true">
                <a:solidFill>
                  <a:srgbClr val="000000"/>
                </a:solidFill>
                <a:latin typeface="Poppins Bold"/>
                <a:ea typeface="Poppins Bold"/>
                <a:cs typeface="Poppins Bold"/>
                <a:sym typeface="Poppins Bold"/>
              </a:rPr>
              <a:t>Préparation des données pour l'ACP</a:t>
            </a:r>
          </a:p>
          <a:p>
            <a:pPr algn="l" marL="433281" indent="-216640" lvl="1">
              <a:lnSpc>
                <a:spcPts val="3331"/>
              </a:lnSpc>
              <a:buFont typeface="Arial"/>
              <a:buChar char="•"/>
            </a:pPr>
            <a:r>
              <a:rPr lang="en-US" sz="2006">
                <a:solidFill>
                  <a:srgbClr val="000000"/>
                </a:solidFill>
                <a:latin typeface="Poppins"/>
                <a:ea typeface="Poppins"/>
                <a:cs typeface="Poppins"/>
                <a:sym typeface="Poppins"/>
              </a:rPr>
              <a:t>L</a:t>
            </a:r>
            <a:r>
              <a:rPr lang="en-US" sz="2006">
                <a:solidFill>
                  <a:srgbClr val="000000"/>
                </a:solidFill>
                <a:latin typeface="Poppins"/>
                <a:ea typeface="Poppins"/>
                <a:cs typeface="Poppins"/>
                <a:sym typeface="Poppins"/>
              </a:rPr>
              <a:t>a variable Zone (nom des pays) a été exclue car elle n'est pas quantitative.</a:t>
            </a:r>
          </a:p>
          <a:p>
            <a:pPr algn="l" marL="433281" indent="-216640" lvl="1">
              <a:lnSpc>
                <a:spcPts val="3331"/>
              </a:lnSpc>
              <a:buFont typeface="Arial"/>
              <a:buChar char="•"/>
            </a:pPr>
            <a:r>
              <a:rPr lang="en-US" sz="2006">
                <a:solidFill>
                  <a:srgbClr val="000000"/>
                </a:solidFill>
                <a:latin typeface="Poppins"/>
                <a:ea typeface="Poppins"/>
                <a:cs typeface="Poppins"/>
                <a:sym typeface="Poppins"/>
              </a:rPr>
              <a:t>Les variables quantitatives ont été standardisées avec StandardScaler.</a:t>
            </a:r>
          </a:p>
          <a:p>
            <a:pPr algn="l" marL="433281" indent="-216640" lvl="1">
              <a:lnSpc>
                <a:spcPts val="3331"/>
              </a:lnSpc>
              <a:buFont typeface="Arial"/>
              <a:buChar char="•"/>
            </a:pPr>
            <a:r>
              <a:rPr lang="en-US" sz="2006">
                <a:solidFill>
                  <a:srgbClr val="000000"/>
                </a:solidFill>
                <a:latin typeface="Poppins"/>
                <a:ea typeface="Poppins"/>
                <a:cs typeface="Poppins"/>
                <a:sym typeface="Poppins"/>
              </a:rPr>
              <a:t>Cette</a:t>
            </a:r>
            <a:r>
              <a:rPr lang="en-US" sz="2006">
                <a:solidFill>
                  <a:srgbClr val="000000"/>
                </a:solidFill>
                <a:latin typeface="Poppins"/>
                <a:ea typeface="Poppins"/>
                <a:cs typeface="Poppins"/>
                <a:sym typeface="Poppins"/>
              </a:rPr>
              <a:t> étape permet de mettre toutes les variables sur une même échelle afin d'éviter qu'une variable influence davantage l'ACP en raison de son unité de mesure.</a:t>
            </a:r>
          </a:p>
          <a:p>
            <a:pPr algn="l">
              <a:lnSpc>
                <a:spcPts val="3331"/>
              </a:lnSpc>
            </a:pPr>
          </a:p>
          <a:p>
            <a:pPr algn="l">
              <a:lnSpc>
                <a:spcPts val="3331"/>
              </a:lnSpc>
            </a:pPr>
          </a:p>
        </p:txBody>
      </p:sp>
      <p:sp>
        <p:nvSpPr>
          <p:cNvPr name="TextBox 9" id="9"/>
          <p:cNvSpPr txBox="true"/>
          <p:nvPr/>
        </p:nvSpPr>
        <p:spPr>
          <a:xfrm rot="0">
            <a:off x="2563733" y="874460"/>
            <a:ext cx="13160534" cy="1035902"/>
          </a:xfrm>
          <a:prstGeom prst="rect">
            <a:avLst/>
          </a:prstGeom>
        </p:spPr>
        <p:txBody>
          <a:bodyPr anchor="t" rtlCol="false" tIns="0" lIns="0" bIns="0" rIns="0">
            <a:spAutoFit/>
          </a:bodyPr>
          <a:lstStyle/>
          <a:p>
            <a:pPr algn="ctr">
              <a:lnSpc>
                <a:spcPts val="8528"/>
              </a:lnSpc>
              <a:spcBef>
                <a:spcPct val="0"/>
              </a:spcBef>
            </a:pPr>
            <a:r>
              <a:rPr lang="en-US" sz="6091">
                <a:solidFill>
                  <a:srgbClr val="262B34"/>
                </a:solidFill>
                <a:latin typeface="Anton"/>
                <a:ea typeface="Anton"/>
                <a:cs typeface="Anton"/>
                <a:sym typeface="Anton"/>
              </a:rPr>
              <a:t>Anal</a:t>
            </a:r>
            <a:r>
              <a:rPr lang="en-US" sz="6091">
                <a:solidFill>
                  <a:srgbClr val="262B34"/>
                </a:solidFill>
                <a:latin typeface="Anton"/>
                <a:ea typeface="Anton"/>
                <a:cs typeface="Anton"/>
                <a:sym typeface="Anton"/>
              </a:rPr>
              <a:t>yse en Composantes Principales (ACP)</a:t>
            </a:r>
          </a:p>
        </p:txBody>
      </p:sp>
      <p:sp>
        <p:nvSpPr>
          <p:cNvPr name="TextBox 10" id="10"/>
          <p:cNvSpPr txBox="true"/>
          <p:nvPr/>
        </p:nvSpPr>
        <p:spPr>
          <a:xfrm rot="0">
            <a:off x="7775719" y="8326904"/>
            <a:ext cx="9185144" cy="1514515"/>
          </a:xfrm>
          <a:prstGeom prst="rect">
            <a:avLst/>
          </a:prstGeom>
        </p:spPr>
        <p:txBody>
          <a:bodyPr anchor="t" rtlCol="false" tIns="0" lIns="0" bIns="0" rIns="0">
            <a:spAutoFit/>
          </a:bodyPr>
          <a:lstStyle/>
          <a:p>
            <a:pPr algn="l">
              <a:lnSpc>
                <a:spcPts val="2444"/>
              </a:lnSpc>
            </a:pPr>
            <a:r>
              <a:rPr lang="en-US" sz="1537" b="true">
                <a:solidFill>
                  <a:srgbClr val="000000"/>
                </a:solidFill>
                <a:latin typeface="Poppins Bold"/>
                <a:ea typeface="Poppins Bold"/>
                <a:cs typeface="Poppins Bold"/>
                <a:sym typeface="Poppins Bold"/>
              </a:rPr>
              <a:t>Résultat</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Les deux premières composantes expliquent 59 % de l'information contenue dans les données. Elles sont retenues car elles résument l'essentiel des différences entre les pays.</a:t>
            </a:r>
          </a:p>
          <a:p>
            <a:pPr algn="l">
              <a:lnSpc>
                <a:spcPts val="2444"/>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1558400" y="-1896214"/>
            <a:ext cx="17871339" cy="17871339"/>
          </a:xfrm>
          <a:custGeom>
            <a:avLst/>
            <a:gdLst/>
            <a:ahLst/>
            <a:cxnLst/>
            <a:rect r="r" b="b" t="t" l="l"/>
            <a:pathLst>
              <a:path h="17871339" w="17871339">
                <a:moveTo>
                  <a:pt x="0" y="0"/>
                </a:moveTo>
                <a:lnTo>
                  <a:pt x="17871339" y="0"/>
                </a:lnTo>
                <a:lnTo>
                  <a:pt x="17871339" y="17871340"/>
                </a:lnTo>
                <a:lnTo>
                  <a:pt x="0" y="17871340"/>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1410250" y="2261819"/>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1410250" y="2881353"/>
            <a:ext cx="6468264" cy="6376947"/>
          </a:xfrm>
          <a:custGeom>
            <a:avLst/>
            <a:gdLst/>
            <a:ahLst/>
            <a:cxnLst/>
            <a:rect r="r" b="b" t="t" l="l"/>
            <a:pathLst>
              <a:path h="6376947" w="6468264">
                <a:moveTo>
                  <a:pt x="0" y="0"/>
                </a:moveTo>
                <a:lnTo>
                  <a:pt x="6468264" y="0"/>
                </a:lnTo>
                <a:lnTo>
                  <a:pt x="6468264" y="6376947"/>
                </a:lnTo>
                <a:lnTo>
                  <a:pt x="0" y="6376947"/>
                </a:lnTo>
                <a:lnTo>
                  <a:pt x="0" y="0"/>
                </a:lnTo>
                <a:close/>
              </a:path>
            </a:pathLst>
          </a:custGeom>
          <a:blipFill>
            <a:blip r:embed="rId5"/>
            <a:stretch>
              <a:fillRect l="0" t="0" r="0" b="0"/>
            </a:stretch>
          </a:blipFill>
        </p:spPr>
      </p:sp>
      <p:sp>
        <p:nvSpPr>
          <p:cNvPr name="Freeform 5" id="5"/>
          <p:cNvSpPr/>
          <p:nvPr/>
        </p:nvSpPr>
        <p:spPr>
          <a:xfrm flipH="false" flipV="false" rot="0">
            <a:off x="8593520" y="3538139"/>
            <a:ext cx="9255396" cy="1605361"/>
          </a:xfrm>
          <a:custGeom>
            <a:avLst/>
            <a:gdLst/>
            <a:ahLst/>
            <a:cxnLst/>
            <a:rect r="r" b="b" t="t" l="l"/>
            <a:pathLst>
              <a:path h="1605361" w="9255396">
                <a:moveTo>
                  <a:pt x="0" y="0"/>
                </a:moveTo>
                <a:lnTo>
                  <a:pt x="9255396" y="0"/>
                </a:lnTo>
                <a:lnTo>
                  <a:pt x="9255396" y="1605361"/>
                </a:lnTo>
                <a:lnTo>
                  <a:pt x="0" y="1605361"/>
                </a:lnTo>
                <a:lnTo>
                  <a:pt x="0" y="0"/>
                </a:lnTo>
                <a:close/>
              </a:path>
            </a:pathLst>
          </a:custGeom>
          <a:blipFill>
            <a:blip r:embed="rId6"/>
            <a:stretch>
              <a:fillRect l="0" t="-1537" r="-50" b="-1537"/>
            </a:stretch>
          </a:blipFill>
        </p:spPr>
      </p:sp>
      <p:sp>
        <p:nvSpPr>
          <p:cNvPr name="Freeform 6" id="6"/>
          <p:cNvSpPr/>
          <p:nvPr/>
        </p:nvSpPr>
        <p:spPr>
          <a:xfrm flipH="false" flipV="false" rot="0">
            <a:off x="8593520" y="6221913"/>
            <a:ext cx="9104605" cy="1194524"/>
          </a:xfrm>
          <a:custGeom>
            <a:avLst/>
            <a:gdLst/>
            <a:ahLst/>
            <a:cxnLst/>
            <a:rect r="r" b="b" t="t" l="l"/>
            <a:pathLst>
              <a:path h="1194524" w="9104605">
                <a:moveTo>
                  <a:pt x="0" y="0"/>
                </a:moveTo>
                <a:lnTo>
                  <a:pt x="9104606" y="0"/>
                </a:lnTo>
                <a:lnTo>
                  <a:pt x="9104606" y="1194524"/>
                </a:lnTo>
                <a:lnTo>
                  <a:pt x="0" y="1194524"/>
                </a:lnTo>
                <a:lnTo>
                  <a:pt x="0" y="0"/>
                </a:lnTo>
                <a:close/>
              </a:path>
            </a:pathLst>
          </a:custGeom>
          <a:blipFill>
            <a:blip r:embed="rId7"/>
            <a:stretch>
              <a:fillRect l="0" t="0" r="0" b="0"/>
            </a:stretch>
          </a:blipFill>
        </p:spPr>
      </p:sp>
      <p:sp>
        <p:nvSpPr>
          <p:cNvPr name="TextBox 7" id="7"/>
          <p:cNvSpPr txBox="true"/>
          <p:nvPr/>
        </p:nvSpPr>
        <p:spPr>
          <a:xfrm rot="0">
            <a:off x="0" y="1263281"/>
            <a:ext cx="15166862" cy="927100"/>
          </a:xfrm>
          <a:prstGeom prst="rect">
            <a:avLst/>
          </a:prstGeom>
        </p:spPr>
        <p:txBody>
          <a:bodyPr anchor="t" rtlCol="false" tIns="0" lIns="0" bIns="0" rIns="0">
            <a:spAutoFit/>
          </a:bodyPr>
          <a:lstStyle/>
          <a:p>
            <a:pPr algn="ctr">
              <a:lnSpc>
                <a:spcPts val="7699"/>
              </a:lnSpc>
              <a:spcBef>
                <a:spcPct val="0"/>
              </a:spcBef>
            </a:pPr>
            <a:r>
              <a:rPr lang="en-US" sz="5499">
                <a:solidFill>
                  <a:srgbClr val="262B34"/>
                </a:solidFill>
                <a:latin typeface="Anton"/>
                <a:ea typeface="Anton"/>
                <a:cs typeface="Anton"/>
                <a:sym typeface="Anton"/>
              </a:rPr>
              <a:t>Interprétation des composantes principale</a:t>
            </a:r>
            <a:r>
              <a:rPr lang="en-US" sz="5499">
                <a:solidFill>
                  <a:srgbClr val="262B34"/>
                </a:solidFill>
                <a:latin typeface="Anton"/>
                <a:ea typeface="Anton"/>
                <a:cs typeface="Anton"/>
                <a:sym typeface="Anton"/>
              </a:rPr>
              <a:t>s</a:t>
            </a:r>
          </a:p>
        </p:txBody>
      </p:sp>
      <p:sp>
        <p:nvSpPr>
          <p:cNvPr name="TextBox 8" id="8"/>
          <p:cNvSpPr txBox="true"/>
          <p:nvPr/>
        </p:nvSpPr>
        <p:spPr>
          <a:xfrm rot="0">
            <a:off x="8593520" y="8658185"/>
            <a:ext cx="9255396" cy="600115"/>
          </a:xfrm>
          <a:prstGeom prst="rect">
            <a:avLst/>
          </a:prstGeom>
        </p:spPr>
        <p:txBody>
          <a:bodyPr anchor="t" rtlCol="false" tIns="0" lIns="0" bIns="0" rIns="0">
            <a:spAutoFit/>
          </a:bodyPr>
          <a:lstStyle/>
          <a:p>
            <a:pPr algn="l">
              <a:lnSpc>
                <a:spcPts val="2444"/>
              </a:lnSpc>
            </a:pPr>
            <a:r>
              <a:rPr lang="en-US" sz="1537" b="true">
                <a:solidFill>
                  <a:srgbClr val="000000"/>
                </a:solidFill>
                <a:latin typeface="Poppins Bold"/>
                <a:ea typeface="Poppins Bold"/>
                <a:cs typeface="Poppins Bold"/>
                <a:sym typeface="Poppins Bold"/>
              </a:rPr>
              <a:t>Les variables proches sont positivement corrélées, tandis que les variables opposées traduisent des comportements différents.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809052" y="-1454260"/>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1410250" y="2261819"/>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842874" y="2809025"/>
            <a:ext cx="16983803" cy="4672384"/>
          </a:xfrm>
          <a:custGeom>
            <a:avLst/>
            <a:gdLst/>
            <a:ahLst/>
            <a:cxnLst/>
            <a:rect r="r" b="b" t="t" l="l"/>
            <a:pathLst>
              <a:path h="4672384" w="16983803">
                <a:moveTo>
                  <a:pt x="0" y="0"/>
                </a:moveTo>
                <a:lnTo>
                  <a:pt x="16983803" y="0"/>
                </a:lnTo>
                <a:lnTo>
                  <a:pt x="16983803" y="4672384"/>
                </a:lnTo>
                <a:lnTo>
                  <a:pt x="0" y="4672384"/>
                </a:lnTo>
                <a:lnTo>
                  <a:pt x="0" y="0"/>
                </a:lnTo>
                <a:close/>
              </a:path>
            </a:pathLst>
          </a:custGeom>
          <a:blipFill>
            <a:blip r:embed="rId5"/>
            <a:stretch>
              <a:fillRect l="-1075" t="-4468" r="0" b="0"/>
            </a:stretch>
          </a:blipFill>
        </p:spPr>
      </p:sp>
      <p:sp>
        <p:nvSpPr>
          <p:cNvPr name="TextBox 5" id="5"/>
          <p:cNvSpPr txBox="true"/>
          <p:nvPr/>
        </p:nvSpPr>
        <p:spPr>
          <a:xfrm rot="0">
            <a:off x="1331000" y="1123964"/>
            <a:ext cx="11462574" cy="927100"/>
          </a:xfrm>
          <a:prstGeom prst="rect">
            <a:avLst/>
          </a:prstGeom>
        </p:spPr>
        <p:txBody>
          <a:bodyPr anchor="t" rtlCol="false" tIns="0" lIns="0" bIns="0" rIns="0">
            <a:spAutoFit/>
          </a:bodyPr>
          <a:lstStyle/>
          <a:p>
            <a:pPr algn="ctr">
              <a:lnSpc>
                <a:spcPts val="7699"/>
              </a:lnSpc>
              <a:spcBef>
                <a:spcPct val="0"/>
              </a:spcBef>
            </a:pPr>
            <a:r>
              <a:rPr lang="en-US" sz="5499">
                <a:solidFill>
                  <a:srgbClr val="262B34"/>
                </a:solidFill>
                <a:latin typeface="Anton"/>
                <a:ea typeface="Anton"/>
                <a:cs typeface="Anton"/>
                <a:sym typeface="Anton"/>
              </a:rPr>
              <a:t>Projection de</a:t>
            </a:r>
            <a:r>
              <a:rPr lang="en-US" sz="5499">
                <a:solidFill>
                  <a:srgbClr val="262B34"/>
                </a:solidFill>
                <a:latin typeface="Anton"/>
                <a:ea typeface="Anton"/>
                <a:cs typeface="Anton"/>
                <a:sym typeface="Anton"/>
              </a:rPr>
              <a:t>s pays sur le plan factoriel</a:t>
            </a:r>
          </a:p>
        </p:txBody>
      </p:sp>
      <p:sp>
        <p:nvSpPr>
          <p:cNvPr name="TextBox 6" id="6"/>
          <p:cNvSpPr txBox="true"/>
          <p:nvPr/>
        </p:nvSpPr>
        <p:spPr>
          <a:xfrm rot="0">
            <a:off x="1410250" y="7834668"/>
            <a:ext cx="15849050" cy="1819315"/>
          </a:xfrm>
          <a:prstGeom prst="rect">
            <a:avLst/>
          </a:prstGeom>
        </p:spPr>
        <p:txBody>
          <a:bodyPr anchor="t" rtlCol="false" tIns="0" lIns="0" bIns="0" rIns="0">
            <a:spAutoFit/>
          </a:bodyPr>
          <a:lstStyle/>
          <a:p>
            <a:pPr algn="l">
              <a:lnSpc>
                <a:spcPts val="2444"/>
              </a:lnSpc>
            </a:pPr>
            <a:r>
              <a:rPr lang="en-US" sz="1537" b="true">
                <a:solidFill>
                  <a:srgbClr val="000000"/>
                </a:solidFill>
                <a:latin typeface="Poppins Bold"/>
                <a:ea typeface="Poppins Bold"/>
                <a:cs typeface="Poppins Bold"/>
                <a:sym typeface="Poppins Bold"/>
              </a:rPr>
              <a:t>Observations</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Les pays proches présentent des profils similaires.</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Plusieurs groupes commencent à apparaître.</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Cette représentation confirme l'intérêt d'appliquer une méthode de clustering.</a:t>
            </a:r>
          </a:p>
          <a:p>
            <a:pPr algn="l">
              <a:lnSpc>
                <a:spcPts val="2444"/>
              </a:lnSpc>
            </a:pPr>
          </a:p>
          <a:p>
            <a:pPr algn="l">
              <a:lnSpc>
                <a:spcPts val="2444"/>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809052" y="-1454260"/>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1410250" y="2261819"/>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2493387" y="2552973"/>
            <a:ext cx="13301226" cy="5181053"/>
          </a:xfrm>
          <a:custGeom>
            <a:avLst/>
            <a:gdLst/>
            <a:ahLst/>
            <a:cxnLst/>
            <a:rect r="r" b="b" t="t" l="l"/>
            <a:pathLst>
              <a:path h="5181053" w="13301226">
                <a:moveTo>
                  <a:pt x="0" y="0"/>
                </a:moveTo>
                <a:lnTo>
                  <a:pt x="13301226" y="0"/>
                </a:lnTo>
                <a:lnTo>
                  <a:pt x="13301226" y="5181054"/>
                </a:lnTo>
                <a:lnTo>
                  <a:pt x="0" y="5181054"/>
                </a:lnTo>
                <a:lnTo>
                  <a:pt x="0" y="0"/>
                </a:lnTo>
                <a:close/>
              </a:path>
            </a:pathLst>
          </a:custGeom>
          <a:blipFill>
            <a:blip r:embed="rId5"/>
            <a:stretch>
              <a:fillRect l="0" t="0" r="0" b="0"/>
            </a:stretch>
          </a:blipFill>
        </p:spPr>
      </p:sp>
      <p:sp>
        <p:nvSpPr>
          <p:cNvPr name="TextBox 5" id="5"/>
          <p:cNvSpPr txBox="true"/>
          <p:nvPr/>
        </p:nvSpPr>
        <p:spPr>
          <a:xfrm rot="0">
            <a:off x="1331000" y="1114439"/>
            <a:ext cx="8910106" cy="1837055"/>
          </a:xfrm>
          <a:prstGeom prst="rect">
            <a:avLst/>
          </a:prstGeom>
        </p:spPr>
        <p:txBody>
          <a:bodyPr anchor="t" rtlCol="false" tIns="0" lIns="0" bIns="0" rIns="0">
            <a:spAutoFit/>
          </a:bodyPr>
          <a:lstStyle/>
          <a:p>
            <a:pPr algn="ctr">
              <a:lnSpc>
                <a:spcPts val="7420"/>
              </a:lnSpc>
              <a:spcBef>
                <a:spcPct val="0"/>
              </a:spcBef>
            </a:pPr>
            <a:r>
              <a:rPr lang="en-US" sz="5300">
                <a:solidFill>
                  <a:srgbClr val="262B34"/>
                </a:solidFill>
                <a:latin typeface="Anton"/>
                <a:ea typeface="Anton"/>
                <a:cs typeface="Anton"/>
                <a:sym typeface="Anton"/>
              </a:rPr>
              <a:t>Classification des pays </a:t>
            </a:r>
            <a:r>
              <a:rPr lang="en-US" sz="5300">
                <a:solidFill>
                  <a:srgbClr val="262B34"/>
                </a:solidFill>
                <a:latin typeface="Anton"/>
                <a:ea typeface="Anton"/>
                <a:cs typeface="Anton"/>
                <a:sym typeface="Anton"/>
              </a:rPr>
              <a:t>avec </a:t>
            </a:r>
            <a:r>
              <a:rPr lang="en-US" sz="5300">
                <a:solidFill>
                  <a:srgbClr val="262B34"/>
                </a:solidFill>
                <a:latin typeface="Anton"/>
                <a:ea typeface="Anton"/>
                <a:cs typeface="Anton"/>
                <a:sym typeface="Anton"/>
              </a:rPr>
              <a:t>CAH</a:t>
            </a:r>
          </a:p>
          <a:p>
            <a:pPr algn="ctr">
              <a:lnSpc>
                <a:spcPts val="7420"/>
              </a:lnSpc>
              <a:spcBef>
                <a:spcPct val="0"/>
              </a:spcBef>
            </a:pPr>
          </a:p>
        </p:txBody>
      </p:sp>
      <p:sp>
        <p:nvSpPr>
          <p:cNvPr name="TextBox 6" id="6"/>
          <p:cNvSpPr txBox="true"/>
          <p:nvPr/>
        </p:nvSpPr>
        <p:spPr>
          <a:xfrm rot="0">
            <a:off x="1410250" y="7886427"/>
            <a:ext cx="15849050" cy="2124115"/>
          </a:xfrm>
          <a:prstGeom prst="rect">
            <a:avLst/>
          </a:prstGeom>
        </p:spPr>
        <p:txBody>
          <a:bodyPr anchor="t" rtlCol="false" tIns="0" lIns="0" bIns="0" rIns="0">
            <a:spAutoFit/>
          </a:bodyPr>
          <a:lstStyle/>
          <a:p>
            <a:pPr algn="l">
              <a:lnSpc>
                <a:spcPts val="2444"/>
              </a:lnSpc>
            </a:pPr>
            <a:r>
              <a:rPr lang="en-US" sz="1537" b="true">
                <a:solidFill>
                  <a:srgbClr val="000000"/>
                </a:solidFill>
                <a:latin typeface="Poppins Bold"/>
                <a:ea typeface="Poppins Bold"/>
                <a:cs typeface="Poppins Bold"/>
                <a:sym typeface="Poppins Bold"/>
              </a:rPr>
              <a:t>Interprétation du dendrogramme</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Chaqu</a:t>
            </a:r>
            <a:r>
              <a:rPr lang="en-US" b="true" sz="1537">
                <a:solidFill>
                  <a:srgbClr val="000000"/>
                </a:solidFill>
                <a:latin typeface="Poppins Bold"/>
                <a:ea typeface="Poppins Bold"/>
                <a:cs typeface="Poppins Bold"/>
                <a:sym typeface="Poppins Bold"/>
              </a:rPr>
              <a:t>e pays est initialement considéré comme un groupe distinct.</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Les pays les plus similaires sont regroupés progressivement.</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La hauteur des branches représente le niveau de dissimilarité entre les groupes.</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Le dendrogramme met en évidence trois groupes naturels, confirmant le choix de 3 clusters.</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Cette analyse exploratoire valide l'utilisation de K-Means pour la segmentation finale.</a:t>
            </a:r>
          </a:p>
          <a:p>
            <a:pPr algn="l">
              <a:lnSpc>
                <a:spcPts val="2444"/>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1426845" y="8255318"/>
            <a:ext cx="1838325" cy="311468"/>
            <a:chOff x="0" y="0"/>
            <a:chExt cx="2451100" cy="415290"/>
          </a:xfrm>
        </p:grpSpPr>
        <p:sp>
          <p:nvSpPr>
            <p:cNvPr name="Freeform 3" id="3"/>
            <p:cNvSpPr/>
            <p:nvPr/>
          </p:nvSpPr>
          <p:spPr>
            <a:xfrm flipH="false" flipV="false" rot="0">
              <a:off x="48138" y="24446"/>
              <a:ext cx="2378316" cy="354474"/>
            </a:xfrm>
            <a:custGeom>
              <a:avLst/>
              <a:gdLst/>
              <a:ahLst/>
              <a:cxnLst/>
              <a:rect r="r" b="b" t="t" l="l"/>
              <a:pathLst>
                <a:path h="354474" w="2378316">
                  <a:moveTo>
                    <a:pt x="97912" y="65724"/>
                  </a:moveTo>
                  <a:cubicBezTo>
                    <a:pt x="189352" y="98744"/>
                    <a:pt x="219832" y="97474"/>
                    <a:pt x="279522" y="98744"/>
                  </a:cubicBezTo>
                  <a:cubicBezTo>
                    <a:pt x="426842" y="103824"/>
                    <a:pt x="801492" y="111444"/>
                    <a:pt x="1059302" y="98744"/>
                  </a:cubicBezTo>
                  <a:cubicBezTo>
                    <a:pt x="1313302" y="87314"/>
                    <a:pt x="1586352" y="35244"/>
                    <a:pt x="1814952" y="26354"/>
                  </a:cubicBezTo>
                  <a:cubicBezTo>
                    <a:pt x="2001642" y="18734"/>
                    <a:pt x="2253102" y="-34606"/>
                    <a:pt x="2329302" y="36514"/>
                  </a:cubicBezTo>
                  <a:cubicBezTo>
                    <a:pt x="2381372" y="84774"/>
                    <a:pt x="2396612" y="228284"/>
                    <a:pt x="2352162" y="276544"/>
                  </a:cubicBezTo>
                  <a:cubicBezTo>
                    <a:pt x="2283582" y="351474"/>
                    <a:pt x="1969892" y="258764"/>
                    <a:pt x="1769232" y="267654"/>
                  </a:cubicBezTo>
                  <a:cubicBezTo>
                    <a:pt x="1552062" y="277814"/>
                    <a:pt x="1337432" y="326074"/>
                    <a:pt x="1094862" y="338774"/>
                  </a:cubicBezTo>
                  <a:cubicBezTo>
                    <a:pt x="815462" y="354014"/>
                    <a:pt x="373502" y="364174"/>
                    <a:pt x="186812" y="340044"/>
                  </a:cubicBezTo>
                  <a:cubicBezTo>
                    <a:pt x="101722" y="328614"/>
                    <a:pt x="22982" y="329884"/>
                    <a:pt x="2662" y="290514"/>
                  </a:cubicBezTo>
                  <a:cubicBezTo>
                    <a:pt x="-18928" y="246064"/>
                    <a:pt x="97912" y="65724"/>
                    <a:pt x="97912" y="65724"/>
                  </a:cubicBezTo>
                </a:path>
              </a:pathLst>
            </a:custGeom>
            <a:solidFill>
              <a:srgbClr val="240960">
                <a:alpha val="24706"/>
              </a:srgbClr>
            </a:solidFill>
            <a:ln cap="sq">
              <a:noFill/>
              <a:prstDash val="solid"/>
              <a:miter/>
            </a:ln>
          </p:spPr>
        </p:sp>
      </p:grpSp>
      <p:sp>
        <p:nvSpPr>
          <p:cNvPr name="Freeform 4" id="4"/>
          <p:cNvSpPr/>
          <p:nvPr/>
        </p:nvSpPr>
        <p:spPr>
          <a:xfrm flipH="false" flipV="false" rot="0">
            <a:off x="-10809052" y="-1454260"/>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5" id="5"/>
          <p:cNvSpPr/>
          <p:nvPr/>
        </p:nvSpPr>
        <p:spPr>
          <a:xfrm flipV="true">
            <a:off x="1697957" y="1632674"/>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6" id="6"/>
          <p:cNvSpPr/>
          <p:nvPr/>
        </p:nvSpPr>
        <p:spPr>
          <a:xfrm flipH="false" flipV="false" rot="0">
            <a:off x="1410250" y="2663715"/>
            <a:ext cx="7356632" cy="4973633"/>
          </a:xfrm>
          <a:custGeom>
            <a:avLst/>
            <a:gdLst/>
            <a:ahLst/>
            <a:cxnLst/>
            <a:rect r="r" b="b" t="t" l="l"/>
            <a:pathLst>
              <a:path h="4973633" w="7356632">
                <a:moveTo>
                  <a:pt x="0" y="0"/>
                </a:moveTo>
                <a:lnTo>
                  <a:pt x="7356632" y="0"/>
                </a:lnTo>
                <a:lnTo>
                  <a:pt x="7356632" y="4973632"/>
                </a:lnTo>
                <a:lnTo>
                  <a:pt x="0" y="4973632"/>
                </a:lnTo>
                <a:lnTo>
                  <a:pt x="0" y="0"/>
                </a:lnTo>
                <a:close/>
              </a:path>
            </a:pathLst>
          </a:custGeom>
          <a:blipFill>
            <a:blip r:embed="rId5"/>
            <a:stretch>
              <a:fillRect l="-2135" t="0" r="0" b="0"/>
            </a:stretch>
          </a:blipFill>
        </p:spPr>
      </p:sp>
      <p:sp>
        <p:nvSpPr>
          <p:cNvPr name="Freeform 7" id="7"/>
          <p:cNvSpPr/>
          <p:nvPr/>
        </p:nvSpPr>
        <p:spPr>
          <a:xfrm flipH="false" flipV="false" rot="0">
            <a:off x="10459761" y="1561236"/>
            <a:ext cx="6444534" cy="5194757"/>
          </a:xfrm>
          <a:custGeom>
            <a:avLst/>
            <a:gdLst/>
            <a:ahLst/>
            <a:cxnLst/>
            <a:rect r="r" b="b" t="t" l="l"/>
            <a:pathLst>
              <a:path h="5194757" w="6444534">
                <a:moveTo>
                  <a:pt x="0" y="0"/>
                </a:moveTo>
                <a:lnTo>
                  <a:pt x="6444534" y="0"/>
                </a:lnTo>
                <a:lnTo>
                  <a:pt x="6444534" y="5194758"/>
                </a:lnTo>
                <a:lnTo>
                  <a:pt x="0" y="5194758"/>
                </a:lnTo>
                <a:lnTo>
                  <a:pt x="0" y="0"/>
                </a:lnTo>
                <a:close/>
              </a:path>
            </a:pathLst>
          </a:custGeom>
          <a:blipFill>
            <a:blip r:embed="rId6"/>
            <a:stretch>
              <a:fillRect l="0" t="-1165" r="-1447" b="0"/>
            </a:stretch>
          </a:blipFill>
        </p:spPr>
      </p:sp>
      <p:sp>
        <p:nvSpPr>
          <p:cNvPr name="TextBox 8" id="8"/>
          <p:cNvSpPr txBox="true"/>
          <p:nvPr/>
        </p:nvSpPr>
        <p:spPr>
          <a:xfrm rot="0">
            <a:off x="1426845" y="597400"/>
            <a:ext cx="7526373" cy="903605"/>
          </a:xfrm>
          <a:prstGeom prst="rect">
            <a:avLst/>
          </a:prstGeom>
        </p:spPr>
        <p:txBody>
          <a:bodyPr anchor="t" rtlCol="false" tIns="0" lIns="0" bIns="0" rIns="0">
            <a:spAutoFit/>
          </a:bodyPr>
          <a:lstStyle/>
          <a:p>
            <a:pPr algn="ctr">
              <a:lnSpc>
                <a:spcPts val="7420"/>
              </a:lnSpc>
              <a:spcBef>
                <a:spcPct val="0"/>
              </a:spcBef>
            </a:pPr>
            <a:r>
              <a:rPr lang="en-US" sz="5300">
                <a:solidFill>
                  <a:srgbClr val="262B34"/>
                </a:solidFill>
                <a:latin typeface="Anton"/>
                <a:ea typeface="Anton"/>
                <a:cs typeface="Anton"/>
                <a:sym typeface="Anton"/>
              </a:rPr>
              <a:t>Clusturing avec K-means </a:t>
            </a:r>
          </a:p>
        </p:txBody>
      </p:sp>
      <p:sp>
        <p:nvSpPr>
          <p:cNvPr name="TextBox 9" id="9"/>
          <p:cNvSpPr txBox="true"/>
          <p:nvPr/>
        </p:nvSpPr>
        <p:spPr>
          <a:xfrm rot="0">
            <a:off x="1410250" y="8210917"/>
            <a:ext cx="5358174" cy="1514515"/>
          </a:xfrm>
          <a:prstGeom prst="rect">
            <a:avLst/>
          </a:prstGeom>
        </p:spPr>
        <p:txBody>
          <a:bodyPr anchor="t" rtlCol="false" tIns="0" lIns="0" bIns="0" rIns="0">
            <a:spAutoFit/>
          </a:bodyPr>
          <a:lstStyle/>
          <a:p>
            <a:pPr algn="l">
              <a:lnSpc>
                <a:spcPts val="2444"/>
              </a:lnSpc>
            </a:pPr>
            <a:r>
              <a:rPr lang="en-US" sz="1537" b="true">
                <a:solidFill>
                  <a:srgbClr val="000000"/>
                </a:solidFill>
                <a:latin typeface="Poppins Bold"/>
                <a:ea typeface="Poppins Bold"/>
                <a:cs typeface="Poppins Bold"/>
                <a:sym typeface="Poppins Bold"/>
              </a:rPr>
              <a:t>Clust</a:t>
            </a:r>
            <a:r>
              <a:rPr lang="en-US" sz="1537" b="true">
                <a:solidFill>
                  <a:srgbClr val="000000"/>
                </a:solidFill>
                <a:latin typeface="Poppins Bold"/>
                <a:ea typeface="Poppins Bold"/>
                <a:cs typeface="Poppins Bold"/>
                <a:sym typeface="Poppins Bold"/>
              </a:rPr>
              <a:t>er 0 (67 pays)</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Faible activité du marché de la volaille.</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Faible c</a:t>
            </a:r>
            <a:r>
              <a:rPr lang="en-US" b="true" sz="1537">
                <a:solidFill>
                  <a:srgbClr val="000000"/>
                </a:solidFill>
                <a:latin typeface="Poppins Bold"/>
                <a:ea typeface="Poppins Bold"/>
                <a:cs typeface="Poppins Bold"/>
                <a:sym typeface="Poppins Bold"/>
              </a:rPr>
              <a:t>onsommation.</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Pouvoir d'achat limité.</a:t>
            </a:r>
          </a:p>
          <a:p>
            <a:pPr algn="l">
              <a:lnSpc>
                <a:spcPts val="2444"/>
              </a:lnSpc>
            </a:pPr>
          </a:p>
        </p:txBody>
      </p:sp>
      <p:grpSp>
        <p:nvGrpSpPr>
          <p:cNvPr name="Group 10" id="10"/>
          <p:cNvGrpSpPr/>
          <p:nvPr/>
        </p:nvGrpSpPr>
        <p:grpSpPr>
          <a:xfrm rot="0">
            <a:off x="6768425" y="8189595"/>
            <a:ext cx="1895475" cy="377190"/>
            <a:chOff x="0" y="0"/>
            <a:chExt cx="2527300" cy="502920"/>
          </a:xfrm>
        </p:grpSpPr>
        <p:sp>
          <p:nvSpPr>
            <p:cNvPr name="Freeform 11" id="11"/>
            <p:cNvSpPr/>
            <p:nvPr/>
          </p:nvSpPr>
          <p:spPr>
            <a:xfrm flipH="false" flipV="false" rot="0">
              <a:off x="36948" y="50800"/>
              <a:ext cx="2456908" cy="448333"/>
            </a:xfrm>
            <a:custGeom>
              <a:avLst/>
              <a:gdLst/>
              <a:ahLst/>
              <a:cxnLst/>
              <a:rect r="r" b="b" t="t" l="l"/>
              <a:pathLst>
                <a:path h="448333" w="2456908">
                  <a:moveTo>
                    <a:pt x="54492" y="0"/>
                  </a:moveTo>
                  <a:cubicBezTo>
                    <a:pt x="1203842" y="142240"/>
                    <a:pt x="1282582" y="152400"/>
                    <a:pt x="1445142" y="158750"/>
                  </a:cubicBezTo>
                  <a:cubicBezTo>
                    <a:pt x="1692792" y="170180"/>
                    <a:pt x="2251592" y="58420"/>
                    <a:pt x="2381132" y="160020"/>
                  </a:cubicBezTo>
                  <a:cubicBezTo>
                    <a:pt x="2447172" y="212090"/>
                    <a:pt x="2480192" y="341630"/>
                    <a:pt x="2438282" y="394970"/>
                  </a:cubicBezTo>
                  <a:cubicBezTo>
                    <a:pt x="2355732" y="500380"/>
                    <a:pt x="1814712" y="420370"/>
                    <a:pt x="1456572" y="401320"/>
                  </a:cubicBezTo>
                  <a:cubicBezTo>
                    <a:pt x="1020962" y="378460"/>
                    <a:pt x="129422" y="394970"/>
                    <a:pt x="13852" y="240030"/>
                  </a:cubicBezTo>
                  <a:cubicBezTo>
                    <a:pt x="-33138" y="177800"/>
                    <a:pt x="54492" y="0"/>
                    <a:pt x="54492" y="0"/>
                  </a:cubicBezTo>
                </a:path>
              </a:pathLst>
            </a:custGeom>
            <a:solidFill>
              <a:srgbClr val="AEFF61">
                <a:alpha val="24706"/>
              </a:srgbClr>
            </a:solidFill>
            <a:ln cap="sq">
              <a:noFill/>
              <a:prstDash val="solid"/>
              <a:miter/>
            </a:ln>
          </p:spPr>
        </p:sp>
      </p:grpSp>
      <p:sp>
        <p:nvSpPr>
          <p:cNvPr name="TextBox 12" id="12"/>
          <p:cNvSpPr txBox="true"/>
          <p:nvPr/>
        </p:nvSpPr>
        <p:spPr>
          <a:xfrm rot="0">
            <a:off x="6464913" y="8220075"/>
            <a:ext cx="5358174" cy="2428915"/>
          </a:xfrm>
          <a:prstGeom prst="rect">
            <a:avLst/>
          </a:prstGeom>
        </p:spPr>
        <p:txBody>
          <a:bodyPr anchor="t" rtlCol="false" tIns="0" lIns="0" bIns="0" rIns="0">
            <a:spAutoFit/>
          </a:bodyPr>
          <a:lstStyle/>
          <a:p>
            <a:pPr algn="l">
              <a:lnSpc>
                <a:spcPts val="2444"/>
              </a:lnSpc>
            </a:pPr>
            <a:r>
              <a:rPr lang="en-US" sz="1537" b="true">
                <a:solidFill>
                  <a:srgbClr val="000000"/>
                </a:solidFill>
                <a:latin typeface="Poppins Bold"/>
                <a:ea typeface="Poppins Bold"/>
                <a:cs typeface="Poppins Bold"/>
                <a:sym typeface="Poppins Bold"/>
              </a:rPr>
              <a:t>✅ Cluster 1 (52 pays)</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Pouvoir d'achat élevé.</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Co</a:t>
            </a:r>
            <a:r>
              <a:rPr lang="en-US" b="true" sz="1537">
                <a:solidFill>
                  <a:srgbClr val="000000"/>
                </a:solidFill>
                <a:latin typeface="Poppins Bold"/>
                <a:ea typeface="Poppins Bold"/>
                <a:cs typeface="Poppins Bold"/>
                <a:sym typeface="Poppins Bold"/>
              </a:rPr>
              <a:t>nsommation importante de volaille.</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B</a:t>
            </a:r>
            <a:r>
              <a:rPr lang="en-US" b="true" sz="1537">
                <a:solidFill>
                  <a:srgbClr val="000000"/>
                </a:solidFill>
                <a:latin typeface="Poppins Bold"/>
                <a:ea typeface="Poppins Bold"/>
                <a:cs typeface="Poppins Bold"/>
                <a:sym typeface="Poppins Bold"/>
              </a:rPr>
              <a:t>onne stabilité politique.</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 </a:t>
            </a:r>
            <a:r>
              <a:rPr lang="en-US" b="true" sz="1537">
                <a:solidFill>
                  <a:srgbClr val="000000"/>
                </a:solidFill>
                <a:latin typeface="Poppins Bold"/>
                <a:ea typeface="Poppins Bold"/>
                <a:cs typeface="Poppins Bold"/>
                <a:sym typeface="Poppins Bold"/>
              </a:rPr>
              <a:t>Cluster retenu pour l'étude de marché.</a:t>
            </a:r>
          </a:p>
          <a:p>
            <a:pPr algn="l">
              <a:lnSpc>
                <a:spcPts val="2444"/>
              </a:lnSpc>
            </a:pPr>
          </a:p>
          <a:p>
            <a:pPr algn="l">
              <a:lnSpc>
                <a:spcPts val="2444"/>
              </a:lnSpc>
            </a:pPr>
          </a:p>
          <a:p>
            <a:pPr algn="l">
              <a:lnSpc>
                <a:spcPts val="2444"/>
              </a:lnSpc>
            </a:pPr>
          </a:p>
        </p:txBody>
      </p:sp>
      <p:grpSp>
        <p:nvGrpSpPr>
          <p:cNvPr name="Group 13" id="13"/>
          <p:cNvGrpSpPr/>
          <p:nvPr/>
        </p:nvGrpSpPr>
        <p:grpSpPr>
          <a:xfrm rot="0">
            <a:off x="12207240" y="8286750"/>
            <a:ext cx="1917383" cy="312420"/>
            <a:chOff x="0" y="0"/>
            <a:chExt cx="2556510" cy="416560"/>
          </a:xfrm>
        </p:grpSpPr>
        <p:sp>
          <p:nvSpPr>
            <p:cNvPr name="Freeform 14" id="14"/>
            <p:cNvSpPr/>
            <p:nvPr/>
          </p:nvSpPr>
          <p:spPr>
            <a:xfrm flipH="false" flipV="false" rot="0">
              <a:off x="37578" y="37774"/>
              <a:ext cx="2487490" cy="330067"/>
            </a:xfrm>
            <a:custGeom>
              <a:avLst/>
              <a:gdLst/>
              <a:ahLst/>
              <a:cxnLst/>
              <a:rect r="r" b="b" t="t" l="l"/>
              <a:pathLst>
                <a:path h="330067" w="2487490">
                  <a:moveTo>
                    <a:pt x="42432" y="13026"/>
                  </a:moveTo>
                  <a:cubicBezTo>
                    <a:pt x="1510552" y="85416"/>
                    <a:pt x="1883932" y="30806"/>
                    <a:pt x="2115072" y="23186"/>
                  </a:cubicBezTo>
                  <a:cubicBezTo>
                    <a:pt x="2250962" y="18106"/>
                    <a:pt x="2384312" y="-26344"/>
                    <a:pt x="2438922" y="23186"/>
                  </a:cubicBezTo>
                  <a:cubicBezTo>
                    <a:pt x="2487182" y="65096"/>
                    <a:pt x="2504962" y="220036"/>
                    <a:pt x="2466862" y="263216"/>
                  </a:cubicBezTo>
                  <a:cubicBezTo>
                    <a:pt x="2422412" y="312746"/>
                    <a:pt x="2272552" y="258136"/>
                    <a:pt x="2141742" y="264486"/>
                  </a:cubicBezTo>
                  <a:cubicBezTo>
                    <a:pt x="1942352" y="273376"/>
                    <a:pt x="1576592" y="319096"/>
                    <a:pt x="1388632" y="326716"/>
                  </a:cubicBezTo>
                  <a:cubicBezTo>
                    <a:pt x="1278142" y="331796"/>
                    <a:pt x="1231152" y="330526"/>
                    <a:pt x="1121932" y="326716"/>
                  </a:cubicBezTo>
                  <a:cubicBezTo>
                    <a:pt x="954292" y="320366"/>
                    <a:pt x="674892" y="287346"/>
                    <a:pt x="476772" y="274646"/>
                  </a:cubicBezTo>
                  <a:cubicBezTo>
                    <a:pt x="309132" y="264486"/>
                    <a:pt x="70372" y="321636"/>
                    <a:pt x="13222" y="254326"/>
                  </a:cubicBezTo>
                  <a:cubicBezTo>
                    <a:pt x="-28688" y="206066"/>
                    <a:pt x="42432" y="13026"/>
                    <a:pt x="42432" y="13026"/>
                  </a:cubicBezTo>
                </a:path>
              </a:pathLst>
            </a:custGeom>
            <a:solidFill>
              <a:srgbClr val="FFF234">
                <a:alpha val="24706"/>
              </a:srgbClr>
            </a:solidFill>
            <a:ln cap="sq">
              <a:noFill/>
              <a:prstDash val="solid"/>
              <a:miter/>
            </a:ln>
          </p:spPr>
        </p:sp>
      </p:grpSp>
      <p:sp>
        <p:nvSpPr>
          <p:cNvPr name="TextBox 15" id="15"/>
          <p:cNvSpPr txBox="true"/>
          <p:nvPr/>
        </p:nvSpPr>
        <p:spPr>
          <a:xfrm rot="0">
            <a:off x="12228966" y="8210917"/>
            <a:ext cx="5358174" cy="1819315"/>
          </a:xfrm>
          <a:prstGeom prst="rect">
            <a:avLst/>
          </a:prstGeom>
        </p:spPr>
        <p:txBody>
          <a:bodyPr anchor="t" rtlCol="false" tIns="0" lIns="0" bIns="0" rIns="0">
            <a:spAutoFit/>
          </a:bodyPr>
          <a:lstStyle/>
          <a:p>
            <a:pPr algn="l">
              <a:lnSpc>
                <a:spcPts val="2444"/>
              </a:lnSpc>
            </a:pPr>
            <a:r>
              <a:rPr lang="en-US" sz="1537" b="true">
                <a:solidFill>
                  <a:srgbClr val="000000"/>
                </a:solidFill>
                <a:latin typeface="Poppins Bold"/>
                <a:ea typeface="Poppins Bold"/>
                <a:cs typeface="Poppins Bold"/>
                <a:sym typeface="Poppins Bold"/>
              </a:rPr>
              <a:t>Cluster 2 (22 pays)</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Forte production.</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Marché mature.</a:t>
            </a:r>
          </a:p>
          <a:p>
            <a:pPr algn="l" marL="331980" indent="-165990" lvl="1">
              <a:lnSpc>
                <a:spcPts val="2444"/>
              </a:lnSpc>
              <a:buFont typeface="Arial"/>
              <a:buChar char="•"/>
            </a:pPr>
            <a:r>
              <a:rPr lang="en-US" b="true" sz="1537">
                <a:solidFill>
                  <a:srgbClr val="000000"/>
                </a:solidFill>
                <a:latin typeface="Poppins Bold"/>
                <a:ea typeface="Poppins Bold"/>
                <a:cs typeface="Poppins Bold"/>
                <a:sym typeface="Poppins Bold"/>
              </a:rPr>
              <a:t>Échanges commerciaux importants.</a:t>
            </a:r>
          </a:p>
          <a:p>
            <a:pPr algn="l">
              <a:lnSpc>
                <a:spcPts val="2444"/>
              </a:lnSpc>
            </a:pPr>
          </a:p>
          <a:p>
            <a:pPr algn="l">
              <a:lnSpc>
                <a:spcPts val="2444"/>
              </a:lnSpc>
            </a:pPr>
          </a:p>
        </p:txBody>
      </p:sp>
      <p:sp>
        <p:nvSpPr>
          <p:cNvPr name="TextBox 16" id="16"/>
          <p:cNvSpPr txBox="true"/>
          <p:nvPr/>
        </p:nvSpPr>
        <p:spPr>
          <a:xfrm rot="0">
            <a:off x="10459761" y="6989768"/>
            <a:ext cx="6799539" cy="491641"/>
          </a:xfrm>
          <a:prstGeom prst="rect">
            <a:avLst/>
          </a:prstGeom>
        </p:spPr>
        <p:txBody>
          <a:bodyPr anchor="t" rtlCol="false" tIns="0" lIns="0" bIns="0" rIns="0">
            <a:spAutoFit/>
          </a:bodyPr>
          <a:lstStyle/>
          <a:p>
            <a:pPr algn="l">
              <a:lnSpc>
                <a:spcPts val="1952"/>
              </a:lnSpc>
              <a:spcBef>
                <a:spcPct val="0"/>
              </a:spcBef>
            </a:pPr>
            <a:r>
              <a:rPr lang="en-US" b="true" sz="1227">
                <a:solidFill>
                  <a:srgbClr val="000000"/>
                </a:solidFill>
                <a:latin typeface="Poppins Bold"/>
                <a:ea typeface="Poppins Bold"/>
                <a:cs typeface="Poppins Bold"/>
                <a:sym typeface="Poppins Bold"/>
              </a:rPr>
              <a:t>Les pays sont regroupés selon leurs similitudes économiques, commerciales et alimentaires, mettant en évidence trois profils distincts.</a:t>
            </a:r>
          </a:p>
        </p:txBody>
      </p:sp>
      <p:grpSp>
        <p:nvGrpSpPr>
          <p:cNvPr name="Group 17" id="17"/>
          <p:cNvGrpSpPr/>
          <p:nvPr/>
        </p:nvGrpSpPr>
        <p:grpSpPr>
          <a:xfrm rot="0">
            <a:off x="3426142" y="5005388"/>
            <a:ext cx="567690" cy="567690"/>
            <a:chOff x="0" y="0"/>
            <a:chExt cx="756920" cy="756920"/>
          </a:xfrm>
        </p:grpSpPr>
        <p:sp>
          <p:nvSpPr>
            <p:cNvPr name="Freeform 18" id="18"/>
            <p:cNvSpPr/>
            <p:nvPr/>
          </p:nvSpPr>
          <p:spPr>
            <a:xfrm flipH="false" flipV="false" rot="0">
              <a:off x="50418" y="46077"/>
              <a:ext cx="645542" cy="660425"/>
            </a:xfrm>
            <a:custGeom>
              <a:avLst/>
              <a:gdLst/>
              <a:ahLst/>
              <a:cxnLst/>
              <a:rect r="r" b="b" t="t" l="l"/>
              <a:pathLst>
                <a:path h="660425" w="645542">
                  <a:moveTo>
                    <a:pt x="645542" y="232053"/>
                  </a:moveTo>
                  <a:cubicBezTo>
                    <a:pt x="645542" y="440333"/>
                    <a:pt x="621412" y="493673"/>
                    <a:pt x="589662" y="534313"/>
                  </a:cubicBezTo>
                  <a:cubicBezTo>
                    <a:pt x="557912" y="573683"/>
                    <a:pt x="512192" y="610513"/>
                    <a:pt x="465202" y="630833"/>
                  </a:cubicBezTo>
                  <a:cubicBezTo>
                    <a:pt x="419482" y="652423"/>
                    <a:pt x="361062" y="662583"/>
                    <a:pt x="310262" y="660043"/>
                  </a:cubicBezTo>
                  <a:cubicBezTo>
                    <a:pt x="259462" y="656233"/>
                    <a:pt x="203582" y="638453"/>
                    <a:pt x="159132" y="613053"/>
                  </a:cubicBezTo>
                  <a:cubicBezTo>
                    <a:pt x="115952" y="586383"/>
                    <a:pt x="74042" y="544473"/>
                    <a:pt x="47372" y="501293"/>
                  </a:cubicBezTo>
                  <a:cubicBezTo>
                    <a:pt x="20702" y="456843"/>
                    <a:pt x="4192" y="400963"/>
                    <a:pt x="382" y="350163"/>
                  </a:cubicBezTo>
                  <a:cubicBezTo>
                    <a:pt x="-2158" y="299363"/>
                    <a:pt x="8002" y="240943"/>
                    <a:pt x="29592" y="193953"/>
                  </a:cubicBezTo>
                  <a:cubicBezTo>
                    <a:pt x="49912" y="148233"/>
                    <a:pt x="86742" y="101243"/>
                    <a:pt x="126112" y="69493"/>
                  </a:cubicBezTo>
                  <a:cubicBezTo>
                    <a:pt x="166752" y="39013"/>
                    <a:pt x="220092" y="14883"/>
                    <a:pt x="270892" y="4723"/>
                  </a:cubicBezTo>
                  <a:cubicBezTo>
                    <a:pt x="320422" y="-4167"/>
                    <a:pt x="380112" y="-357"/>
                    <a:pt x="428372" y="14883"/>
                  </a:cubicBezTo>
                  <a:cubicBezTo>
                    <a:pt x="477902" y="30123"/>
                    <a:pt x="564262" y="96163"/>
                    <a:pt x="564262" y="96163"/>
                  </a:cubicBezTo>
                </a:path>
              </a:pathLst>
            </a:custGeom>
            <a:solidFill>
              <a:srgbClr val="FFF234">
                <a:alpha val="24706"/>
              </a:srgbClr>
            </a:solidFill>
            <a:ln cap="sq">
              <a:noFill/>
              <a:prstDash val="solid"/>
              <a:miter/>
            </a:ln>
          </p:spPr>
        </p:sp>
      </p:grpSp>
      <p:grpSp>
        <p:nvGrpSpPr>
          <p:cNvPr name="Group 19" id="19"/>
          <p:cNvGrpSpPr/>
          <p:nvPr/>
        </p:nvGrpSpPr>
        <p:grpSpPr>
          <a:xfrm rot="0">
            <a:off x="2765108" y="4158615"/>
            <a:ext cx="567690" cy="567690"/>
            <a:chOff x="0" y="0"/>
            <a:chExt cx="756920" cy="756920"/>
          </a:xfrm>
        </p:grpSpPr>
        <p:sp>
          <p:nvSpPr>
            <p:cNvPr name="Freeform 20" id="20"/>
            <p:cNvSpPr/>
            <p:nvPr/>
          </p:nvSpPr>
          <p:spPr>
            <a:xfrm flipH="false" flipV="false" rot="0">
              <a:off x="50418" y="46077"/>
              <a:ext cx="645542" cy="660425"/>
            </a:xfrm>
            <a:custGeom>
              <a:avLst/>
              <a:gdLst/>
              <a:ahLst/>
              <a:cxnLst/>
              <a:rect r="r" b="b" t="t" l="l"/>
              <a:pathLst>
                <a:path h="660425" w="645542">
                  <a:moveTo>
                    <a:pt x="645542" y="232053"/>
                  </a:moveTo>
                  <a:cubicBezTo>
                    <a:pt x="645542" y="440333"/>
                    <a:pt x="621412" y="493673"/>
                    <a:pt x="589662" y="533043"/>
                  </a:cubicBezTo>
                  <a:cubicBezTo>
                    <a:pt x="559182" y="573683"/>
                    <a:pt x="512192" y="610513"/>
                    <a:pt x="465202" y="630833"/>
                  </a:cubicBezTo>
                  <a:cubicBezTo>
                    <a:pt x="419482" y="652423"/>
                    <a:pt x="361062" y="662583"/>
                    <a:pt x="310262" y="660043"/>
                  </a:cubicBezTo>
                  <a:cubicBezTo>
                    <a:pt x="259462" y="656233"/>
                    <a:pt x="203582" y="638453"/>
                    <a:pt x="159132" y="613053"/>
                  </a:cubicBezTo>
                  <a:cubicBezTo>
                    <a:pt x="115952" y="586383"/>
                    <a:pt x="74042" y="544473"/>
                    <a:pt x="47372" y="501293"/>
                  </a:cubicBezTo>
                  <a:cubicBezTo>
                    <a:pt x="20702" y="456843"/>
                    <a:pt x="4192" y="400963"/>
                    <a:pt x="382" y="350163"/>
                  </a:cubicBezTo>
                  <a:cubicBezTo>
                    <a:pt x="-2158" y="299363"/>
                    <a:pt x="8002" y="240943"/>
                    <a:pt x="29592" y="193953"/>
                  </a:cubicBezTo>
                  <a:cubicBezTo>
                    <a:pt x="49912" y="148233"/>
                    <a:pt x="86742" y="101243"/>
                    <a:pt x="126112" y="69493"/>
                  </a:cubicBezTo>
                  <a:cubicBezTo>
                    <a:pt x="166752" y="39013"/>
                    <a:pt x="220092" y="14883"/>
                    <a:pt x="270892" y="4723"/>
                  </a:cubicBezTo>
                  <a:cubicBezTo>
                    <a:pt x="321692" y="-4167"/>
                    <a:pt x="380112" y="-357"/>
                    <a:pt x="428372" y="14883"/>
                  </a:cubicBezTo>
                  <a:cubicBezTo>
                    <a:pt x="477902" y="30123"/>
                    <a:pt x="564262" y="96163"/>
                    <a:pt x="564262" y="96163"/>
                  </a:cubicBezTo>
                </a:path>
              </a:pathLst>
            </a:custGeom>
            <a:solidFill>
              <a:srgbClr val="AEFF61">
                <a:alpha val="24706"/>
              </a:srgbClr>
            </a:solidFill>
            <a:ln cap="sq">
              <a:noFill/>
              <a:prstDash val="solid"/>
              <a:miter/>
            </a:ln>
          </p:spPr>
        </p:sp>
      </p:grpSp>
      <p:grpSp>
        <p:nvGrpSpPr>
          <p:cNvPr name="Group 21" id="21"/>
          <p:cNvGrpSpPr/>
          <p:nvPr/>
        </p:nvGrpSpPr>
        <p:grpSpPr>
          <a:xfrm rot="0">
            <a:off x="2125028" y="2940367"/>
            <a:ext cx="567690" cy="567690"/>
            <a:chOff x="0" y="0"/>
            <a:chExt cx="756920" cy="756920"/>
          </a:xfrm>
        </p:grpSpPr>
        <p:sp>
          <p:nvSpPr>
            <p:cNvPr name="Freeform 22" id="22"/>
            <p:cNvSpPr/>
            <p:nvPr/>
          </p:nvSpPr>
          <p:spPr>
            <a:xfrm flipH="false" flipV="false" rot="0">
              <a:off x="50416" y="46077"/>
              <a:ext cx="645544" cy="659500"/>
            </a:xfrm>
            <a:custGeom>
              <a:avLst/>
              <a:gdLst/>
              <a:ahLst/>
              <a:cxnLst/>
              <a:rect r="r" b="b" t="t" l="l"/>
              <a:pathLst>
                <a:path h="659500" w="645544">
                  <a:moveTo>
                    <a:pt x="645544" y="230783"/>
                  </a:moveTo>
                  <a:cubicBezTo>
                    <a:pt x="645544" y="439063"/>
                    <a:pt x="621414" y="492403"/>
                    <a:pt x="589664" y="533043"/>
                  </a:cubicBezTo>
                  <a:cubicBezTo>
                    <a:pt x="557914" y="573683"/>
                    <a:pt x="512194" y="609243"/>
                    <a:pt x="465204" y="630833"/>
                  </a:cubicBezTo>
                  <a:cubicBezTo>
                    <a:pt x="419484" y="651153"/>
                    <a:pt x="361064" y="662583"/>
                    <a:pt x="310264" y="658773"/>
                  </a:cubicBezTo>
                  <a:cubicBezTo>
                    <a:pt x="259464" y="656233"/>
                    <a:pt x="202314" y="638453"/>
                    <a:pt x="159134" y="611783"/>
                  </a:cubicBezTo>
                  <a:cubicBezTo>
                    <a:pt x="115954" y="585113"/>
                    <a:pt x="74044" y="544473"/>
                    <a:pt x="47374" y="500023"/>
                  </a:cubicBezTo>
                  <a:cubicBezTo>
                    <a:pt x="20704" y="456843"/>
                    <a:pt x="2924" y="400963"/>
                    <a:pt x="384" y="348893"/>
                  </a:cubicBezTo>
                  <a:cubicBezTo>
                    <a:pt x="-2156" y="298093"/>
                    <a:pt x="8004" y="240943"/>
                    <a:pt x="28324" y="193953"/>
                  </a:cubicBezTo>
                  <a:cubicBezTo>
                    <a:pt x="49914" y="146963"/>
                    <a:pt x="86744" y="101243"/>
                    <a:pt x="126114" y="69493"/>
                  </a:cubicBezTo>
                  <a:cubicBezTo>
                    <a:pt x="166754" y="37743"/>
                    <a:pt x="220094" y="13613"/>
                    <a:pt x="270894" y="4723"/>
                  </a:cubicBezTo>
                  <a:cubicBezTo>
                    <a:pt x="320424" y="-4167"/>
                    <a:pt x="378844" y="-357"/>
                    <a:pt x="428374" y="14883"/>
                  </a:cubicBezTo>
                  <a:cubicBezTo>
                    <a:pt x="476634" y="30123"/>
                    <a:pt x="562994" y="96163"/>
                    <a:pt x="562994" y="96163"/>
                  </a:cubicBezTo>
                </a:path>
              </a:pathLst>
            </a:custGeom>
            <a:solidFill>
              <a:srgbClr val="240960">
                <a:alpha val="24706"/>
              </a:srgbClr>
            </a:solidFill>
            <a:ln cap="sq">
              <a:noFill/>
              <a:prstDash val="solid"/>
              <a:miter/>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7564795" y="-1243506"/>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1737561" y="1572442"/>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17259300" y="8983796"/>
            <a:ext cx="438826" cy="438826"/>
          </a:xfrm>
          <a:custGeom>
            <a:avLst/>
            <a:gdLst/>
            <a:ahLst/>
            <a:cxnLst/>
            <a:rect r="r" b="b" t="t" l="l"/>
            <a:pathLst>
              <a:path h="438826" w="438826">
                <a:moveTo>
                  <a:pt x="0" y="0"/>
                </a:moveTo>
                <a:lnTo>
                  <a:pt x="438826" y="0"/>
                </a:lnTo>
                <a:lnTo>
                  <a:pt x="438826" y="438826"/>
                </a:lnTo>
                <a:lnTo>
                  <a:pt x="0" y="4388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3232879" y="2789322"/>
            <a:ext cx="9940881" cy="4102873"/>
          </a:xfrm>
          <a:custGeom>
            <a:avLst/>
            <a:gdLst/>
            <a:ahLst/>
            <a:cxnLst/>
            <a:rect r="r" b="b" t="t" l="l"/>
            <a:pathLst>
              <a:path h="4102873" w="9940881">
                <a:moveTo>
                  <a:pt x="0" y="0"/>
                </a:moveTo>
                <a:lnTo>
                  <a:pt x="9940881" y="0"/>
                </a:lnTo>
                <a:lnTo>
                  <a:pt x="9940881" y="4102873"/>
                </a:lnTo>
                <a:lnTo>
                  <a:pt x="0" y="41028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7058276" y="3978063"/>
            <a:ext cx="10868292" cy="2528675"/>
          </a:xfrm>
          <a:custGeom>
            <a:avLst/>
            <a:gdLst/>
            <a:ahLst/>
            <a:cxnLst/>
            <a:rect r="r" b="b" t="t" l="l"/>
            <a:pathLst>
              <a:path h="2528675" w="10868292">
                <a:moveTo>
                  <a:pt x="0" y="0"/>
                </a:moveTo>
                <a:lnTo>
                  <a:pt x="10868292" y="0"/>
                </a:lnTo>
                <a:lnTo>
                  <a:pt x="10868292" y="2528675"/>
                </a:lnTo>
                <a:lnTo>
                  <a:pt x="0" y="2528675"/>
                </a:lnTo>
                <a:lnTo>
                  <a:pt x="0" y="0"/>
                </a:lnTo>
                <a:close/>
              </a:path>
            </a:pathLst>
          </a:custGeom>
          <a:blipFill>
            <a:blip r:embed="rId9"/>
            <a:stretch>
              <a:fillRect l="-1036" t="0" r="0" b="-2552"/>
            </a:stretch>
          </a:blipFill>
        </p:spPr>
      </p:sp>
      <p:sp>
        <p:nvSpPr>
          <p:cNvPr name="TextBox 7" id="7"/>
          <p:cNvSpPr txBox="true"/>
          <p:nvPr/>
        </p:nvSpPr>
        <p:spPr>
          <a:xfrm rot="0">
            <a:off x="680311" y="3118204"/>
            <a:ext cx="5805271" cy="3340334"/>
          </a:xfrm>
          <a:prstGeom prst="rect">
            <a:avLst/>
          </a:prstGeom>
        </p:spPr>
        <p:txBody>
          <a:bodyPr anchor="t" rtlCol="false" tIns="0" lIns="0" bIns="0" rIns="0">
            <a:spAutoFit/>
          </a:bodyPr>
          <a:lstStyle/>
          <a:p>
            <a:pPr algn="l">
              <a:lnSpc>
                <a:spcPts val="3331"/>
              </a:lnSpc>
            </a:pPr>
            <a:r>
              <a:rPr lang="en-US" sz="2006" b="true">
                <a:solidFill>
                  <a:srgbClr val="000000"/>
                </a:solidFill>
                <a:latin typeface="Poppins Bold"/>
                <a:ea typeface="Poppins Bold"/>
                <a:cs typeface="Poppins Bold"/>
                <a:sym typeface="Poppins Bold"/>
              </a:rPr>
              <a:t>Pourquoi le clust</a:t>
            </a:r>
            <a:r>
              <a:rPr lang="en-US" sz="2006" b="true">
                <a:solidFill>
                  <a:srgbClr val="000000"/>
                </a:solidFill>
                <a:latin typeface="Poppins Bold"/>
                <a:ea typeface="Poppins Bold"/>
                <a:cs typeface="Poppins Bold"/>
                <a:sym typeface="Poppins Bold"/>
              </a:rPr>
              <a:t>er 1 ?</a:t>
            </a:r>
          </a:p>
          <a:p>
            <a:pPr algn="l">
              <a:lnSpc>
                <a:spcPts val="3331"/>
              </a:lnSpc>
            </a:pPr>
          </a:p>
          <a:p>
            <a:pPr algn="l" marL="433281" indent="-216640" lvl="1">
              <a:lnSpc>
                <a:spcPts val="3331"/>
              </a:lnSpc>
              <a:buFont typeface="Arial"/>
              <a:buChar char="•"/>
            </a:pPr>
            <a:r>
              <a:rPr lang="en-US" b="true" sz="2006">
                <a:solidFill>
                  <a:srgbClr val="000000"/>
                </a:solidFill>
                <a:latin typeface="Poppins Bold"/>
                <a:ea typeface="Poppins Bold"/>
                <a:cs typeface="Poppins Bold"/>
                <a:sym typeface="Poppins Bold"/>
              </a:rPr>
              <a:t> Pouvoir d'achat élevé</a:t>
            </a:r>
          </a:p>
          <a:p>
            <a:pPr algn="l" marL="433281" indent="-216640" lvl="1">
              <a:lnSpc>
                <a:spcPts val="3331"/>
              </a:lnSpc>
              <a:buFont typeface="Arial"/>
              <a:buChar char="•"/>
            </a:pPr>
            <a:r>
              <a:rPr lang="en-US" b="true" sz="2006">
                <a:solidFill>
                  <a:srgbClr val="000000"/>
                </a:solidFill>
                <a:latin typeface="Poppins Bold"/>
                <a:ea typeface="Poppins Bold"/>
                <a:cs typeface="Poppins Bold"/>
                <a:sym typeface="Poppins Bold"/>
              </a:rPr>
              <a:t> B</a:t>
            </a:r>
            <a:r>
              <a:rPr lang="en-US" b="true" sz="2006">
                <a:solidFill>
                  <a:srgbClr val="000000"/>
                </a:solidFill>
                <a:latin typeface="Poppins Bold"/>
                <a:ea typeface="Poppins Bold"/>
                <a:cs typeface="Poppins Bold"/>
                <a:sym typeface="Poppins Bold"/>
              </a:rPr>
              <a:t>onne s</a:t>
            </a:r>
            <a:r>
              <a:rPr lang="en-US" b="true" sz="2006">
                <a:solidFill>
                  <a:srgbClr val="000000"/>
                </a:solidFill>
                <a:latin typeface="Poppins Bold"/>
                <a:ea typeface="Poppins Bold"/>
                <a:cs typeface="Poppins Bold"/>
                <a:sym typeface="Poppins Bold"/>
              </a:rPr>
              <a:t>tabilité pol</a:t>
            </a:r>
            <a:r>
              <a:rPr lang="en-US" b="true" sz="2006">
                <a:solidFill>
                  <a:srgbClr val="000000"/>
                </a:solidFill>
                <a:latin typeface="Poppins Bold"/>
                <a:ea typeface="Poppins Bold"/>
                <a:cs typeface="Poppins Bold"/>
                <a:sym typeface="Poppins Bold"/>
              </a:rPr>
              <a:t>itique</a:t>
            </a:r>
          </a:p>
          <a:p>
            <a:pPr algn="l" marL="433281" indent="-216640" lvl="1">
              <a:lnSpc>
                <a:spcPts val="3331"/>
              </a:lnSpc>
              <a:buFont typeface="Arial"/>
              <a:buChar char="•"/>
            </a:pPr>
            <a:r>
              <a:rPr lang="en-US" b="true" sz="2006">
                <a:solidFill>
                  <a:srgbClr val="000000"/>
                </a:solidFill>
                <a:latin typeface="Poppins Bold"/>
                <a:ea typeface="Poppins Bold"/>
                <a:cs typeface="Poppins Bold"/>
                <a:sym typeface="Poppins Bold"/>
              </a:rPr>
              <a:t> Consommation impo</a:t>
            </a:r>
            <a:r>
              <a:rPr lang="en-US" b="true" sz="2006">
                <a:solidFill>
                  <a:srgbClr val="000000"/>
                </a:solidFill>
                <a:latin typeface="Poppins Bold"/>
                <a:ea typeface="Poppins Bold"/>
                <a:cs typeface="Poppins Bold"/>
                <a:sym typeface="Poppins Bold"/>
              </a:rPr>
              <a:t>rtante de volaille</a:t>
            </a:r>
          </a:p>
          <a:p>
            <a:pPr algn="l" marL="433281" indent="-216640" lvl="1">
              <a:lnSpc>
                <a:spcPts val="3331"/>
              </a:lnSpc>
              <a:buFont typeface="Arial"/>
              <a:buChar char="•"/>
            </a:pPr>
            <a:r>
              <a:rPr lang="en-US" b="true" sz="2006">
                <a:solidFill>
                  <a:srgbClr val="000000"/>
                </a:solidFill>
                <a:latin typeface="Poppins Bold"/>
                <a:ea typeface="Poppins Bold"/>
                <a:cs typeface="Poppins Bold"/>
                <a:sym typeface="Poppins Bold"/>
              </a:rPr>
              <a:t> Marchés ouverts aux importations</a:t>
            </a:r>
          </a:p>
          <a:p>
            <a:pPr algn="l" marL="433281" indent="-216640" lvl="1">
              <a:lnSpc>
                <a:spcPts val="3331"/>
              </a:lnSpc>
              <a:buFont typeface="Arial"/>
              <a:buChar char="•"/>
            </a:pPr>
            <a:r>
              <a:rPr lang="en-US" b="true" sz="2006">
                <a:solidFill>
                  <a:srgbClr val="000000"/>
                </a:solidFill>
                <a:latin typeface="Poppins Bold"/>
                <a:ea typeface="Poppins Bold"/>
                <a:cs typeface="Poppins Bold"/>
                <a:sym typeface="Poppins Bold"/>
              </a:rPr>
              <a:t>Potentiel commercial élevé</a:t>
            </a:r>
          </a:p>
          <a:p>
            <a:pPr algn="l">
              <a:lnSpc>
                <a:spcPts val="3331"/>
              </a:lnSpc>
            </a:pPr>
          </a:p>
        </p:txBody>
      </p:sp>
      <p:sp>
        <p:nvSpPr>
          <p:cNvPr name="TextBox 8" id="8"/>
          <p:cNvSpPr txBox="true"/>
          <p:nvPr/>
        </p:nvSpPr>
        <p:spPr>
          <a:xfrm rot="0">
            <a:off x="7058276" y="7092048"/>
            <a:ext cx="9185144" cy="600115"/>
          </a:xfrm>
          <a:prstGeom prst="rect">
            <a:avLst/>
          </a:prstGeom>
        </p:spPr>
        <p:txBody>
          <a:bodyPr anchor="t" rtlCol="false" tIns="0" lIns="0" bIns="0" rIns="0">
            <a:spAutoFit/>
          </a:bodyPr>
          <a:lstStyle/>
          <a:p>
            <a:pPr algn="l">
              <a:lnSpc>
                <a:spcPts val="2444"/>
              </a:lnSpc>
            </a:pPr>
            <a:r>
              <a:rPr lang="en-US" sz="1537" b="true">
                <a:solidFill>
                  <a:srgbClr val="000000"/>
                </a:solidFill>
                <a:latin typeface="Poppins Bold"/>
                <a:ea typeface="Poppins Bold"/>
                <a:cs typeface="Poppins Bold"/>
                <a:sym typeface="Poppins Bold"/>
              </a:rPr>
              <a:t>Résultat</a:t>
            </a:r>
          </a:p>
          <a:p>
            <a:pPr algn="l">
              <a:lnSpc>
                <a:spcPts val="2444"/>
              </a:lnSpc>
            </a:pPr>
            <a:r>
              <a:rPr lang="en-US" sz="1537" b="true">
                <a:solidFill>
                  <a:srgbClr val="000000"/>
                </a:solidFill>
                <a:latin typeface="Poppins Bold"/>
                <a:ea typeface="Poppins Bold"/>
                <a:cs typeface="Poppins Bold"/>
                <a:sym typeface="Poppins Bold"/>
              </a:rPr>
              <a:t>Le cluster 1 est retenu pour approfondir l'étude de marché.</a:t>
            </a:r>
          </a:p>
        </p:txBody>
      </p:sp>
      <p:sp>
        <p:nvSpPr>
          <p:cNvPr name="TextBox 9" id="9"/>
          <p:cNvSpPr txBox="true"/>
          <p:nvPr/>
        </p:nvSpPr>
        <p:spPr>
          <a:xfrm rot="0">
            <a:off x="1426845" y="597400"/>
            <a:ext cx="7526373" cy="903605"/>
          </a:xfrm>
          <a:prstGeom prst="rect">
            <a:avLst/>
          </a:prstGeom>
        </p:spPr>
        <p:txBody>
          <a:bodyPr anchor="t" rtlCol="false" tIns="0" lIns="0" bIns="0" rIns="0">
            <a:spAutoFit/>
          </a:bodyPr>
          <a:lstStyle/>
          <a:p>
            <a:pPr algn="ctr">
              <a:lnSpc>
                <a:spcPts val="7420"/>
              </a:lnSpc>
              <a:spcBef>
                <a:spcPct val="0"/>
              </a:spcBef>
            </a:pPr>
            <a:r>
              <a:rPr lang="en-US" sz="5300">
                <a:solidFill>
                  <a:srgbClr val="262B34"/>
                </a:solidFill>
                <a:latin typeface="Anton"/>
                <a:ea typeface="Anton"/>
                <a:cs typeface="Anton"/>
                <a:sym typeface="Anton"/>
              </a:rPr>
              <a:t>Sélection du cluster cible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5103412" y="-5370116"/>
            <a:ext cx="17871339" cy="17871339"/>
          </a:xfrm>
          <a:custGeom>
            <a:avLst/>
            <a:gdLst/>
            <a:ahLst/>
            <a:cxnLst/>
            <a:rect r="r" b="b" t="t" l="l"/>
            <a:pathLst>
              <a:path h="17871339" w="17871339">
                <a:moveTo>
                  <a:pt x="0" y="0"/>
                </a:moveTo>
                <a:lnTo>
                  <a:pt x="17871340" y="0"/>
                </a:lnTo>
                <a:lnTo>
                  <a:pt x="17871340"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1028700" y="2069696"/>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7732148" y="2509169"/>
            <a:ext cx="10071560" cy="5072660"/>
          </a:xfrm>
          <a:custGeom>
            <a:avLst/>
            <a:gdLst/>
            <a:ahLst/>
            <a:cxnLst/>
            <a:rect r="r" b="b" t="t" l="l"/>
            <a:pathLst>
              <a:path h="5072660" w="10071560">
                <a:moveTo>
                  <a:pt x="0" y="0"/>
                </a:moveTo>
                <a:lnTo>
                  <a:pt x="10071560" y="0"/>
                </a:lnTo>
                <a:lnTo>
                  <a:pt x="10071560" y="5072660"/>
                </a:lnTo>
                <a:lnTo>
                  <a:pt x="0" y="5072660"/>
                </a:lnTo>
                <a:lnTo>
                  <a:pt x="0" y="0"/>
                </a:lnTo>
                <a:close/>
              </a:path>
            </a:pathLst>
          </a:custGeom>
          <a:blipFill>
            <a:blip r:embed="rId5"/>
            <a:stretch>
              <a:fillRect l="-291" t="0" r="-1751" b="-1435"/>
            </a:stretch>
          </a:blipFill>
        </p:spPr>
      </p:sp>
      <p:sp>
        <p:nvSpPr>
          <p:cNvPr name="TextBox 5" id="5"/>
          <p:cNvSpPr txBox="true"/>
          <p:nvPr/>
        </p:nvSpPr>
        <p:spPr>
          <a:xfrm rot="0">
            <a:off x="851648" y="923925"/>
            <a:ext cx="13503770" cy="903605"/>
          </a:xfrm>
          <a:prstGeom prst="rect">
            <a:avLst/>
          </a:prstGeom>
        </p:spPr>
        <p:txBody>
          <a:bodyPr anchor="t" rtlCol="false" tIns="0" lIns="0" bIns="0" rIns="0">
            <a:spAutoFit/>
          </a:bodyPr>
          <a:lstStyle/>
          <a:p>
            <a:pPr algn="ctr">
              <a:lnSpc>
                <a:spcPts val="7420"/>
              </a:lnSpc>
              <a:spcBef>
                <a:spcPct val="0"/>
              </a:spcBef>
            </a:pPr>
            <a:r>
              <a:rPr lang="en-US" sz="5300">
                <a:solidFill>
                  <a:srgbClr val="262B34"/>
                </a:solidFill>
                <a:latin typeface="Anton"/>
                <a:ea typeface="Anton"/>
                <a:cs typeface="Anton"/>
                <a:sym typeface="Anton"/>
              </a:rPr>
              <a:t>Identification des marchés les plus prometteurs</a:t>
            </a:r>
          </a:p>
        </p:txBody>
      </p:sp>
      <p:sp>
        <p:nvSpPr>
          <p:cNvPr name="TextBox 6" id="6"/>
          <p:cNvSpPr txBox="true"/>
          <p:nvPr/>
        </p:nvSpPr>
        <p:spPr>
          <a:xfrm rot="0">
            <a:off x="1028700" y="2626231"/>
            <a:ext cx="5358174" cy="3252256"/>
          </a:xfrm>
          <a:prstGeom prst="rect">
            <a:avLst/>
          </a:prstGeom>
        </p:spPr>
        <p:txBody>
          <a:bodyPr anchor="t" rtlCol="false" tIns="0" lIns="0" bIns="0" rIns="0">
            <a:spAutoFit/>
          </a:bodyPr>
          <a:lstStyle/>
          <a:p>
            <a:pPr algn="l">
              <a:lnSpc>
                <a:spcPts val="2921"/>
              </a:lnSpc>
            </a:pPr>
            <a:r>
              <a:rPr lang="en-US" sz="1837" b="true">
                <a:solidFill>
                  <a:srgbClr val="000000"/>
                </a:solidFill>
                <a:latin typeface="Poppins Bold"/>
                <a:ea typeface="Poppins Bold"/>
                <a:cs typeface="Poppins Bold"/>
                <a:sym typeface="Poppins Bold"/>
              </a:rPr>
              <a:t>Critèr</a:t>
            </a:r>
            <a:r>
              <a:rPr lang="en-US" sz="1837" b="true">
                <a:solidFill>
                  <a:srgbClr val="000000"/>
                </a:solidFill>
                <a:latin typeface="Poppins Bold"/>
                <a:ea typeface="Poppins Bold"/>
                <a:cs typeface="Poppins Bold"/>
                <a:sym typeface="Poppins Bold"/>
              </a:rPr>
              <a:t>es du score multicritère</a:t>
            </a:r>
          </a:p>
          <a:p>
            <a:pPr algn="l">
              <a:lnSpc>
                <a:spcPts val="2921"/>
              </a:lnSpc>
            </a:pPr>
          </a:p>
          <a:p>
            <a:pPr algn="l" marL="396749" indent="-198374" lvl="1">
              <a:lnSpc>
                <a:spcPts val="2921"/>
              </a:lnSpc>
              <a:buFont typeface="Arial"/>
              <a:buChar char="•"/>
            </a:pPr>
            <a:r>
              <a:rPr lang="en-US" b="true" sz="1837">
                <a:solidFill>
                  <a:srgbClr val="000000"/>
                </a:solidFill>
                <a:latin typeface="Poppins Bold"/>
                <a:ea typeface="Poppins Bold"/>
                <a:cs typeface="Poppins Bold"/>
                <a:sym typeface="Poppins Bold"/>
              </a:rPr>
              <a:t>PIB par habitant</a:t>
            </a:r>
          </a:p>
          <a:p>
            <a:pPr algn="l" marL="396749" indent="-198374" lvl="1">
              <a:lnSpc>
                <a:spcPts val="2921"/>
              </a:lnSpc>
              <a:buFont typeface="Arial"/>
              <a:buChar char="•"/>
            </a:pPr>
            <a:r>
              <a:rPr lang="en-US" b="true" sz="1837">
                <a:solidFill>
                  <a:srgbClr val="000000"/>
                </a:solidFill>
                <a:latin typeface="Poppins Bold"/>
                <a:ea typeface="Poppins Bold"/>
                <a:cs typeface="Poppins Bold"/>
                <a:sym typeface="Poppins Bold"/>
              </a:rPr>
              <a:t>Stabilité politique</a:t>
            </a:r>
          </a:p>
          <a:p>
            <a:pPr algn="l" marL="396749" indent="-198374" lvl="1">
              <a:lnSpc>
                <a:spcPts val="2921"/>
              </a:lnSpc>
              <a:buFont typeface="Arial"/>
              <a:buChar char="•"/>
            </a:pPr>
            <a:r>
              <a:rPr lang="en-US" b="true" sz="1837">
                <a:solidFill>
                  <a:srgbClr val="000000"/>
                </a:solidFill>
                <a:latin typeface="Poppins Bold"/>
                <a:ea typeface="Poppins Bold"/>
                <a:cs typeface="Poppins Bold"/>
                <a:sym typeface="Poppins Bold"/>
              </a:rPr>
              <a:t>Consommation de volaille</a:t>
            </a:r>
          </a:p>
          <a:p>
            <a:pPr algn="l" marL="396749" indent="-198374" lvl="1">
              <a:lnSpc>
                <a:spcPts val="2921"/>
              </a:lnSpc>
              <a:buFont typeface="Arial"/>
              <a:buChar char="•"/>
            </a:pPr>
            <a:r>
              <a:rPr lang="en-US" b="true" sz="1837">
                <a:solidFill>
                  <a:srgbClr val="000000"/>
                </a:solidFill>
                <a:latin typeface="Poppins Bold"/>
                <a:ea typeface="Poppins Bold"/>
                <a:cs typeface="Poppins Bold"/>
                <a:sym typeface="Poppins Bold"/>
              </a:rPr>
              <a:t>Importati</a:t>
            </a:r>
            <a:r>
              <a:rPr lang="en-US" b="true" sz="1837">
                <a:solidFill>
                  <a:srgbClr val="000000"/>
                </a:solidFill>
                <a:latin typeface="Poppins Bold"/>
                <a:ea typeface="Poppins Bold"/>
                <a:cs typeface="Poppins Bold"/>
                <a:sym typeface="Poppins Bold"/>
              </a:rPr>
              <a:t>ons</a:t>
            </a:r>
          </a:p>
          <a:p>
            <a:pPr algn="l" marL="396749" indent="-198374" lvl="1">
              <a:lnSpc>
                <a:spcPts val="2921"/>
              </a:lnSpc>
              <a:buFont typeface="Arial"/>
              <a:buChar char="•"/>
            </a:pPr>
            <a:r>
              <a:rPr lang="en-US" b="true" sz="1837">
                <a:solidFill>
                  <a:srgbClr val="000000"/>
                </a:solidFill>
                <a:latin typeface="Poppins Bold"/>
                <a:ea typeface="Poppins Bold"/>
                <a:cs typeface="Poppins Bold"/>
                <a:sym typeface="Poppins Bold"/>
              </a:rPr>
              <a:t>Disponibilité intérieure</a:t>
            </a:r>
          </a:p>
          <a:p>
            <a:pPr algn="l" marL="396749" indent="-198374" lvl="1">
              <a:lnSpc>
                <a:spcPts val="2921"/>
              </a:lnSpc>
              <a:buFont typeface="Arial"/>
              <a:buChar char="•"/>
            </a:pPr>
            <a:r>
              <a:rPr lang="en-US" b="true" sz="1837">
                <a:solidFill>
                  <a:srgbClr val="000000"/>
                </a:solidFill>
                <a:latin typeface="Poppins Bold"/>
                <a:ea typeface="Poppins Bold"/>
                <a:cs typeface="Poppins Bold"/>
                <a:sym typeface="Poppins Bold"/>
              </a:rPr>
              <a:t>Production (pondérée négativement)</a:t>
            </a:r>
          </a:p>
          <a:p>
            <a:pPr algn="l">
              <a:lnSpc>
                <a:spcPts val="2921"/>
              </a:lnSpc>
            </a:pPr>
          </a:p>
        </p:txBody>
      </p:sp>
      <p:sp>
        <p:nvSpPr>
          <p:cNvPr name="TextBox 7" id="7"/>
          <p:cNvSpPr txBox="true"/>
          <p:nvPr/>
        </p:nvSpPr>
        <p:spPr>
          <a:xfrm rot="0">
            <a:off x="7860762" y="8177744"/>
            <a:ext cx="9814331" cy="1080556"/>
          </a:xfrm>
          <a:prstGeom prst="rect">
            <a:avLst/>
          </a:prstGeom>
        </p:spPr>
        <p:txBody>
          <a:bodyPr anchor="t" rtlCol="false" tIns="0" lIns="0" bIns="0" rIns="0">
            <a:spAutoFit/>
          </a:bodyPr>
          <a:lstStyle/>
          <a:p>
            <a:pPr algn="l">
              <a:lnSpc>
                <a:spcPts val="2921"/>
              </a:lnSpc>
            </a:pPr>
            <a:r>
              <a:rPr lang="en-US" sz="1837" b="true">
                <a:solidFill>
                  <a:srgbClr val="000000"/>
                </a:solidFill>
                <a:latin typeface="Poppins Bold"/>
                <a:ea typeface="Poppins Bold"/>
                <a:cs typeface="Poppins Bold"/>
                <a:sym typeface="Poppins Bold"/>
              </a:rPr>
              <a:t>Le score multicritère permet d'identifier les marchés présentant le meilleur potentiel d'exportation au sein du cluster 1.</a:t>
            </a:r>
          </a:p>
          <a:p>
            <a:pPr algn="l">
              <a:lnSpc>
                <a:spcPts val="2921"/>
              </a:lnSpc>
            </a:pPr>
          </a:p>
        </p:txBody>
      </p:sp>
      <p:sp>
        <p:nvSpPr>
          <p:cNvPr name="Freeform 8" id="8"/>
          <p:cNvSpPr/>
          <p:nvPr/>
        </p:nvSpPr>
        <p:spPr>
          <a:xfrm flipH="false" flipV="false" rot="0">
            <a:off x="1028700" y="6130322"/>
            <a:ext cx="5985381" cy="2630562"/>
          </a:xfrm>
          <a:custGeom>
            <a:avLst/>
            <a:gdLst/>
            <a:ahLst/>
            <a:cxnLst/>
            <a:rect r="r" b="b" t="t" l="l"/>
            <a:pathLst>
              <a:path h="2630562" w="5985381">
                <a:moveTo>
                  <a:pt x="0" y="0"/>
                </a:moveTo>
                <a:lnTo>
                  <a:pt x="5985381" y="0"/>
                </a:lnTo>
                <a:lnTo>
                  <a:pt x="5985381" y="2630562"/>
                </a:lnTo>
                <a:lnTo>
                  <a:pt x="0" y="2630562"/>
                </a:lnTo>
                <a:lnTo>
                  <a:pt x="0" y="0"/>
                </a:lnTo>
                <a:close/>
              </a:path>
            </a:pathLst>
          </a:custGeom>
          <a:blipFill>
            <a:blip r:embed="rId6"/>
            <a:stretch>
              <a:fillRect l="0" t="-3766" r="-845" b="-1096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825387" y="-5397919"/>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1028700" y="2069696"/>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5911409" y="6297473"/>
            <a:ext cx="11820533" cy="3127770"/>
          </a:xfrm>
          <a:custGeom>
            <a:avLst/>
            <a:gdLst/>
            <a:ahLst/>
            <a:cxnLst/>
            <a:rect r="r" b="b" t="t" l="l"/>
            <a:pathLst>
              <a:path h="3127770" w="11820533">
                <a:moveTo>
                  <a:pt x="0" y="0"/>
                </a:moveTo>
                <a:lnTo>
                  <a:pt x="11820533" y="0"/>
                </a:lnTo>
                <a:lnTo>
                  <a:pt x="11820533" y="3127770"/>
                </a:lnTo>
                <a:lnTo>
                  <a:pt x="0" y="3127770"/>
                </a:lnTo>
                <a:lnTo>
                  <a:pt x="0" y="0"/>
                </a:lnTo>
                <a:close/>
              </a:path>
            </a:pathLst>
          </a:custGeom>
          <a:blipFill>
            <a:blip r:embed="rId5"/>
            <a:stretch>
              <a:fillRect l="0" t="0" r="0" b="0"/>
            </a:stretch>
          </a:blipFill>
        </p:spPr>
      </p:sp>
      <p:sp>
        <p:nvSpPr>
          <p:cNvPr name="Freeform 5" id="5"/>
          <p:cNvSpPr/>
          <p:nvPr/>
        </p:nvSpPr>
        <p:spPr>
          <a:xfrm flipH="true" flipV="false" rot="-2069667">
            <a:off x="4634387" y="5925477"/>
            <a:ext cx="653471" cy="2053766"/>
          </a:xfrm>
          <a:custGeom>
            <a:avLst/>
            <a:gdLst/>
            <a:ahLst/>
            <a:cxnLst/>
            <a:rect r="r" b="b" t="t" l="l"/>
            <a:pathLst>
              <a:path h="2053766" w="653471">
                <a:moveTo>
                  <a:pt x="653471" y="0"/>
                </a:moveTo>
                <a:lnTo>
                  <a:pt x="0" y="0"/>
                </a:lnTo>
                <a:lnTo>
                  <a:pt x="0" y="2053766"/>
                </a:lnTo>
                <a:lnTo>
                  <a:pt x="653471" y="2053766"/>
                </a:lnTo>
                <a:lnTo>
                  <a:pt x="6534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28700" y="3211826"/>
            <a:ext cx="11316947" cy="2657022"/>
          </a:xfrm>
          <a:custGeom>
            <a:avLst/>
            <a:gdLst/>
            <a:ahLst/>
            <a:cxnLst/>
            <a:rect r="r" b="b" t="t" l="l"/>
            <a:pathLst>
              <a:path h="2657022" w="11316947">
                <a:moveTo>
                  <a:pt x="0" y="0"/>
                </a:moveTo>
                <a:lnTo>
                  <a:pt x="11316947" y="0"/>
                </a:lnTo>
                <a:lnTo>
                  <a:pt x="11316947" y="2657022"/>
                </a:lnTo>
                <a:lnTo>
                  <a:pt x="0" y="2657022"/>
                </a:lnTo>
                <a:lnTo>
                  <a:pt x="0" y="0"/>
                </a:lnTo>
                <a:close/>
              </a:path>
            </a:pathLst>
          </a:custGeom>
          <a:blipFill>
            <a:blip r:embed="rId8"/>
            <a:stretch>
              <a:fillRect l="0" t="0" r="0" b="0"/>
            </a:stretch>
          </a:blipFill>
        </p:spPr>
      </p:sp>
      <p:sp>
        <p:nvSpPr>
          <p:cNvPr name="TextBox 7" id="7"/>
          <p:cNvSpPr txBox="true"/>
          <p:nvPr/>
        </p:nvSpPr>
        <p:spPr>
          <a:xfrm rot="0">
            <a:off x="851648" y="923925"/>
            <a:ext cx="11916280" cy="903605"/>
          </a:xfrm>
          <a:prstGeom prst="rect">
            <a:avLst/>
          </a:prstGeom>
        </p:spPr>
        <p:txBody>
          <a:bodyPr anchor="t" rtlCol="false" tIns="0" lIns="0" bIns="0" rIns="0">
            <a:spAutoFit/>
          </a:bodyPr>
          <a:lstStyle/>
          <a:p>
            <a:pPr algn="ctr">
              <a:lnSpc>
                <a:spcPts val="7420"/>
              </a:lnSpc>
              <a:spcBef>
                <a:spcPct val="0"/>
              </a:spcBef>
            </a:pPr>
            <a:r>
              <a:rPr lang="en-US" sz="5300">
                <a:solidFill>
                  <a:srgbClr val="262B34"/>
                </a:solidFill>
                <a:latin typeface="Anton"/>
                <a:ea typeface="Anton"/>
                <a:cs typeface="Anton"/>
                <a:sym typeface="Anton"/>
              </a:rPr>
              <a:t>Recommandation des marchés prioritaires</a:t>
            </a:r>
          </a:p>
        </p:txBody>
      </p:sp>
      <p:sp>
        <p:nvSpPr>
          <p:cNvPr name="TextBox 8" id="8"/>
          <p:cNvSpPr txBox="true"/>
          <p:nvPr/>
        </p:nvSpPr>
        <p:spPr>
          <a:xfrm rot="0">
            <a:off x="1028700" y="2426545"/>
            <a:ext cx="14894421" cy="356656"/>
          </a:xfrm>
          <a:prstGeom prst="rect">
            <a:avLst/>
          </a:prstGeom>
        </p:spPr>
        <p:txBody>
          <a:bodyPr anchor="t" rtlCol="false" tIns="0" lIns="0" bIns="0" rIns="0">
            <a:spAutoFit/>
          </a:bodyPr>
          <a:lstStyle/>
          <a:p>
            <a:pPr algn="l">
              <a:lnSpc>
                <a:spcPts val="2921"/>
              </a:lnSpc>
            </a:pPr>
            <a:r>
              <a:rPr lang="en-US" sz="1837" b="true">
                <a:solidFill>
                  <a:srgbClr val="000000"/>
                </a:solidFill>
                <a:latin typeface="Poppins Bold"/>
                <a:ea typeface="Poppins Bold"/>
                <a:cs typeface="Poppins Bold"/>
                <a:sym typeface="Poppins Bold"/>
              </a:rPr>
              <a:t>L</a:t>
            </a:r>
            <a:r>
              <a:rPr lang="en-US" sz="1837" b="true">
                <a:solidFill>
                  <a:srgbClr val="000000"/>
                </a:solidFill>
                <a:latin typeface="Poppins Bold"/>
                <a:ea typeface="Poppins Bold"/>
                <a:cs typeface="Poppins Bold"/>
                <a:sym typeface="Poppins Bold"/>
              </a:rPr>
              <a:t>e score multicritère a permis d'identifier les cinq marchés présentant le meilleu</a:t>
            </a:r>
            <a:r>
              <a:rPr lang="en-US" sz="1837" b="true">
                <a:solidFill>
                  <a:srgbClr val="000000"/>
                </a:solidFill>
                <a:latin typeface="Poppins Bold"/>
                <a:ea typeface="Poppins Bold"/>
                <a:cs typeface="Poppins Bold"/>
                <a:sym typeface="Poppins Bold"/>
              </a:rPr>
              <a:t>r </a:t>
            </a:r>
            <a:r>
              <a:rPr lang="en-US" sz="1837" b="true">
                <a:solidFill>
                  <a:srgbClr val="000000"/>
                </a:solidFill>
                <a:latin typeface="Poppins Bold"/>
                <a:ea typeface="Poppins Bold"/>
                <a:cs typeface="Poppins Bold"/>
                <a:sym typeface="Poppins Bold"/>
              </a:rPr>
              <a:t>potentiel d'exportation au sein du cluster </a:t>
            </a:r>
          </a:p>
        </p:txBody>
      </p:sp>
      <p:sp>
        <p:nvSpPr>
          <p:cNvPr name="TextBox 9" id="9"/>
          <p:cNvSpPr txBox="true"/>
          <p:nvPr/>
        </p:nvSpPr>
        <p:spPr>
          <a:xfrm rot="0">
            <a:off x="1028700" y="6921869"/>
            <a:ext cx="4439603" cy="2047534"/>
          </a:xfrm>
          <a:prstGeom prst="rect">
            <a:avLst/>
          </a:prstGeom>
        </p:spPr>
        <p:txBody>
          <a:bodyPr anchor="t" rtlCol="false" tIns="0" lIns="0" bIns="0" rIns="0">
            <a:spAutoFit/>
          </a:bodyPr>
          <a:lstStyle/>
          <a:p>
            <a:pPr algn="l">
              <a:lnSpc>
                <a:spcPts val="2762"/>
              </a:lnSpc>
            </a:pPr>
            <a:r>
              <a:rPr lang="en-US" b="true" sz="1737">
                <a:solidFill>
                  <a:srgbClr val="000000"/>
                </a:solidFill>
                <a:latin typeface="Poppins Bold"/>
                <a:ea typeface="Poppins Bold"/>
                <a:cs typeface="Poppins Bold"/>
                <a:sym typeface="Poppins Bold"/>
              </a:rPr>
              <a:t>Pourquoi ces pays ?</a:t>
            </a:r>
          </a:p>
          <a:p>
            <a:pPr algn="l">
              <a:lnSpc>
                <a:spcPts val="2762"/>
              </a:lnSpc>
            </a:pPr>
            <a:r>
              <a:rPr lang="en-US" sz="1737">
                <a:solidFill>
                  <a:srgbClr val="000000"/>
                </a:solidFill>
                <a:latin typeface="Poppins"/>
                <a:ea typeface="Poppins"/>
                <a:cs typeface="Poppins"/>
                <a:sym typeface="Poppins"/>
              </a:rPr>
              <a:t>✔ Pouvoir d'achat élevé</a:t>
            </a:r>
          </a:p>
          <a:p>
            <a:pPr algn="l">
              <a:lnSpc>
                <a:spcPts val="2762"/>
              </a:lnSpc>
            </a:pPr>
            <a:r>
              <a:rPr lang="en-US" sz="1737">
                <a:solidFill>
                  <a:srgbClr val="000000"/>
                </a:solidFill>
                <a:latin typeface="Poppins"/>
                <a:ea typeface="Poppins"/>
                <a:cs typeface="Poppins"/>
                <a:sym typeface="Poppins"/>
              </a:rPr>
              <a:t>✔ Bonne stabilité politique</a:t>
            </a:r>
          </a:p>
          <a:p>
            <a:pPr algn="l">
              <a:lnSpc>
                <a:spcPts val="2762"/>
              </a:lnSpc>
            </a:pPr>
            <a:r>
              <a:rPr lang="en-US" sz="1737">
                <a:solidFill>
                  <a:srgbClr val="000000"/>
                </a:solidFill>
                <a:latin typeface="Poppins"/>
                <a:ea typeface="Poppins"/>
                <a:cs typeface="Poppins"/>
                <a:sym typeface="Poppins"/>
              </a:rPr>
              <a:t>✔ Consommation importante de volaille</a:t>
            </a:r>
          </a:p>
          <a:p>
            <a:pPr algn="l">
              <a:lnSpc>
                <a:spcPts val="2762"/>
              </a:lnSpc>
            </a:pPr>
            <a:r>
              <a:rPr lang="en-US" sz="1737">
                <a:solidFill>
                  <a:srgbClr val="000000"/>
                </a:solidFill>
                <a:latin typeface="Poppins"/>
                <a:ea typeface="Poppins"/>
                <a:cs typeface="Poppins"/>
                <a:sym typeface="Poppins"/>
              </a:rPr>
              <a:t>✔ Marchés ouverts aux importations</a:t>
            </a:r>
          </a:p>
          <a:p>
            <a:pPr algn="l">
              <a:lnSpc>
                <a:spcPts val="2762"/>
              </a:lnSpc>
            </a:pPr>
            <a:r>
              <a:rPr lang="en-US" sz="1737">
                <a:solidFill>
                  <a:srgbClr val="000000"/>
                </a:solidFill>
                <a:latin typeface="Poppins"/>
                <a:ea typeface="Poppins"/>
                <a:cs typeface="Poppins"/>
                <a:sym typeface="Poppins"/>
              </a:rPr>
              <a:t>✔ Fort potentiel d'exportation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825387" y="-5397919"/>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3">
              <a:alphaModFix amt="32999"/>
              <a:extLst>
                <a:ext uri="{96DAC541-7B7A-43D3-8B79-37D633B846F1}">
                  <asvg:svgBlip xmlns:asvg="http://schemas.microsoft.com/office/drawing/2016/SVG/main" r:embed="rId4"/>
                </a:ext>
              </a:extLst>
            </a:blip>
            <a:stretch>
              <a:fillRect l="0" t="0" r="0" b="0"/>
            </a:stretch>
          </a:blipFill>
        </p:spPr>
      </p:sp>
      <p:sp>
        <p:nvSpPr>
          <p:cNvPr name="AutoShape 3" id="3"/>
          <p:cNvSpPr/>
          <p:nvPr/>
        </p:nvSpPr>
        <p:spPr>
          <a:xfrm flipV="true">
            <a:off x="1028700" y="2069696"/>
            <a:ext cx="2134301" cy="0"/>
          </a:xfrm>
          <a:prstGeom prst="line">
            <a:avLst/>
          </a:prstGeom>
          <a:ln cap="flat" w="142875">
            <a:gradFill>
              <a:gsLst>
                <a:gs pos="0">
                  <a:srgbClr val="3428BA">
                    <a:alpha val="100000"/>
                  </a:srgbClr>
                </a:gs>
                <a:gs pos="100000">
                  <a:srgbClr val="5FA2DB">
                    <a:alpha val="100000"/>
                  </a:srgbClr>
                </a:gs>
              </a:gsLst>
              <a:lin ang="0"/>
            </a:gradFill>
            <a:prstDash val="solid"/>
            <a:headEnd type="none" len="sm" w="sm"/>
            <a:tailEnd type="none" len="sm" w="sm"/>
          </a:ln>
        </p:spPr>
      </p:sp>
      <p:sp>
        <p:nvSpPr>
          <p:cNvPr name="Freeform 4" id="4"/>
          <p:cNvSpPr/>
          <p:nvPr/>
        </p:nvSpPr>
        <p:spPr>
          <a:xfrm flipH="false" flipV="false" rot="0">
            <a:off x="1872817" y="4810125"/>
            <a:ext cx="13203482" cy="3209497"/>
          </a:xfrm>
          <a:custGeom>
            <a:avLst/>
            <a:gdLst/>
            <a:ahLst/>
            <a:cxnLst/>
            <a:rect r="r" b="b" t="t" l="l"/>
            <a:pathLst>
              <a:path h="3209497" w="13203482">
                <a:moveTo>
                  <a:pt x="0" y="0"/>
                </a:moveTo>
                <a:lnTo>
                  <a:pt x="13203482" y="0"/>
                </a:lnTo>
                <a:lnTo>
                  <a:pt x="13203482" y="3209497"/>
                </a:lnTo>
                <a:lnTo>
                  <a:pt x="0" y="3209497"/>
                </a:lnTo>
                <a:lnTo>
                  <a:pt x="0" y="0"/>
                </a:lnTo>
                <a:close/>
              </a:path>
            </a:pathLst>
          </a:custGeom>
          <a:blipFill>
            <a:blip r:embed="rId5"/>
            <a:stretch>
              <a:fillRect l="0" t="0" r="0" b="0"/>
            </a:stretch>
          </a:blipFill>
        </p:spPr>
      </p:sp>
      <p:sp>
        <p:nvSpPr>
          <p:cNvPr name="TextBox 5" id="5"/>
          <p:cNvSpPr txBox="true"/>
          <p:nvPr/>
        </p:nvSpPr>
        <p:spPr>
          <a:xfrm rot="0">
            <a:off x="851648" y="923925"/>
            <a:ext cx="9692082" cy="903605"/>
          </a:xfrm>
          <a:prstGeom prst="rect">
            <a:avLst/>
          </a:prstGeom>
        </p:spPr>
        <p:txBody>
          <a:bodyPr anchor="t" rtlCol="false" tIns="0" lIns="0" bIns="0" rIns="0">
            <a:spAutoFit/>
          </a:bodyPr>
          <a:lstStyle/>
          <a:p>
            <a:pPr algn="ctr">
              <a:lnSpc>
                <a:spcPts val="7420"/>
              </a:lnSpc>
              <a:spcBef>
                <a:spcPct val="0"/>
              </a:spcBef>
            </a:pPr>
            <a:r>
              <a:rPr lang="en-US" sz="5300">
                <a:solidFill>
                  <a:srgbClr val="262B34"/>
                </a:solidFill>
                <a:latin typeface="Anton"/>
                <a:ea typeface="Anton"/>
                <a:cs typeface="Anton"/>
                <a:sym typeface="Anton"/>
              </a:rPr>
              <a:t>Pourquoi uniquement ces 5 pays ?</a:t>
            </a:r>
          </a:p>
        </p:txBody>
      </p:sp>
      <p:sp>
        <p:nvSpPr>
          <p:cNvPr name="TextBox 6" id="6"/>
          <p:cNvSpPr txBox="true"/>
          <p:nvPr/>
        </p:nvSpPr>
        <p:spPr>
          <a:xfrm rot="0">
            <a:off x="1225384" y="8539694"/>
            <a:ext cx="14894421" cy="718606"/>
          </a:xfrm>
          <a:prstGeom prst="rect">
            <a:avLst/>
          </a:prstGeom>
        </p:spPr>
        <p:txBody>
          <a:bodyPr anchor="t" rtlCol="false" tIns="0" lIns="0" bIns="0" rIns="0">
            <a:spAutoFit/>
          </a:bodyPr>
          <a:lstStyle/>
          <a:p>
            <a:pPr algn="l">
              <a:lnSpc>
                <a:spcPts val="2921"/>
              </a:lnSpc>
            </a:pPr>
            <a:r>
              <a:rPr lang="en-US" sz="1837" b="true">
                <a:solidFill>
                  <a:srgbClr val="000000"/>
                </a:solidFill>
                <a:latin typeface="Poppins Bold"/>
                <a:ea typeface="Poppins Bold"/>
                <a:cs typeface="Poppins Bold"/>
                <a:sym typeface="Poppins Bold"/>
              </a:rPr>
              <a:t>L</a:t>
            </a:r>
            <a:r>
              <a:rPr lang="en-US" sz="1837" b="true">
                <a:solidFill>
                  <a:srgbClr val="000000"/>
                </a:solidFill>
                <a:latin typeface="Poppins Bold"/>
                <a:ea typeface="Poppins Bold"/>
                <a:cs typeface="Poppins Bold"/>
                <a:sym typeface="Poppins Bold"/>
              </a:rPr>
              <a:t>es cinq pays retenus offrent le meilleur compromis entre attractivité économique,</a:t>
            </a:r>
            <a:r>
              <a:rPr lang="en-US" sz="1837" b="true">
                <a:solidFill>
                  <a:srgbClr val="000000"/>
                </a:solidFill>
                <a:latin typeface="Poppins Bold"/>
                <a:ea typeface="Poppins Bold"/>
                <a:cs typeface="Poppins Bold"/>
                <a:sym typeface="Poppins Bold"/>
              </a:rPr>
              <a:t> </a:t>
            </a:r>
            <a:r>
              <a:rPr lang="en-US" sz="1837" b="true">
                <a:solidFill>
                  <a:srgbClr val="000000"/>
                </a:solidFill>
                <a:latin typeface="Poppins Bold"/>
                <a:ea typeface="Poppins Bold"/>
                <a:cs typeface="Poppins Bold"/>
                <a:sym typeface="Poppins Bold"/>
              </a:rPr>
              <a:t>potentiel commercial et faisabilité d'une stratégie d'exportation. </a:t>
            </a:r>
          </a:p>
        </p:txBody>
      </p:sp>
      <p:sp>
        <p:nvSpPr>
          <p:cNvPr name="TextBox 7" id="7"/>
          <p:cNvSpPr txBox="true"/>
          <p:nvPr/>
        </p:nvSpPr>
        <p:spPr>
          <a:xfrm rot="0">
            <a:off x="1028700" y="2470404"/>
            <a:ext cx="8944610" cy="2168271"/>
          </a:xfrm>
          <a:prstGeom prst="rect">
            <a:avLst/>
          </a:prstGeom>
        </p:spPr>
        <p:txBody>
          <a:bodyPr anchor="t" rtlCol="false" tIns="0" lIns="0" bIns="0" rIns="0">
            <a:spAutoFit/>
          </a:bodyPr>
          <a:lstStyle/>
          <a:p>
            <a:pPr algn="l">
              <a:lnSpc>
                <a:spcPts val="2862"/>
              </a:lnSpc>
            </a:pPr>
            <a:r>
              <a:rPr lang="en-US" b="true" sz="1800">
                <a:solidFill>
                  <a:srgbClr val="000000"/>
                </a:solidFill>
                <a:latin typeface="Poppins Bold"/>
                <a:ea typeface="Poppins Bold"/>
                <a:cs typeface="Poppins Bold"/>
                <a:sym typeface="Poppins Bold"/>
              </a:rPr>
              <a:t>C</a:t>
            </a:r>
            <a:r>
              <a:rPr lang="en-US" b="true" sz="1800">
                <a:solidFill>
                  <a:srgbClr val="000000"/>
                </a:solidFill>
                <a:latin typeface="Poppins Bold"/>
                <a:ea typeface="Poppins Bold"/>
                <a:cs typeface="Poppins Bold"/>
                <a:sym typeface="Poppins Bold"/>
              </a:rPr>
              <a:t>uba : contexte économique et commercial particulier.</a:t>
            </a:r>
          </a:p>
          <a:p>
            <a:pPr algn="l">
              <a:lnSpc>
                <a:spcPts val="2862"/>
              </a:lnSpc>
            </a:pPr>
            <a:r>
              <a:rPr lang="en-US" b="true" sz="1800">
                <a:solidFill>
                  <a:srgbClr val="000000"/>
                </a:solidFill>
                <a:latin typeface="Poppins Bold"/>
                <a:ea typeface="Poppins Bold"/>
                <a:cs typeface="Poppins Bold"/>
                <a:sym typeface="Poppins Bold"/>
              </a:rPr>
              <a:t>Luxembourg : marché de très petite taille.</a:t>
            </a:r>
          </a:p>
          <a:p>
            <a:pPr algn="l">
              <a:lnSpc>
                <a:spcPts val="2862"/>
              </a:lnSpc>
            </a:pPr>
            <a:r>
              <a:rPr lang="en-US" b="true" sz="1800">
                <a:solidFill>
                  <a:srgbClr val="000000"/>
                </a:solidFill>
                <a:latin typeface="Poppins Bold"/>
                <a:ea typeface="Poppins Bold"/>
                <a:cs typeface="Poppins Bold"/>
                <a:sym typeface="Poppins Bold"/>
              </a:rPr>
              <a:t>Suisse : marché peu dépendant des importations retenues dans notre score.</a:t>
            </a:r>
          </a:p>
          <a:p>
            <a:pPr algn="l">
              <a:lnSpc>
                <a:spcPts val="2862"/>
              </a:lnSpc>
            </a:pPr>
            <a:r>
              <a:rPr lang="en-US" b="true" sz="1800">
                <a:solidFill>
                  <a:srgbClr val="000000"/>
                </a:solidFill>
                <a:latin typeface="Poppins Bold"/>
                <a:ea typeface="Poppins Bold"/>
                <a:cs typeface="Poppins Bold"/>
                <a:sym typeface="Poppins Bold"/>
              </a:rPr>
              <a:t>Israël : contexte géopolitique particulier.</a:t>
            </a:r>
          </a:p>
          <a:p>
            <a:pPr algn="l">
              <a:lnSpc>
                <a:spcPts val="2862"/>
              </a:lnSpc>
            </a:pPr>
            <a:r>
              <a:rPr lang="en-US" b="true" sz="1800">
                <a:solidFill>
                  <a:srgbClr val="000000"/>
                </a:solidFill>
                <a:latin typeface="Poppins Bold"/>
                <a:ea typeface="Poppins Bold"/>
                <a:cs typeface="Poppins Bold"/>
                <a:sym typeface="Poppins Bold"/>
              </a:rPr>
              <a:t>Irlande : score légèrement inférieur aux cinq pays retenus.</a:t>
            </a:r>
          </a:p>
          <a:p>
            <a:pPr algn="l">
              <a:lnSpc>
                <a:spcPts val="2862"/>
              </a:lnSpc>
            </a:pPr>
          </a:p>
        </p:txBody>
      </p:sp>
      <p:grpSp>
        <p:nvGrpSpPr>
          <p:cNvPr name="Group 8" id="8"/>
          <p:cNvGrpSpPr/>
          <p:nvPr/>
        </p:nvGrpSpPr>
        <p:grpSpPr>
          <a:xfrm rot="0">
            <a:off x="2843212" y="6513195"/>
            <a:ext cx="537210" cy="351472"/>
            <a:chOff x="0" y="0"/>
            <a:chExt cx="716280" cy="468630"/>
          </a:xfrm>
        </p:grpSpPr>
        <p:sp>
          <p:nvSpPr>
            <p:cNvPr name="Freeform 9" id="9"/>
            <p:cNvSpPr/>
            <p:nvPr/>
          </p:nvSpPr>
          <p:spPr>
            <a:xfrm flipH="false" flipV="false" rot="0">
              <a:off x="48830" y="21437"/>
              <a:ext cx="633664" cy="396393"/>
            </a:xfrm>
            <a:custGeom>
              <a:avLst/>
              <a:gdLst/>
              <a:ahLst/>
              <a:cxnLst/>
              <a:rect r="r" b="b" t="t" l="l"/>
              <a:pathLst>
                <a:path h="396393" w="633664">
                  <a:moveTo>
                    <a:pt x="616650" y="396393"/>
                  </a:moveTo>
                  <a:cubicBezTo>
                    <a:pt x="90870" y="378613"/>
                    <a:pt x="18480" y="390043"/>
                    <a:pt x="1970" y="357023"/>
                  </a:cubicBezTo>
                  <a:cubicBezTo>
                    <a:pt x="-22160" y="306223"/>
                    <a:pt x="183580" y="80163"/>
                    <a:pt x="170880" y="43333"/>
                  </a:cubicBezTo>
                  <a:cubicBezTo>
                    <a:pt x="167070" y="31903"/>
                    <a:pt x="136590" y="33173"/>
                    <a:pt x="137860" y="29363"/>
                  </a:cubicBezTo>
                  <a:cubicBezTo>
                    <a:pt x="140400" y="17933"/>
                    <a:pt x="522670" y="-35407"/>
                    <a:pt x="598870" y="38253"/>
                  </a:cubicBezTo>
                  <a:cubicBezTo>
                    <a:pt x="664910" y="101753"/>
                    <a:pt x="616650" y="396393"/>
                    <a:pt x="616650" y="396393"/>
                  </a:cubicBezTo>
                </a:path>
              </a:pathLst>
            </a:custGeom>
            <a:solidFill>
              <a:srgbClr val="FF7A68">
                <a:alpha val="24706"/>
              </a:srgbClr>
            </a:solidFill>
            <a:ln cap="sq">
              <a:noFill/>
              <a:prstDash val="solid"/>
              <a:miter/>
            </a:ln>
          </p:spPr>
        </p:sp>
      </p:grpSp>
      <p:grpSp>
        <p:nvGrpSpPr>
          <p:cNvPr name="Group 10" id="10"/>
          <p:cNvGrpSpPr/>
          <p:nvPr/>
        </p:nvGrpSpPr>
        <p:grpSpPr>
          <a:xfrm rot="0">
            <a:off x="8539162" y="6519862"/>
            <a:ext cx="562928" cy="351472"/>
            <a:chOff x="0" y="0"/>
            <a:chExt cx="750570" cy="468630"/>
          </a:xfrm>
        </p:grpSpPr>
        <p:sp>
          <p:nvSpPr>
            <p:cNvPr name="Freeform 11" id="11"/>
            <p:cNvSpPr/>
            <p:nvPr/>
          </p:nvSpPr>
          <p:spPr>
            <a:xfrm flipH="false" flipV="false" rot="0">
              <a:off x="45846" y="3063"/>
              <a:ext cx="671484" cy="411467"/>
            </a:xfrm>
            <a:custGeom>
              <a:avLst/>
              <a:gdLst/>
              <a:ahLst/>
              <a:cxnLst/>
              <a:rect r="r" b="b" t="t" l="l"/>
              <a:pathLst>
                <a:path h="411467" w="671484">
                  <a:moveTo>
                    <a:pt x="653924" y="405877"/>
                  </a:moveTo>
                  <a:cubicBezTo>
                    <a:pt x="116714" y="408417"/>
                    <a:pt x="25274" y="424927"/>
                    <a:pt x="4954" y="385557"/>
                  </a:cubicBezTo>
                  <a:cubicBezTo>
                    <a:pt x="-22986" y="333487"/>
                    <a:pt x="72264" y="117587"/>
                    <a:pt x="164974" y="57897"/>
                  </a:cubicBezTo>
                  <a:cubicBezTo>
                    <a:pt x="270384" y="-9413"/>
                    <a:pt x="559944" y="-24653"/>
                    <a:pt x="636144" y="47737"/>
                  </a:cubicBezTo>
                  <a:cubicBezTo>
                    <a:pt x="703454" y="109967"/>
                    <a:pt x="653924" y="405877"/>
                    <a:pt x="653924" y="405877"/>
                  </a:cubicBezTo>
                </a:path>
              </a:pathLst>
            </a:custGeom>
            <a:solidFill>
              <a:srgbClr val="FF7A68">
                <a:alpha val="24706"/>
              </a:srgbClr>
            </a:solidFill>
            <a:ln cap="sq">
              <a:noFill/>
              <a:prstDash val="solid"/>
              <a:miter/>
            </a:ln>
          </p:spPr>
        </p:sp>
      </p:grpSp>
      <p:grpSp>
        <p:nvGrpSpPr>
          <p:cNvPr name="Group 12" id="12"/>
          <p:cNvGrpSpPr/>
          <p:nvPr/>
        </p:nvGrpSpPr>
        <p:grpSpPr>
          <a:xfrm rot="0">
            <a:off x="8621078" y="6742747"/>
            <a:ext cx="537210" cy="351472"/>
            <a:chOff x="0" y="0"/>
            <a:chExt cx="716280" cy="468630"/>
          </a:xfrm>
        </p:grpSpPr>
        <p:sp>
          <p:nvSpPr>
            <p:cNvPr name="Freeform 13" id="13"/>
            <p:cNvSpPr/>
            <p:nvPr/>
          </p:nvSpPr>
          <p:spPr>
            <a:xfrm flipH="false" flipV="false" rot="0">
              <a:off x="47196" y="13015"/>
              <a:ext cx="634752" cy="399394"/>
            </a:xfrm>
            <a:custGeom>
              <a:avLst/>
              <a:gdLst/>
              <a:ahLst/>
              <a:cxnLst/>
              <a:rect r="r" b="b" t="t" l="l"/>
              <a:pathLst>
                <a:path h="399394" w="634752">
                  <a:moveTo>
                    <a:pt x="618284" y="395925"/>
                  </a:moveTo>
                  <a:cubicBezTo>
                    <a:pt x="92504" y="398465"/>
                    <a:pt x="20114" y="408625"/>
                    <a:pt x="3604" y="375605"/>
                  </a:cubicBezTo>
                  <a:cubicBezTo>
                    <a:pt x="-20526" y="324805"/>
                    <a:pt x="81074" y="120335"/>
                    <a:pt x="172514" y="61915"/>
                  </a:cubicBezTo>
                  <a:cubicBezTo>
                    <a:pt x="272844" y="-1585"/>
                    <a:pt x="528114" y="-26985"/>
                    <a:pt x="600504" y="37785"/>
                  </a:cubicBezTo>
                  <a:cubicBezTo>
                    <a:pt x="665274" y="96205"/>
                    <a:pt x="618284" y="395925"/>
                    <a:pt x="618284" y="395925"/>
                  </a:cubicBezTo>
                </a:path>
              </a:pathLst>
            </a:custGeom>
            <a:solidFill>
              <a:srgbClr val="FF7A68">
                <a:alpha val="24706"/>
              </a:srgbClr>
            </a:solidFill>
            <a:ln cap="sq">
              <a:noFill/>
              <a:prstDash val="solid"/>
              <a:miter/>
            </a:ln>
          </p:spPr>
        </p:sp>
      </p:grpSp>
      <p:grpSp>
        <p:nvGrpSpPr>
          <p:cNvPr name="Group 14" id="14"/>
          <p:cNvGrpSpPr/>
          <p:nvPr/>
        </p:nvGrpSpPr>
        <p:grpSpPr>
          <a:xfrm rot="0">
            <a:off x="8677275" y="7007543"/>
            <a:ext cx="590550" cy="391478"/>
            <a:chOff x="0" y="0"/>
            <a:chExt cx="787400" cy="521970"/>
          </a:xfrm>
        </p:grpSpPr>
        <p:sp>
          <p:nvSpPr>
            <p:cNvPr name="Freeform 15" id="15"/>
            <p:cNvSpPr/>
            <p:nvPr/>
          </p:nvSpPr>
          <p:spPr>
            <a:xfrm flipH="false" flipV="false" rot="0">
              <a:off x="48685" y="31441"/>
              <a:ext cx="706044" cy="441330"/>
            </a:xfrm>
            <a:custGeom>
              <a:avLst/>
              <a:gdLst/>
              <a:ahLst/>
              <a:cxnLst/>
              <a:rect r="r" b="b" t="t" l="l"/>
              <a:pathLst>
                <a:path h="441330" w="706044">
                  <a:moveTo>
                    <a:pt x="687915" y="378769"/>
                  </a:moveTo>
                  <a:cubicBezTo>
                    <a:pt x="292945" y="413059"/>
                    <a:pt x="237065" y="438459"/>
                    <a:pt x="174835" y="439729"/>
                  </a:cubicBezTo>
                  <a:cubicBezTo>
                    <a:pt x="116415" y="440999"/>
                    <a:pt x="19895" y="448619"/>
                    <a:pt x="2115" y="414329"/>
                  </a:cubicBezTo>
                  <a:cubicBezTo>
                    <a:pt x="-23285" y="363529"/>
                    <a:pt x="188805" y="129849"/>
                    <a:pt x="169755" y="99369"/>
                  </a:cubicBezTo>
                  <a:cubicBezTo>
                    <a:pt x="162135" y="86669"/>
                    <a:pt x="106255" y="104449"/>
                    <a:pt x="106255" y="101909"/>
                  </a:cubicBezTo>
                  <a:cubicBezTo>
                    <a:pt x="104985" y="96829"/>
                    <a:pt x="263735" y="61269"/>
                    <a:pt x="351365" y="47299"/>
                  </a:cubicBezTo>
                  <a:cubicBezTo>
                    <a:pt x="451695" y="32059"/>
                    <a:pt x="618065" y="-31441"/>
                    <a:pt x="675215" y="19359"/>
                  </a:cubicBezTo>
                  <a:cubicBezTo>
                    <a:pt x="736175" y="72699"/>
                    <a:pt x="687915" y="378769"/>
                    <a:pt x="687915" y="378769"/>
                  </a:cubicBezTo>
                </a:path>
              </a:pathLst>
            </a:custGeom>
            <a:solidFill>
              <a:srgbClr val="FF7A68">
                <a:alpha val="24706"/>
              </a:srgbClr>
            </a:solidFill>
            <a:ln cap="sq">
              <a:noFill/>
              <a:prstDash val="solid"/>
              <a:miter/>
            </a:ln>
          </p:spPr>
        </p:sp>
      </p:grpSp>
      <p:grpSp>
        <p:nvGrpSpPr>
          <p:cNvPr name="Group 16" id="16"/>
          <p:cNvGrpSpPr/>
          <p:nvPr/>
        </p:nvGrpSpPr>
        <p:grpSpPr>
          <a:xfrm rot="0">
            <a:off x="11928157" y="7384732"/>
            <a:ext cx="522922" cy="351472"/>
            <a:chOff x="0" y="0"/>
            <a:chExt cx="697230" cy="468630"/>
          </a:xfrm>
        </p:grpSpPr>
        <p:sp>
          <p:nvSpPr>
            <p:cNvPr name="Freeform 17" id="17"/>
            <p:cNvSpPr/>
            <p:nvPr/>
          </p:nvSpPr>
          <p:spPr>
            <a:xfrm flipH="false" flipV="false" rot="0">
              <a:off x="45973" y="14852"/>
              <a:ext cx="617739" cy="404926"/>
            </a:xfrm>
            <a:custGeom>
              <a:avLst/>
              <a:gdLst/>
              <a:ahLst/>
              <a:cxnLst/>
              <a:rect r="r" b="b" t="t" l="l"/>
              <a:pathLst>
                <a:path h="404926" w="617739">
                  <a:moveTo>
                    <a:pt x="600457" y="394088"/>
                  </a:moveTo>
                  <a:cubicBezTo>
                    <a:pt x="209297" y="399168"/>
                    <a:pt x="32767" y="424568"/>
                    <a:pt x="4827" y="373768"/>
                  </a:cubicBezTo>
                  <a:cubicBezTo>
                    <a:pt x="-24383" y="317888"/>
                    <a:pt x="84837" y="118498"/>
                    <a:pt x="175007" y="60078"/>
                  </a:cubicBezTo>
                  <a:cubicBezTo>
                    <a:pt x="271527" y="-882"/>
                    <a:pt x="515367" y="-26282"/>
                    <a:pt x="583947" y="35948"/>
                  </a:cubicBezTo>
                  <a:cubicBezTo>
                    <a:pt x="648717" y="94368"/>
                    <a:pt x="600457" y="394088"/>
                    <a:pt x="600457" y="394088"/>
                  </a:cubicBezTo>
                </a:path>
              </a:pathLst>
            </a:custGeom>
            <a:solidFill>
              <a:srgbClr val="FF7A68">
                <a:alpha val="24706"/>
              </a:srgbClr>
            </a:solidFill>
            <a:ln cap="sq">
              <a:noFill/>
              <a:prstDash val="solid"/>
              <a:miter/>
            </a:ln>
          </p:spPr>
        </p:sp>
      </p:grpSp>
      <p:grpSp>
        <p:nvGrpSpPr>
          <p:cNvPr name="Group 18" id="18"/>
          <p:cNvGrpSpPr/>
          <p:nvPr/>
        </p:nvGrpSpPr>
        <p:grpSpPr>
          <a:xfrm rot="0">
            <a:off x="6904672" y="7364730"/>
            <a:ext cx="565785" cy="368618"/>
            <a:chOff x="0" y="0"/>
            <a:chExt cx="754380" cy="491490"/>
          </a:xfrm>
        </p:grpSpPr>
        <p:sp>
          <p:nvSpPr>
            <p:cNvPr name="Freeform 19" id="19"/>
            <p:cNvSpPr/>
            <p:nvPr/>
          </p:nvSpPr>
          <p:spPr>
            <a:xfrm flipH="false" flipV="false" rot="0">
              <a:off x="44421" y="35661"/>
              <a:ext cx="664296" cy="404124"/>
            </a:xfrm>
            <a:custGeom>
              <a:avLst/>
              <a:gdLst/>
              <a:ahLst/>
              <a:cxnLst/>
              <a:rect r="r" b="b" t="t" l="l"/>
              <a:pathLst>
                <a:path h="404124" w="664296">
                  <a:moveTo>
                    <a:pt x="657889" y="399949"/>
                  </a:moveTo>
                  <a:cubicBezTo>
                    <a:pt x="466119" y="401219"/>
                    <a:pt x="49559" y="425349"/>
                    <a:pt x="6379" y="341529"/>
                  </a:cubicBezTo>
                  <a:cubicBezTo>
                    <a:pt x="-29181" y="274219"/>
                    <a:pt x="91469" y="64669"/>
                    <a:pt x="181639" y="15139"/>
                  </a:cubicBezTo>
                  <a:cubicBezTo>
                    <a:pt x="273079" y="-33121"/>
                    <a:pt x="473739" y="49429"/>
                    <a:pt x="555019" y="49429"/>
                  </a:cubicBezTo>
                  <a:cubicBezTo>
                    <a:pt x="593119" y="49429"/>
                    <a:pt x="619789" y="24029"/>
                    <a:pt x="640109" y="41809"/>
                  </a:cubicBezTo>
                  <a:cubicBezTo>
                    <a:pt x="680749" y="77369"/>
                    <a:pt x="657889" y="399949"/>
                    <a:pt x="657889" y="399949"/>
                  </a:cubicBezTo>
                </a:path>
              </a:pathLst>
            </a:custGeom>
            <a:solidFill>
              <a:srgbClr val="FF7A68">
                <a:alpha val="24706"/>
              </a:srgbClr>
            </a:solidFill>
            <a:ln cap="sq">
              <a:noFill/>
              <a:prstDash val="solid"/>
              <a:miter/>
            </a:ln>
          </p:spPr>
        </p:sp>
      </p:grpSp>
      <p:grpSp>
        <p:nvGrpSpPr>
          <p:cNvPr name="Group 20" id="20"/>
          <p:cNvGrpSpPr/>
          <p:nvPr/>
        </p:nvGrpSpPr>
        <p:grpSpPr>
          <a:xfrm rot="0">
            <a:off x="11957685" y="7044690"/>
            <a:ext cx="441007" cy="382905"/>
            <a:chOff x="0" y="0"/>
            <a:chExt cx="588010" cy="510540"/>
          </a:xfrm>
        </p:grpSpPr>
        <p:sp>
          <p:nvSpPr>
            <p:cNvPr name="Freeform 21" id="21"/>
            <p:cNvSpPr/>
            <p:nvPr/>
          </p:nvSpPr>
          <p:spPr>
            <a:xfrm flipH="false" flipV="false" rot="0">
              <a:off x="44333" y="50461"/>
              <a:ext cx="494121" cy="409279"/>
            </a:xfrm>
            <a:custGeom>
              <a:avLst/>
              <a:gdLst/>
              <a:ahLst/>
              <a:cxnLst/>
              <a:rect r="r" b="b" t="t" l="l"/>
              <a:pathLst>
                <a:path h="409279" w="494121">
                  <a:moveTo>
                    <a:pt x="358257" y="409279"/>
                  </a:moveTo>
                  <a:cubicBezTo>
                    <a:pt x="198237" y="355939"/>
                    <a:pt x="35677" y="400389"/>
                    <a:pt x="6467" y="353399"/>
                  </a:cubicBezTo>
                  <a:cubicBezTo>
                    <a:pt x="-29093" y="300059"/>
                    <a:pt x="91557" y="67649"/>
                    <a:pt x="136007" y="23199"/>
                  </a:cubicBezTo>
                  <a:cubicBezTo>
                    <a:pt x="153787" y="4149"/>
                    <a:pt x="166487" y="2879"/>
                    <a:pt x="190617" y="339"/>
                  </a:cubicBezTo>
                  <a:cubicBezTo>
                    <a:pt x="236337" y="-3471"/>
                    <a:pt x="339207" y="25739"/>
                    <a:pt x="393817" y="40979"/>
                  </a:cubicBezTo>
                  <a:cubicBezTo>
                    <a:pt x="433187" y="51139"/>
                    <a:pt x="478907" y="47329"/>
                    <a:pt x="491607" y="75269"/>
                  </a:cubicBezTo>
                  <a:cubicBezTo>
                    <a:pt x="515737" y="128609"/>
                    <a:pt x="358257" y="409279"/>
                    <a:pt x="358257" y="409279"/>
                  </a:cubicBezTo>
                </a:path>
              </a:pathLst>
            </a:custGeom>
            <a:solidFill>
              <a:srgbClr val="FF7A68">
                <a:alpha val="24706"/>
              </a:srgbClr>
            </a:solidFill>
            <a:ln cap="sq">
              <a:noFill/>
              <a:prstDash val="solid"/>
              <a:miter/>
            </a:ln>
          </p:spPr>
        </p:sp>
      </p:grpSp>
      <p:grpSp>
        <p:nvGrpSpPr>
          <p:cNvPr name="Group 22" id="22"/>
          <p:cNvGrpSpPr/>
          <p:nvPr/>
        </p:nvGrpSpPr>
        <p:grpSpPr>
          <a:xfrm rot="0">
            <a:off x="11970068" y="6797993"/>
            <a:ext cx="535305" cy="351472"/>
            <a:chOff x="0" y="0"/>
            <a:chExt cx="713740" cy="468630"/>
          </a:xfrm>
        </p:grpSpPr>
        <p:sp>
          <p:nvSpPr>
            <p:cNvPr name="Freeform 23" id="23"/>
            <p:cNvSpPr/>
            <p:nvPr/>
          </p:nvSpPr>
          <p:spPr>
            <a:xfrm flipH="false" flipV="false" rot="0">
              <a:off x="45930" y="14018"/>
              <a:ext cx="637104" cy="405900"/>
            </a:xfrm>
            <a:custGeom>
              <a:avLst/>
              <a:gdLst/>
              <a:ahLst/>
              <a:cxnLst/>
              <a:rect r="r" b="b" t="t" l="l"/>
              <a:pathLst>
                <a:path h="405900" w="637104">
                  <a:moveTo>
                    <a:pt x="617010" y="396192"/>
                  </a:moveTo>
                  <a:cubicBezTo>
                    <a:pt x="196640" y="400002"/>
                    <a:pt x="31540" y="425402"/>
                    <a:pt x="4870" y="374602"/>
                  </a:cubicBezTo>
                  <a:cubicBezTo>
                    <a:pt x="-24340" y="319992"/>
                    <a:pt x="83610" y="120602"/>
                    <a:pt x="175050" y="62182"/>
                  </a:cubicBezTo>
                  <a:cubicBezTo>
                    <a:pt x="275380" y="-1318"/>
                    <a:pt x="534460" y="-26718"/>
                    <a:pt x="605580" y="36782"/>
                  </a:cubicBezTo>
                  <a:cubicBezTo>
                    <a:pt x="669080" y="96472"/>
                    <a:pt x="617010" y="396192"/>
                    <a:pt x="617010" y="396192"/>
                  </a:cubicBezTo>
                </a:path>
              </a:pathLst>
            </a:custGeom>
            <a:solidFill>
              <a:srgbClr val="FF7A68">
                <a:alpha val="24706"/>
              </a:srgbClr>
            </a:solidFill>
            <a:ln cap="sq">
              <a:noFill/>
              <a:prstDash val="solid"/>
              <a:miter/>
            </a:ln>
          </p:spPr>
        </p:sp>
      </p:grpSp>
      <p:grpSp>
        <p:nvGrpSpPr>
          <p:cNvPr name="Group 24" id="24"/>
          <p:cNvGrpSpPr/>
          <p:nvPr/>
        </p:nvGrpSpPr>
        <p:grpSpPr>
          <a:xfrm rot="0">
            <a:off x="5337810" y="5654040"/>
            <a:ext cx="611505" cy="387668"/>
            <a:chOff x="0" y="0"/>
            <a:chExt cx="815340" cy="516890"/>
          </a:xfrm>
        </p:grpSpPr>
        <p:sp>
          <p:nvSpPr>
            <p:cNvPr name="Freeform 25" id="25"/>
            <p:cNvSpPr/>
            <p:nvPr/>
          </p:nvSpPr>
          <p:spPr>
            <a:xfrm flipH="false" flipV="false" rot="0">
              <a:off x="20735" y="31143"/>
              <a:ext cx="756292" cy="452776"/>
            </a:xfrm>
            <a:custGeom>
              <a:avLst/>
              <a:gdLst/>
              <a:ahLst/>
              <a:cxnLst/>
              <a:rect r="r" b="b" t="t" l="l"/>
              <a:pathLst>
                <a:path h="452776" w="756292">
                  <a:moveTo>
                    <a:pt x="742535" y="379067"/>
                  </a:moveTo>
                  <a:cubicBezTo>
                    <a:pt x="353915" y="395577"/>
                    <a:pt x="132935" y="493367"/>
                    <a:pt x="60545" y="433677"/>
                  </a:cubicBezTo>
                  <a:cubicBezTo>
                    <a:pt x="-6765" y="379067"/>
                    <a:pt x="-19465" y="136497"/>
                    <a:pt x="30065" y="79347"/>
                  </a:cubicBezTo>
                  <a:cubicBezTo>
                    <a:pt x="69435" y="32357"/>
                    <a:pt x="195165" y="72997"/>
                    <a:pt x="270095" y="64107"/>
                  </a:cubicBezTo>
                  <a:cubicBezTo>
                    <a:pt x="334865" y="56487"/>
                    <a:pt x="385665" y="37437"/>
                    <a:pt x="452975" y="31087"/>
                  </a:cubicBezTo>
                  <a:cubicBezTo>
                    <a:pt x="534255" y="20927"/>
                    <a:pt x="673955" y="-26063"/>
                    <a:pt x="724755" y="19657"/>
                  </a:cubicBezTo>
                  <a:cubicBezTo>
                    <a:pt x="783175" y="72997"/>
                    <a:pt x="742535" y="379067"/>
                    <a:pt x="742535" y="379067"/>
                  </a:cubicBezTo>
                </a:path>
              </a:pathLst>
            </a:custGeom>
            <a:solidFill>
              <a:srgbClr val="FF7A68">
                <a:alpha val="24706"/>
              </a:srgbClr>
            </a:solidFill>
            <a:ln cap="sq">
              <a:noFill/>
              <a:prstDash val="solid"/>
              <a:miter/>
            </a:ln>
          </p:spPr>
        </p:sp>
      </p:grpSp>
      <p:grpSp>
        <p:nvGrpSpPr>
          <p:cNvPr name="Group 26" id="26"/>
          <p:cNvGrpSpPr/>
          <p:nvPr/>
        </p:nvGrpSpPr>
        <p:grpSpPr>
          <a:xfrm rot="0">
            <a:off x="2815590" y="7059930"/>
            <a:ext cx="569595" cy="405765"/>
            <a:chOff x="0" y="0"/>
            <a:chExt cx="759460" cy="541020"/>
          </a:xfrm>
        </p:grpSpPr>
        <p:sp>
          <p:nvSpPr>
            <p:cNvPr name="Freeform 27" id="27"/>
            <p:cNvSpPr/>
            <p:nvPr/>
          </p:nvSpPr>
          <p:spPr>
            <a:xfrm flipH="false" flipV="false" rot="0">
              <a:off x="45415" y="50611"/>
              <a:ext cx="674262" cy="439609"/>
            </a:xfrm>
            <a:custGeom>
              <a:avLst/>
              <a:gdLst/>
              <a:ahLst/>
              <a:cxnLst/>
              <a:rect r="r" b="b" t="t" l="l"/>
              <a:pathLst>
                <a:path h="439609" w="674262">
                  <a:moveTo>
                    <a:pt x="632765" y="439609"/>
                  </a:moveTo>
                  <a:cubicBezTo>
                    <a:pt x="495605" y="421829"/>
                    <a:pt x="421945" y="371029"/>
                    <a:pt x="357175" y="368489"/>
                  </a:cubicBezTo>
                  <a:cubicBezTo>
                    <a:pt x="287325" y="365949"/>
                    <a:pt x="206045" y="419289"/>
                    <a:pt x="142545" y="424369"/>
                  </a:cubicBezTo>
                  <a:cubicBezTo>
                    <a:pt x="91745" y="428179"/>
                    <a:pt x="23165" y="438339"/>
                    <a:pt x="5385" y="409129"/>
                  </a:cubicBezTo>
                  <a:cubicBezTo>
                    <a:pt x="-22555" y="362139"/>
                    <a:pt x="63805" y="146239"/>
                    <a:pt x="136195" y="78929"/>
                  </a:cubicBezTo>
                  <a:cubicBezTo>
                    <a:pt x="198425" y="20509"/>
                    <a:pt x="310185" y="-2351"/>
                    <a:pt x="387655" y="189"/>
                  </a:cubicBezTo>
                  <a:cubicBezTo>
                    <a:pt x="454965" y="3999"/>
                    <a:pt x="526085" y="66229"/>
                    <a:pt x="578155" y="77659"/>
                  </a:cubicBezTo>
                  <a:cubicBezTo>
                    <a:pt x="611175" y="85279"/>
                    <a:pt x="645465" y="62419"/>
                    <a:pt x="663245" y="81469"/>
                  </a:cubicBezTo>
                  <a:cubicBezTo>
                    <a:pt x="700075" y="123379"/>
                    <a:pt x="632765" y="439609"/>
                    <a:pt x="632765" y="439609"/>
                  </a:cubicBezTo>
                </a:path>
              </a:pathLst>
            </a:custGeom>
            <a:solidFill>
              <a:srgbClr val="FF7A68">
                <a:alpha val="24706"/>
              </a:srgbClr>
            </a:solidFill>
            <a:ln cap="sq">
              <a:noFill/>
              <a:prstDash val="solid"/>
              <a:miter/>
            </a:ln>
          </p:spPr>
        </p:sp>
      </p:grpSp>
      <p:grpSp>
        <p:nvGrpSpPr>
          <p:cNvPr name="Group 28" id="28"/>
          <p:cNvGrpSpPr/>
          <p:nvPr/>
        </p:nvGrpSpPr>
        <p:grpSpPr>
          <a:xfrm rot="0">
            <a:off x="2815590" y="7414260"/>
            <a:ext cx="633412" cy="350520"/>
            <a:chOff x="0" y="0"/>
            <a:chExt cx="844550" cy="467360"/>
          </a:xfrm>
        </p:grpSpPr>
        <p:sp>
          <p:nvSpPr>
            <p:cNvPr name="Freeform 29" id="29"/>
            <p:cNvSpPr/>
            <p:nvPr/>
          </p:nvSpPr>
          <p:spPr>
            <a:xfrm flipH="false" flipV="false" rot="0">
              <a:off x="124417" y="2323"/>
              <a:ext cx="690080" cy="406617"/>
            </a:xfrm>
            <a:custGeom>
              <a:avLst/>
              <a:gdLst/>
              <a:ahLst/>
              <a:cxnLst/>
              <a:rect r="r" b="b" t="t" l="l"/>
              <a:pathLst>
                <a:path h="406617" w="690080">
                  <a:moveTo>
                    <a:pt x="668063" y="406617"/>
                  </a:moveTo>
                  <a:cubicBezTo>
                    <a:pt x="-118067" y="348197"/>
                    <a:pt x="-34247" y="148807"/>
                    <a:pt x="57193" y="82767"/>
                  </a:cubicBezTo>
                  <a:cubicBezTo>
                    <a:pt x="176573" y="-3593"/>
                    <a:pt x="565193" y="-34073"/>
                    <a:pt x="655363" y="48477"/>
                  </a:cubicBezTo>
                  <a:cubicBezTo>
                    <a:pt x="725213" y="111977"/>
                    <a:pt x="668063" y="406617"/>
                    <a:pt x="668063" y="406617"/>
                  </a:cubicBezTo>
                </a:path>
              </a:pathLst>
            </a:custGeom>
            <a:solidFill>
              <a:srgbClr val="FF7A68">
                <a:alpha val="24706"/>
              </a:srgbClr>
            </a:solidFill>
            <a:ln cap="sq">
              <a:noFill/>
              <a:prstDash val="solid"/>
              <a:miter/>
            </a:ln>
          </p:spPr>
        </p:sp>
      </p:grpSp>
      <p:grpSp>
        <p:nvGrpSpPr>
          <p:cNvPr name="Group 30" id="30"/>
          <p:cNvGrpSpPr/>
          <p:nvPr/>
        </p:nvGrpSpPr>
        <p:grpSpPr>
          <a:xfrm rot="0">
            <a:off x="2564130" y="6773228"/>
            <a:ext cx="915352" cy="390525"/>
            <a:chOff x="0" y="0"/>
            <a:chExt cx="1220470" cy="520700"/>
          </a:xfrm>
        </p:grpSpPr>
        <p:sp>
          <p:nvSpPr>
            <p:cNvPr name="Freeform 31" id="31"/>
            <p:cNvSpPr/>
            <p:nvPr/>
          </p:nvSpPr>
          <p:spPr>
            <a:xfrm flipH="false" flipV="false" rot="0">
              <a:off x="40561" y="46300"/>
              <a:ext cx="1127839" cy="457553"/>
            </a:xfrm>
            <a:custGeom>
              <a:avLst/>
              <a:gdLst/>
              <a:ahLst/>
              <a:cxnLst/>
              <a:rect r="r" b="b" t="t" l="l"/>
              <a:pathLst>
                <a:path h="457553" w="1127839">
                  <a:moveTo>
                    <a:pt x="1127839" y="360100"/>
                  </a:moveTo>
                  <a:cubicBezTo>
                    <a:pt x="485219" y="413440"/>
                    <a:pt x="68659" y="508690"/>
                    <a:pt x="10239" y="423600"/>
                  </a:cubicBezTo>
                  <a:cubicBezTo>
                    <a:pt x="-32941" y="361370"/>
                    <a:pt x="69929" y="153090"/>
                    <a:pt x="142319" y="93400"/>
                  </a:cubicBezTo>
                  <a:cubicBezTo>
                    <a:pt x="202009" y="43870"/>
                    <a:pt x="303609" y="56570"/>
                    <a:pt x="379809" y="48950"/>
                  </a:cubicBezTo>
                  <a:cubicBezTo>
                    <a:pt x="448389" y="42600"/>
                    <a:pt x="501729" y="51490"/>
                    <a:pt x="579199" y="48950"/>
                  </a:cubicBezTo>
                  <a:cubicBezTo>
                    <a:pt x="690959" y="45140"/>
                    <a:pt x="900509" y="33710"/>
                    <a:pt x="985599" y="22280"/>
                  </a:cubicBezTo>
                  <a:cubicBezTo>
                    <a:pt x="1024969" y="17200"/>
                    <a:pt x="1047829" y="-10740"/>
                    <a:pt x="1070689" y="4500"/>
                  </a:cubicBezTo>
                  <a:cubicBezTo>
                    <a:pt x="1115139" y="36250"/>
                    <a:pt x="1127839" y="360100"/>
                    <a:pt x="1127839" y="360100"/>
                  </a:cubicBezTo>
                </a:path>
              </a:pathLst>
            </a:custGeom>
            <a:solidFill>
              <a:srgbClr val="FF7A68">
                <a:alpha val="24706"/>
              </a:srgbClr>
            </a:solidFill>
            <a:ln cap="sq">
              <a:noFill/>
              <a:prstDash val="solid"/>
              <a:miter/>
            </a:ln>
          </p:spPr>
        </p:sp>
      </p:grpSp>
      <p:grpSp>
        <p:nvGrpSpPr>
          <p:cNvPr name="Group 32" id="32"/>
          <p:cNvGrpSpPr/>
          <p:nvPr/>
        </p:nvGrpSpPr>
        <p:grpSpPr>
          <a:xfrm rot="0">
            <a:off x="2856548" y="5634038"/>
            <a:ext cx="668655" cy="392430"/>
            <a:chOff x="0" y="0"/>
            <a:chExt cx="891540" cy="523240"/>
          </a:xfrm>
        </p:grpSpPr>
        <p:sp>
          <p:nvSpPr>
            <p:cNvPr name="Freeform 33" id="33"/>
            <p:cNvSpPr/>
            <p:nvPr/>
          </p:nvSpPr>
          <p:spPr>
            <a:xfrm flipH="false" flipV="false" rot="0">
              <a:off x="46704" y="48280"/>
              <a:ext cx="803753" cy="424160"/>
            </a:xfrm>
            <a:custGeom>
              <a:avLst/>
              <a:gdLst/>
              <a:ahLst/>
              <a:cxnLst/>
              <a:rect r="r" b="b" t="t" l="l"/>
              <a:pathLst>
                <a:path h="424160" w="803753">
                  <a:moveTo>
                    <a:pt x="726726" y="424160"/>
                  </a:moveTo>
                  <a:cubicBezTo>
                    <a:pt x="369856" y="372090"/>
                    <a:pt x="317786" y="382250"/>
                    <a:pt x="251746" y="377170"/>
                  </a:cubicBezTo>
                  <a:cubicBezTo>
                    <a:pt x="175546" y="370820"/>
                    <a:pt x="32036" y="388600"/>
                    <a:pt x="4096" y="340340"/>
                  </a:cubicBezTo>
                  <a:cubicBezTo>
                    <a:pt x="-28924" y="281920"/>
                    <a:pt x="148876" y="39350"/>
                    <a:pt x="137446" y="10140"/>
                  </a:cubicBezTo>
                  <a:cubicBezTo>
                    <a:pt x="136176" y="3790"/>
                    <a:pt x="122206" y="5060"/>
                    <a:pt x="123476" y="2520"/>
                  </a:cubicBezTo>
                  <a:cubicBezTo>
                    <a:pt x="126016" y="-6370"/>
                    <a:pt x="387636" y="10140"/>
                    <a:pt x="504476" y="22840"/>
                  </a:cubicBezTo>
                  <a:cubicBezTo>
                    <a:pt x="608616" y="34270"/>
                    <a:pt x="752126" y="12680"/>
                    <a:pt x="792766" y="71100"/>
                  </a:cubicBezTo>
                  <a:cubicBezTo>
                    <a:pt x="838486" y="137140"/>
                    <a:pt x="726726" y="424160"/>
                    <a:pt x="726726" y="424160"/>
                  </a:cubicBezTo>
                </a:path>
              </a:pathLst>
            </a:custGeom>
            <a:solidFill>
              <a:srgbClr val="FF7A68">
                <a:alpha val="24706"/>
              </a:srgbClr>
            </a:solidFill>
            <a:ln cap="sq">
              <a:noFill/>
              <a:prstDash val="solid"/>
              <a:miter/>
            </a:ln>
          </p:spPr>
        </p:sp>
      </p:grpSp>
      <p:grpSp>
        <p:nvGrpSpPr>
          <p:cNvPr name="Group 34" id="34"/>
          <p:cNvGrpSpPr/>
          <p:nvPr/>
        </p:nvGrpSpPr>
        <p:grpSpPr>
          <a:xfrm rot="0">
            <a:off x="2088833" y="5096828"/>
            <a:ext cx="1318260" cy="363855"/>
            <a:chOff x="0" y="0"/>
            <a:chExt cx="1757680" cy="485140"/>
          </a:xfrm>
        </p:grpSpPr>
        <p:sp>
          <p:nvSpPr>
            <p:cNvPr name="Freeform 35" id="35"/>
            <p:cNvSpPr/>
            <p:nvPr/>
          </p:nvSpPr>
          <p:spPr>
            <a:xfrm flipH="false" flipV="false" rot="0">
              <a:off x="41979" y="-6404"/>
              <a:ext cx="1689552" cy="455585"/>
            </a:xfrm>
            <a:custGeom>
              <a:avLst/>
              <a:gdLst/>
              <a:ahLst/>
              <a:cxnLst/>
              <a:rect r="r" b="b" t="t" l="l"/>
              <a:pathLst>
                <a:path h="455585" w="1689552">
                  <a:moveTo>
                    <a:pt x="1663631" y="416614"/>
                  </a:moveTo>
                  <a:cubicBezTo>
                    <a:pt x="490151" y="426774"/>
                    <a:pt x="463481" y="439474"/>
                    <a:pt x="388551" y="440744"/>
                  </a:cubicBezTo>
                  <a:cubicBezTo>
                    <a:pt x="284411" y="443284"/>
                    <a:pt x="48191" y="482654"/>
                    <a:pt x="8821" y="421694"/>
                  </a:cubicBezTo>
                  <a:cubicBezTo>
                    <a:pt x="-28009" y="363274"/>
                    <a:pt x="57081" y="153724"/>
                    <a:pt x="142171" y="92764"/>
                  </a:cubicBezTo>
                  <a:cubicBezTo>
                    <a:pt x="237421" y="24184"/>
                    <a:pt x="401251" y="72444"/>
                    <a:pt x="579051" y="67364"/>
                  </a:cubicBezTo>
                  <a:cubicBezTo>
                    <a:pt x="857181" y="57204"/>
                    <a:pt x="1515041" y="-72336"/>
                    <a:pt x="1650931" y="57204"/>
                  </a:cubicBezTo>
                  <a:cubicBezTo>
                    <a:pt x="1729671" y="133404"/>
                    <a:pt x="1663631" y="416614"/>
                    <a:pt x="1663631" y="416614"/>
                  </a:cubicBezTo>
                </a:path>
              </a:pathLst>
            </a:custGeom>
            <a:solidFill>
              <a:srgbClr val="AEFF61">
                <a:alpha val="24706"/>
              </a:srgbClr>
            </a:solidFill>
            <a:ln cap="sq">
              <a:noFill/>
              <a:prstDash val="solid"/>
              <a:miter/>
            </a:ln>
          </p:spPr>
        </p:sp>
      </p:grpSp>
      <p:grpSp>
        <p:nvGrpSpPr>
          <p:cNvPr name="Group 36" id="36"/>
          <p:cNvGrpSpPr/>
          <p:nvPr/>
        </p:nvGrpSpPr>
        <p:grpSpPr>
          <a:xfrm rot="0">
            <a:off x="4238625" y="5095875"/>
            <a:ext cx="501015" cy="346710"/>
            <a:chOff x="0" y="0"/>
            <a:chExt cx="668020" cy="462280"/>
          </a:xfrm>
        </p:grpSpPr>
        <p:sp>
          <p:nvSpPr>
            <p:cNvPr name="Freeform 37" id="37"/>
            <p:cNvSpPr/>
            <p:nvPr/>
          </p:nvSpPr>
          <p:spPr>
            <a:xfrm flipH="false" flipV="false" rot="0">
              <a:off x="121372" y="2540"/>
              <a:ext cx="515009" cy="408940"/>
            </a:xfrm>
            <a:custGeom>
              <a:avLst/>
              <a:gdLst/>
              <a:ahLst/>
              <a:cxnLst/>
              <a:rect r="r" b="b" t="t" l="l"/>
              <a:pathLst>
                <a:path h="408940" w="515009">
                  <a:moveTo>
                    <a:pt x="464098" y="408940"/>
                  </a:moveTo>
                  <a:cubicBezTo>
                    <a:pt x="-111212" y="313690"/>
                    <a:pt x="-23582" y="105410"/>
                    <a:pt x="62778" y="48260"/>
                  </a:cubicBezTo>
                  <a:cubicBezTo>
                    <a:pt x="156758" y="-15240"/>
                    <a:pt x="432348" y="-17780"/>
                    <a:pt x="495848" y="50800"/>
                  </a:cubicBezTo>
                  <a:cubicBezTo>
                    <a:pt x="552998" y="113030"/>
                    <a:pt x="464098" y="408940"/>
                    <a:pt x="464098" y="408940"/>
                  </a:cubicBezTo>
                </a:path>
              </a:pathLst>
            </a:custGeom>
            <a:solidFill>
              <a:srgbClr val="AEFF61">
                <a:alpha val="24706"/>
              </a:srgbClr>
            </a:solidFill>
            <a:ln cap="sq">
              <a:noFill/>
              <a:prstDash val="solid"/>
              <a:miter/>
            </a:ln>
          </p:spPr>
        </p:sp>
      </p:grpSp>
      <p:grpSp>
        <p:nvGrpSpPr>
          <p:cNvPr name="Group 38" id="38"/>
          <p:cNvGrpSpPr/>
          <p:nvPr/>
        </p:nvGrpSpPr>
        <p:grpSpPr>
          <a:xfrm rot="0">
            <a:off x="5092065" y="5066347"/>
            <a:ext cx="956310" cy="390525"/>
            <a:chOff x="0" y="0"/>
            <a:chExt cx="1275080" cy="520700"/>
          </a:xfrm>
        </p:grpSpPr>
        <p:sp>
          <p:nvSpPr>
            <p:cNvPr name="Freeform 39" id="39"/>
            <p:cNvSpPr/>
            <p:nvPr/>
          </p:nvSpPr>
          <p:spPr>
            <a:xfrm flipH="false" flipV="false" rot="0">
              <a:off x="43702" y="44705"/>
              <a:ext cx="1204758" cy="423925"/>
            </a:xfrm>
            <a:custGeom>
              <a:avLst/>
              <a:gdLst/>
              <a:ahLst/>
              <a:cxnLst/>
              <a:rect r="r" b="b" t="t" l="l"/>
              <a:pathLst>
                <a:path h="423925" w="1204758">
                  <a:moveTo>
                    <a:pt x="1156448" y="423925"/>
                  </a:moveTo>
                  <a:cubicBezTo>
                    <a:pt x="380478" y="406145"/>
                    <a:pt x="337298" y="402335"/>
                    <a:pt x="266178" y="392175"/>
                  </a:cubicBezTo>
                  <a:cubicBezTo>
                    <a:pt x="186168" y="379475"/>
                    <a:pt x="37578" y="392175"/>
                    <a:pt x="7098" y="338835"/>
                  </a:cubicBezTo>
                  <a:cubicBezTo>
                    <a:pt x="-27192" y="276605"/>
                    <a:pt x="70598" y="40385"/>
                    <a:pt x="132828" y="6095"/>
                  </a:cubicBezTo>
                  <a:cubicBezTo>
                    <a:pt x="174738" y="-16765"/>
                    <a:pt x="233158" y="31495"/>
                    <a:pt x="286498" y="39115"/>
                  </a:cubicBezTo>
                  <a:cubicBezTo>
                    <a:pt x="343648" y="48005"/>
                    <a:pt x="388098" y="51815"/>
                    <a:pt x="469378" y="56895"/>
                  </a:cubicBezTo>
                  <a:cubicBezTo>
                    <a:pt x="629398" y="64515"/>
                    <a:pt x="1089138" y="-33275"/>
                    <a:pt x="1180578" y="65785"/>
                  </a:cubicBezTo>
                  <a:cubicBezTo>
                    <a:pt x="1246618" y="136905"/>
                    <a:pt x="1156448" y="423925"/>
                    <a:pt x="1156448" y="423925"/>
                  </a:cubicBezTo>
                </a:path>
              </a:pathLst>
            </a:custGeom>
            <a:solidFill>
              <a:srgbClr val="AEFF61">
                <a:alpha val="24706"/>
              </a:srgbClr>
            </a:solidFill>
            <a:ln cap="sq">
              <a:noFill/>
              <a:prstDash val="solid"/>
              <a:miter/>
            </a:ln>
          </p:spPr>
        </p:sp>
      </p:grpSp>
      <p:grpSp>
        <p:nvGrpSpPr>
          <p:cNvPr name="Group 40" id="40"/>
          <p:cNvGrpSpPr/>
          <p:nvPr/>
        </p:nvGrpSpPr>
        <p:grpSpPr>
          <a:xfrm rot="0">
            <a:off x="8670607" y="5075872"/>
            <a:ext cx="493395" cy="352425"/>
            <a:chOff x="0" y="0"/>
            <a:chExt cx="657860" cy="469900"/>
          </a:xfrm>
        </p:grpSpPr>
        <p:sp>
          <p:nvSpPr>
            <p:cNvPr name="Freeform 41" id="41"/>
            <p:cNvSpPr/>
            <p:nvPr/>
          </p:nvSpPr>
          <p:spPr>
            <a:xfrm flipH="false" flipV="false" rot="0">
              <a:off x="107950" y="34703"/>
              <a:ext cx="515070" cy="384397"/>
            </a:xfrm>
            <a:custGeom>
              <a:avLst/>
              <a:gdLst/>
              <a:ahLst/>
              <a:cxnLst/>
              <a:rect r="r" b="b" t="t" l="l"/>
              <a:pathLst>
                <a:path h="384397" w="515070">
                  <a:moveTo>
                    <a:pt x="467360" y="384397"/>
                  </a:moveTo>
                  <a:cubicBezTo>
                    <a:pt x="-101600" y="313277"/>
                    <a:pt x="77470" y="69437"/>
                    <a:pt x="54610" y="38957"/>
                  </a:cubicBezTo>
                  <a:cubicBezTo>
                    <a:pt x="45720" y="26257"/>
                    <a:pt x="0" y="41497"/>
                    <a:pt x="0" y="40227"/>
                  </a:cubicBezTo>
                  <a:cubicBezTo>
                    <a:pt x="0" y="38957"/>
                    <a:pt x="139700" y="18637"/>
                    <a:pt x="217170" y="16097"/>
                  </a:cubicBezTo>
                  <a:cubicBezTo>
                    <a:pt x="304800" y="13557"/>
                    <a:pt x="453390" y="-24543"/>
                    <a:pt x="497840" y="26257"/>
                  </a:cubicBezTo>
                  <a:cubicBezTo>
                    <a:pt x="549910" y="84677"/>
                    <a:pt x="467360" y="384397"/>
                    <a:pt x="467360" y="384397"/>
                  </a:cubicBezTo>
                </a:path>
              </a:pathLst>
            </a:custGeom>
            <a:solidFill>
              <a:srgbClr val="AEFF61">
                <a:alpha val="24706"/>
              </a:srgbClr>
            </a:solidFill>
            <a:ln cap="sq">
              <a:noFill/>
              <a:prstDash val="solid"/>
              <a:miter/>
            </a:ln>
          </p:spPr>
        </p:sp>
      </p:grpSp>
      <p:grpSp>
        <p:nvGrpSpPr>
          <p:cNvPr name="Group 42" id="42"/>
          <p:cNvGrpSpPr/>
          <p:nvPr/>
        </p:nvGrpSpPr>
        <p:grpSpPr>
          <a:xfrm rot="0">
            <a:off x="8662035" y="5320665"/>
            <a:ext cx="507682" cy="350520"/>
            <a:chOff x="0" y="0"/>
            <a:chExt cx="676910" cy="467360"/>
          </a:xfrm>
        </p:grpSpPr>
        <p:sp>
          <p:nvSpPr>
            <p:cNvPr name="Freeform 43" id="43"/>
            <p:cNvSpPr/>
            <p:nvPr/>
          </p:nvSpPr>
          <p:spPr>
            <a:xfrm flipH="false" flipV="false" rot="0">
              <a:off x="42851" y="8759"/>
              <a:ext cx="603910" cy="415023"/>
            </a:xfrm>
            <a:custGeom>
              <a:avLst/>
              <a:gdLst/>
              <a:ahLst/>
              <a:cxnLst/>
              <a:rect r="r" b="b" t="t" l="l"/>
              <a:pathLst>
                <a:path h="415023" w="603910">
                  <a:moveTo>
                    <a:pt x="583259" y="400181"/>
                  </a:moveTo>
                  <a:cubicBezTo>
                    <a:pt x="198449" y="403991"/>
                    <a:pt x="39699" y="438281"/>
                    <a:pt x="7949" y="387481"/>
                  </a:cubicBezTo>
                  <a:cubicBezTo>
                    <a:pt x="-26341" y="331601"/>
                    <a:pt x="56209" y="118241"/>
                    <a:pt x="142569" y="58551"/>
                  </a:cubicBezTo>
                  <a:cubicBezTo>
                    <a:pt x="235279" y="-7489"/>
                    <a:pt x="500709" y="-23999"/>
                    <a:pt x="571829" y="42041"/>
                  </a:cubicBezTo>
                  <a:cubicBezTo>
                    <a:pt x="636599" y="101731"/>
                    <a:pt x="583259" y="400181"/>
                    <a:pt x="583259" y="400181"/>
                  </a:cubicBezTo>
                </a:path>
              </a:pathLst>
            </a:custGeom>
            <a:solidFill>
              <a:srgbClr val="AEFF61">
                <a:alpha val="24706"/>
              </a:srgbClr>
            </a:solidFill>
            <a:ln cap="sq">
              <a:noFill/>
              <a:prstDash val="solid"/>
              <a:miter/>
            </a:ln>
          </p:spPr>
        </p:sp>
      </p:grpSp>
      <p:grpSp>
        <p:nvGrpSpPr>
          <p:cNvPr name="Group 44" id="44"/>
          <p:cNvGrpSpPr/>
          <p:nvPr/>
        </p:nvGrpSpPr>
        <p:grpSpPr>
          <a:xfrm rot="0">
            <a:off x="2690812" y="5375910"/>
            <a:ext cx="673418" cy="350520"/>
            <a:chOff x="0" y="0"/>
            <a:chExt cx="897890" cy="467360"/>
          </a:xfrm>
        </p:grpSpPr>
        <p:sp>
          <p:nvSpPr>
            <p:cNvPr name="Freeform 45" id="45"/>
            <p:cNvSpPr/>
            <p:nvPr/>
          </p:nvSpPr>
          <p:spPr>
            <a:xfrm flipH="false" flipV="false" rot="0">
              <a:off x="43602" y="17569"/>
              <a:ext cx="824856" cy="392641"/>
            </a:xfrm>
            <a:custGeom>
              <a:avLst/>
              <a:gdLst/>
              <a:ahLst/>
              <a:cxnLst/>
              <a:rect r="r" b="b" t="t" l="l"/>
              <a:pathLst>
                <a:path h="392641" w="824856">
                  <a:moveTo>
                    <a:pt x="802218" y="392641"/>
                  </a:moveTo>
                  <a:cubicBezTo>
                    <a:pt x="42758" y="336761"/>
                    <a:pt x="-28362" y="124671"/>
                    <a:pt x="7198" y="67521"/>
                  </a:cubicBezTo>
                  <a:cubicBezTo>
                    <a:pt x="37678" y="17991"/>
                    <a:pt x="176108" y="48471"/>
                    <a:pt x="281518" y="43391"/>
                  </a:cubicBezTo>
                  <a:cubicBezTo>
                    <a:pt x="425028" y="34501"/>
                    <a:pt x="712048" y="-42969"/>
                    <a:pt x="792058" y="33231"/>
                  </a:cubicBezTo>
                  <a:cubicBezTo>
                    <a:pt x="859368" y="98001"/>
                    <a:pt x="802218" y="392641"/>
                    <a:pt x="802218" y="392641"/>
                  </a:cubicBezTo>
                </a:path>
              </a:pathLst>
            </a:custGeom>
            <a:solidFill>
              <a:srgbClr val="AEFF61">
                <a:alpha val="24706"/>
              </a:srgbClr>
            </a:solidFill>
            <a:ln cap="sq">
              <a:noFill/>
              <a:prstDash val="solid"/>
              <a:miter/>
            </a:ln>
          </p:spPr>
        </p:sp>
      </p:grpSp>
      <p:grpSp>
        <p:nvGrpSpPr>
          <p:cNvPr name="Group 46" id="46"/>
          <p:cNvGrpSpPr/>
          <p:nvPr/>
        </p:nvGrpSpPr>
        <p:grpSpPr>
          <a:xfrm rot="0">
            <a:off x="4252912" y="5346382"/>
            <a:ext cx="500062" cy="347662"/>
            <a:chOff x="0" y="0"/>
            <a:chExt cx="666750" cy="463550"/>
          </a:xfrm>
        </p:grpSpPr>
        <p:sp>
          <p:nvSpPr>
            <p:cNvPr name="Freeform 47" id="47"/>
            <p:cNvSpPr/>
            <p:nvPr/>
          </p:nvSpPr>
          <p:spPr>
            <a:xfrm flipH="false" flipV="false" rot="0">
              <a:off x="120784" y="3015"/>
              <a:ext cx="513641" cy="408465"/>
            </a:xfrm>
            <a:custGeom>
              <a:avLst/>
              <a:gdLst/>
              <a:ahLst/>
              <a:cxnLst/>
              <a:rect r="r" b="b" t="t" l="l"/>
              <a:pathLst>
                <a:path h="408465" w="513641">
                  <a:moveTo>
                    <a:pt x="465956" y="408465"/>
                  </a:moveTo>
                  <a:cubicBezTo>
                    <a:pt x="-111894" y="313215"/>
                    <a:pt x="-22994" y="104935"/>
                    <a:pt x="62096" y="47785"/>
                  </a:cubicBezTo>
                  <a:cubicBezTo>
                    <a:pt x="156076" y="-14445"/>
                    <a:pt x="430396" y="-18255"/>
                    <a:pt x="493896" y="50325"/>
                  </a:cubicBezTo>
                  <a:cubicBezTo>
                    <a:pt x="551046" y="113825"/>
                    <a:pt x="465956" y="408465"/>
                    <a:pt x="465956" y="408465"/>
                  </a:cubicBezTo>
                </a:path>
              </a:pathLst>
            </a:custGeom>
            <a:solidFill>
              <a:srgbClr val="AEFF61">
                <a:alpha val="24706"/>
              </a:srgbClr>
            </a:solidFill>
            <a:ln cap="sq">
              <a:noFill/>
              <a:prstDash val="solid"/>
              <a:miter/>
            </a:ln>
          </p:spPr>
        </p:sp>
      </p:grpSp>
      <p:grpSp>
        <p:nvGrpSpPr>
          <p:cNvPr name="Group 48" id="48"/>
          <p:cNvGrpSpPr/>
          <p:nvPr/>
        </p:nvGrpSpPr>
        <p:grpSpPr>
          <a:xfrm rot="0">
            <a:off x="5271135" y="5375910"/>
            <a:ext cx="661988" cy="350520"/>
            <a:chOff x="0" y="0"/>
            <a:chExt cx="882650" cy="467360"/>
          </a:xfrm>
        </p:grpSpPr>
        <p:sp>
          <p:nvSpPr>
            <p:cNvPr name="Freeform 49" id="49"/>
            <p:cNvSpPr/>
            <p:nvPr/>
          </p:nvSpPr>
          <p:spPr>
            <a:xfrm flipH="false" flipV="false" rot="0">
              <a:off x="41885" y="-6396"/>
              <a:ext cx="811269" cy="430524"/>
            </a:xfrm>
            <a:custGeom>
              <a:avLst/>
              <a:gdLst/>
              <a:ahLst/>
              <a:cxnLst/>
              <a:rect r="r" b="b" t="t" l="l"/>
              <a:pathLst>
                <a:path h="430524" w="811269">
                  <a:moveTo>
                    <a:pt x="788695" y="416606"/>
                  </a:moveTo>
                  <a:cubicBezTo>
                    <a:pt x="186715" y="419146"/>
                    <a:pt x="39395" y="453436"/>
                    <a:pt x="8915" y="403906"/>
                  </a:cubicBezTo>
                  <a:cubicBezTo>
                    <a:pt x="-26645" y="348026"/>
                    <a:pt x="49555" y="138476"/>
                    <a:pt x="142265" y="73706"/>
                  </a:cubicBezTo>
                  <a:cubicBezTo>
                    <a:pt x="266725" y="-11384"/>
                    <a:pt x="682015" y="-30434"/>
                    <a:pt x="775995" y="57196"/>
                  </a:cubicBezTo>
                  <a:cubicBezTo>
                    <a:pt x="847115" y="124506"/>
                    <a:pt x="788695" y="416606"/>
                    <a:pt x="788695" y="416606"/>
                  </a:cubicBezTo>
                </a:path>
              </a:pathLst>
            </a:custGeom>
            <a:solidFill>
              <a:srgbClr val="AEFF61">
                <a:alpha val="24706"/>
              </a:srgbClr>
            </a:solidFill>
            <a:ln cap="sq">
              <a:noFill/>
              <a:prstDash val="solid"/>
              <a:miter/>
            </a:ln>
          </p:spPr>
        </p:sp>
      </p:grpSp>
      <p:grpSp>
        <p:nvGrpSpPr>
          <p:cNvPr name="Group 50" id="50"/>
          <p:cNvGrpSpPr/>
          <p:nvPr/>
        </p:nvGrpSpPr>
        <p:grpSpPr>
          <a:xfrm rot="0">
            <a:off x="6883718" y="5352097"/>
            <a:ext cx="564832" cy="345758"/>
            <a:chOff x="0" y="0"/>
            <a:chExt cx="753110" cy="461010"/>
          </a:xfrm>
        </p:grpSpPr>
        <p:sp>
          <p:nvSpPr>
            <p:cNvPr name="Freeform 51" id="51"/>
            <p:cNvSpPr/>
            <p:nvPr/>
          </p:nvSpPr>
          <p:spPr>
            <a:xfrm flipH="false" flipV="false" rot="0">
              <a:off x="22953" y="-16372"/>
              <a:ext cx="709837" cy="426582"/>
            </a:xfrm>
            <a:custGeom>
              <a:avLst/>
              <a:gdLst/>
              <a:ahLst/>
              <a:cxnLst/>
              <a:rect r="r" b="b" t="t" l="l"/>
              <a:pathLst>
                <a:path h="426582" w="709837">
                  <a:moveTo>
                    <a:pt x="679357" y="426582"/>
                  </a:moveTo>
                  <a:cubicBezTo>
                    <a:pt x="-39463" y="359272"/>
                    <a:pt x="-39463" y="139562"/>
                    <a:pt x="27847" y="70982"/>
                  </a:cubicBezTo>
                  <a:cubicBezTo>
                    <a:pt x="120557" y="-21728"/>
                    <a:pt x="586647" y="-24268"/>
                    <a:pt x="679357" y="67172"/>
                  </a:cubicBezTo>
                  <a:cubicBezTo>
                    <a:pt x="747937" y="135752"/>
                    <a:pt x="679357" y="426582"/>
                    <a:pt x="679357" y="426582"/>
                  </a:cubicBezTo>
                </a:path>
              </a:pathLst>
            </a:custGeom>
            <a:solidFill>
              <a:srgbClr val="AEFF61">
                <a:alpha val="24706"/>
              </a:srgbClr>
            </a:solidFill>
            <a:ln cap="sq">
              <a:noFill/>
              <a:prstDash val="solid"/>
              <a:miter/>
            </a:ln>
          </p:spPr>
        </p:sp>
      </p:grpSp>
      <p:grpSp>
        <p:nvGrpSpPr>
          <p:cNvPr name="Group 52" id="52"/>
          <p:cNvGrpSpPr/>
          <p:nvPr/>
        </p:nvGrpSpPr>
        <p:grpSpPr>
          <a:xfrm rot="0">
            <a:off x="6939915" y="5073015"/>
            <a:ext cx="467678" cy="345758"/>
            <a:chOff x="0" y="0"/>
            <a:chExt cx="623570" cy="461010"/>
          </a:xfrm>
        </p:grpSpPr>
        <p:sp>
          <p:nvSpPr>
            <p:cNvPr name="Freeform 53" id="53"/>
            <p:cNvSpPr/>
            <p:nvPr/>
          </p:nvSpPr>
          <p:spPr>
            <a:xfrm flipH="false" flipV="false" rot="0">
              <a:off x="22503" y="-5898"/>
              <a:ext cx="578348" cy="416108"/>
            </a:xfrm>
            <a:custGeom>
              <a:avLst/>
              <a:gdLst/>
              <a:ahLst/>
              <a:cxnLst/>
              <a:rect r="r" b="b" t="t" l="l"/>
              <a:pathLst>
                <a:path h="416108" w="578348">
                  <a:moveTo>
                    <a:pt x="548997" y="416108"/>
                  </a:moveTo>
                  <a:cubicBezTo>
                    <a:pt x="-36473" y="351338"/>
                    <a:pt x="-36473" y="126548"/>
                    <a:pt x="28297" y="60508"/>
                  </a:cubicBezTo>
                  <a:cubicBezTo>
                    <a:pt x="107037" y="-18232"/>
                    <a:pt x="470257" y="-20772"/>
                    <a:pt x="548997" y="56698"/>
                  </a:cubicBezTo>
                  <a:cubicBezTo>
                    <a:pt x="615037" y="122738"/>
                    <a:pt x="548997" y="416108"/>
                    <a:pt x="548997" y="416108"/>
                  </a:cubicBezTo>
                </a:path>
              </a:pathLst>
            </a:custGeom>
            <a:solidFill>
              <a:srgbClr val="AEFF61">
                <a:alpha val="24706"/>
              </a:srgbClr>
            </a:solidFill>
            <a:ln cap="sq">
              <a:noFill/>
              <a:prstDash val="solid"/>
              <a:miter/>
            </a:ln>
          </p:spPr>
        </p:sp>
      </p:grpSp>
      <p:grpSp>
        <p:nvGrpSpPr>
          <p:cNvPr name="Group 54" id="54"/>
          <p:cNvGrpSpPr/>
          <p:nvPr/>
        </p:nvGrpSpPr>
        <p:grpSpPr>
          <a:xfrm rot="0">
            <a:off x="8596312" y="5691188"/>
            <a:ext cx="548640" cy="363855"/>
            <a:chOff x="0" y="0"/>
            <a:chExt cx="731520" cy="485140"/>
          </a:xfrm>
        </p:grpSpPr>
        <p:sp>
          <p:nvSpPr>
            <p:cNvPr name="Freeform 55" id="55"/>
            <p:cNvSpPr/>
            <p:nvPr/>
          </p:nvSpPr>
          <p:spPr>
            <a:xfrm flipH="false" flipV="false" rot="0">
              <a:off x="48035" y="40598"/>
              <a:ext cx="651802" cy="392472"/>
            </a:xfrm>
            <a:custGeom>
              <a:avLst/>
              <a:gdLst/>
              <a:ahLst/>
              <a:cxnLst/>
              <a:rect r="r" b="b" t="t" l="l"/>
              <a:pathLst>
                <a:path h="392472" w="651802">
                  <a:moveTo>
                    <a:pt x="613635" y="392472"/>
                  </a:moveTo>
                  <a:cubicBezTo>
                    <a:pt x="273275" y="351832"/>
                    <a:pt x="241525" y="354372"/>
                    <a:pt x="200885" y="325162"/>
                  </a:cubicBezTo>
                  <a:cubicBezTo>
                    <a:pt x="133575" y="275632"/>
                    <a:pt x="-22635" y="81322"/>
                    <a:pt x="2765" y="30522"/>
                  </a:cubicBezTo>
                  <a:cubicBezTo>
                    <a:pt x="26895" y="-20278"/>
                    <a:pt x="221205" y="8932"/>
                    <a:pt x="329155" y="10202"/>
                  </a:cubicBezTo>
                  <a:cubicBezTo>
                    <a:pt x="432025" y="10202"/>
                    <a:pt x="581885" y="-24088"/>
                    <a:pt x="631415" y="33062"/>
                  </a:cubicBezTo>
                  <a:cubicBezTo>
                    <a:pt x="686025" y="95292"/>
                    <a:pt x="613635" y="392472"/>
                    <a:pt x="613635" y="392472"/>
                  </a:cubicBezTo>
                </a:path>
              </a:pathLst>
            </a:custGeom>
            <a:solidFill>
              <a:srgbClr val="FF7A68">
                <a:alpha val="24706"/>
              </a:srgbClr>
            </a:solidFill>
            <a:ln cap="sq">
              <a:noFill/>
              <a:prstDash val="solid"/>
              <a:miter/>
            </a:ln>
          </p:spPr>
        </p:sp>
      </p:grpSp>
      <p:grpSp>
        <p:nvGrpSpPr>
          <p:cNvPr name="Group 56" id="56"/>
          <p:cNvGrpSpPr/>
          <p:nvPr/>
        </p:nvGrpSpPr>
        <p:grpSpPr>
          <a:xfrm rot="0">
            <a:off x="2943225" y="5969318"/>
            <a:ext cx="508635" cy="350520"/>
            <a:chOff x="0" y="0"/>
            <a:chExt cx="678180" cy="467360"/>
          </a:xfrm>
        </p:grpSpPr>
        <p:sp>
          <p:nvSpPr>
            <p:cNvPr name="Freeform 57" id="57"/>
            <p:cNvSpPr/>
            <p:nvPr/>
          </p:nvSpPr>
          <p:spPr>
            <a:xfrm flipH="false" flipV="false" rot="0">
              <a:off x="48409" y="31469"/>
              <a:ext cx="597380" cy="383821"/>
            </a:xfrm>
            <a:custGeom>
              <a:avLst/>
              <a:gdLst/>
              <a:ahLst/>
              <a:cxnLst/>
              <a:rect r="r" b="b" t="t" l="l"/>
              <a:pathLst>
                <a:path h="383821" w="597380">
                  <a:moveTo>
                    <a:pt x="556111" y="383821"/>
                  </a:moveTo>
                  <a:cubicBezTo>
                    <a:pt x="248771" y="369851"/>
                    <a:pt x="230991" y="373661"/>
                    <a:pt x="201781" y="353341"/>
                  </a:cubicBezTo>
                  <a:cubicBezTo>
                    <a:pt x="143361" y="311431"/>
                    <a:pt x="-21739" y="113311"/>
                    <a:pt x="2391" y="58701"/>
                  </a:cubicBezTo>
                  <a:cubicBezTo>
                    <a:pt x="25251" y="9171"/>
                    <a:pt x="204321" y="24411"/>
                    <a:pt x="302111" y="19331"/>
                  </a:cubicBezTo>
                  <a:cubicBezTo>
                    <a:pt x="396091" y="14251"/>
                    <a:pt x="533251" y="-25119"/>
                    <a:pt x="578971" y="25681"/>
                  </a:cubicBezTo>
                  <a:cubicBezTo>
                    <a:pt x="631041" y="82831"/>
                    <a:pt x="556111" y="383821"/>
                    <a:pt x="556111" y="383821"/>
                  </a:cubicBezTo>
                </a:path>
              </a:pathLst>
            </a:custGeom>
            <a:solidFill>
              <a:srgbClr val="AEFF61">
                <a:alpha val="24706"/>
              </a:srgbClr>
            </a:solidFill>
            <a:ln cap="sq">
              <a:noFill/>
              <a:prstDash val="solid"/>
              <a:miter/>
            </a:ln>
          </p:spPr>
        </p:sp>
      </p:grpSp>
      <p:grpSp>
        <p:nvGrpSpPr>
          <p:cNvPr name="Group 58" id="58"/>
          <p:cNvGrpSpPr/>
          <p:nvPr/>
        </p:nvGrpSpPr>
        <p:grpSpPr>
          <a:xfrm rot="0">
            <a:off x="4241482" y="5996940"/>
            <a:ext cx="465772" cy="350520"/>
            <a:chOff x="0" y="0"/>
            <a:chExt cx="621030" cy="467360"/>
          </a:xfrm>
        </p:grpSpPr>
        <p:sp>
          <p:nvSpPr>
            <p:cNvPr name="Freeform 59" id="59"/>
            <p:cNvSpPr/>
            <p:nvPr/>
          </p:nvSpPr>
          <p:spPr>
            <a:xfrm flipH="false" flipV="false" rot="0">
              <a:off x="48605" y="31675"/>
              <a:ext cx="540464" cy="383615"/>
            </a:xfrm>
            <a:custGeom>
              <a:avLst/>
              <a:gdLst/>
              <a:ahLst/>
              <a:cxnLst/>
              <a:rect r="r" b="b" t="t" l="l"/>
              <a:pathLst>
                <a:path h="383615" w="540464">
                  <a:moveTo>
                    <a:pt x="501305" y="383615"/>
                  </a:moveTo>
                  <a:cubicBezTo>
                    <a:pt x="134275" y="325195"/>
                    <a:pt x="-20665" y="115645"/>
                    <a:pt x="2195" y="59765"/>
                  </a:cubicBezTo>
                  <a:cubicBezTo>
                    <a:pt x="21245" y="14045"/>
                    <a:pt x="162215" y="25475"/>
                    <a:pt x="246035" y="19125"/>
                  </a:cubicBezTo>
                  <a:cubicBezTo>
                    <a:pt x="334935" y="12775"/>
                    <a:pt x="474635" y="-24055"/>
                    <a:pt x="521625" y="25475"/>
                  </a:cubicBezTo>
                  <a:cubicBezTo>
                    <a:pt x="573695" y="82625"/>
                    <a:pt x="501305" y="383615"/>
                    <a:pt x="501305" y="383615"/>
                  </a:cubicBezTo>
                </a:path>
              </a:pathLst>
            </a:custGeom>
            <a:solidFill>
              <a:srgbClr val="AEFF61">
                <a:alpha val="24706"/>
              </a:srgbClr>
            </a:solidFill>
            <a:ln cap="sq">
              <a:noFill/>
              <a:prstDash val="solid"/>
              <a:miter/>
            </a:ln>
          </p:spPr>
        </p:sp>
      </p:grpSp>
      <p:grpSp>
        <p:nvGrpSpPr>
          <p:cNvPr name="Group 60" id="60"/>
          <p:cNvGrpSpPr/>
          <p:nvPr/>
        </p:nvGrpSpPr>
        <p:grpSpPr>
          <a:xfrm rot="0">
            <a:off x="5260658" y="6234112"/>
            <a:ext cx="723900" cy="360997"/>
            <a:chOff x="0" y="0"/>
            <a:chExt cx="965200" cy="481330"/>
          </a:xfrm>
        </p:grpSpPr>
        <p:sp>
          <p:nvSpPr>
            <p:cNvPr name="Freeform 61" id="61"/>
            <p:cNvSpPr/>
            <p:nvPr/>
          </p:nvSpPr>
          <p:spPr>
            <a:xfrm flipH="false" flipV="false" rot="0">
              <a:off x="47850" y="47781"/>
              <a:ext cx="875197" cy="382750"/>
            </a:xfrm>
            <a:custGeom>
              <a:avLst/>
              <a:gdLst/>
              <a:ahLst/>
              <a:cxnLst/>
              <a:rect r="r" b="b" t="t" l="l"/>
              <a:pathLst>
                <a:path h="382750" w="875197">
                  <a:moveTo>
                    <a:pt x="790350" y="382749"/>
                  </a:moveTo>
                  <a:cubicBezTo>
                    <a:pt x="447450" y="358619"/>
                    <a:pt x="362360" y="378939"/>
                    <a:pt x="302670" y="376399"/>
                  </a:cubicBezTo>
                  <a:cubicBezTo>
                    <a:pt x="262030" y="373859"/>
                    <a:pt x="236630" y="378939"/>
                    <a:pt x="201070" y="356079"/>
                  </a:cubicBezTo>
                  <a:cubicBezTo>
                    <a:pt x="137570" y="314169"/>
                    <a:pt x="-23720" y="121129"/>
                    <a:pt x="2950" y="61439"/>
                  </a:cubicBezTo>
                  <a:cubicBezTo>
                    <a:pt x="30890" y="-3331"/>
                    <a:pt x="303940" y="10639"/>
                    <a:pt x="414430" y="3019"/>
                  </a:cubicBezTo>
                  <a:cubicBezTo>
                    <a:pt x="489360" y="-2061"/>
                    <a:pt x="533810" y="479"/>
                    <a:pt x="601120" y="3019"/>
                  </a:cubicBezTo>
                  <a:cubicBezTo>
                    <a:pt x="681130" y="8099"/>
                    <a:pt x="828450" y="-19841"/>
                    <a:pt x="865280" y="32229"/>
                  </a:cubicBezTo>
                  <a:cubicBezTo>
                    <a:pt x="909730" y="91919"/>
                    <a:pt x="790350" y="382749"/>
                    <a:pt x="790350" y="382749"/>
                  </a:cubicBezTo>
                </a:path>
              </a:pathLst>
            </a:custGeom>
            <a:solidFill>
              <a:srgbClr val="AEFF61">
                <a:alpha val="24706"/>
              </a:srgbClr>
            </a:solidFill>
            <a:ln cap="sq">
              <a:noFill/>
              <a:prstDash val="solid"/>
              <a:miter/>
            </a:ln>
          </p:spPr>
        </p:sp>
      </p:grpSp>
      <p:grpSp>
        <p:nvGrpSpPr>
          <p:cNvPr name="Group 62" id="62"/>
          <p:cNvGrpSpPr/>
          <p:nvPr/>
        </p:nvGrpSpPr>
        <p:grpSpPr>
          <a:xfrm rot="0">
            <a:off x="2542222" y="6234112"/>
            <a:ext cx="894398" cy="350520"/>
            <a:chOff x="0" y="0"/>
            <a:chExt cx="1192530" cy="467360"/>
          </a:xfrm>
        </p:grpSpPr>
        <p:sp>
          <p:nvSpPr>
            <p:cNvPr name="Freeform 63" id="63"/>
            <p:cNvSpPr/>
            <p:nvPr/>
          </p:nvSpPr>
          <p:spPr>
            <a:xfrm flipH="false" flipV="false" rot="0">
              <a:off x="48996" y="327"/>
              <a:ext cx="1118739" cy="416233"/>
            </a:xfrm>
            <a:custGeom>
              <a:avLst/>
              <a:gdLst/>
              <a:ahLst/>
              <a:cxnLst/>
              <a:rect r="r" b="b" t="t" l="l"/>
              <a:pathLst>
                <a:path h="416233" w="1118739">
                  <a:moveTo>
                    <a:pt x="1074954" y="416233"/>
                  </a:moveTo>
                  <a:cubicBezTo>
                    <a:pt x="151664" y="400993"/>
                    <a:pt x="188494" y="402263"/>
                    <a:pt x="192304" y="388293"/>
                  </a:cubicBezTo>
                  <a:cubicBezTo>
                    <a:pt x="203734" y="348923"/>
                    <a:pt x="-22326" y="140643"/>
                    <a:pt x="1804" y="88573"/>
                  </a:cubicBezTo>
                  <a:cubicBezTo>
                    <a:pt x="19584" y="47933"/>
                    <a:pt x="116104" y="59363"/>
                    <a:pt x="211354" y="50473"/>
                  </a:cubicBezTo>
                  <a:cubicBezTo>
                    <a:pt x="403124" y="35233"/>
                    <a:pt x="982244" y="-58747"/>
                    <a:pt x="1091464" y="56823"/>
                  </a:cubicBezTo>
                  <a:cubicBezTo>
                    <a:pt x="1161314" y="130483"/>
                    <a:pt x="1074954" y="416233"/>
                    <a:pt x="1074954" y="416233"/>
                  </a:cubicBezTo>
                </a:path>
              </a:pathLst>
            </a:custGeom>
            <a:solidFill>
              <a:srgbClr val="AEFF61">
                <a:alpha val="24706"/>
              </a:srgbClr>
            </a:solidFill>
            <a:ln cap="sq">
              <a:noFill/>
              <a:prstDash val="solid"/>
              <a:miter/>
            </a:ln>
          </p:spPr>
        </p:sp>
      </p:grpSp>
      <p:grpSp>
        <p:nvGrpSpPr>
          <p:cNvPr name="Group 64" id="64"/>
          <p:cNvGrpSpPr/>
          <p:nvPr/>
        </p:nvGrpSpPr>
        <p:grpSpPr>
          <a:xfrm rot="0">
            <a:off x="2831783" y="7658100"/>
            <a:ext cx="632460" cy="350520"/>
            <a:chOff x="0" y="0"/>
            <a:chExt cx="843280" cy="467360"/>
          </a:xfrm>
        </p:grpSpPr>
        <p:sp>
          <p:nvSpPr>
            <p:cNvPr name="Freeform 65" id="65"/>
            <p:cNvSpPr/>
            <p:nvPr/>
          </p:nvSpPr>
          <p:spPr>
            <a:xfrm flipH="false" flipV="false" rot="0">
              <a:off x="48754" y="19531"/>
              <a:ext cx="766870" cy="395759"/>
            </a:xfrm>
            <a:custGeom>
              <a:avLst/>
              <a:gdLst/>
              <a:ahLst/>
              <a:cxnLst/>
              <a:rect r="r" b="b" t="t" l="l"/>
              <a:pathLst>
                <a:path h="395759" w="766870">
                  <a:moveTo>
                    <a:pt x="725946" y="395759"/>
                  </a:moveTo>
                  <a:cubicBezTo>
                    <a:pt x="221756" y="380519"/>
                    <a:pt x="219216" y="380519"/>
                    <a:pt x="201436" y="365279"/>
                  </a:cubicBezTo>
                  <a:cubicBezTo>
                    <a:pt x="154446" y="324639"/>
                    <a:pt x="-20814" y="125249"/>
                    <a:pt x="2046" y="70639"/>
                  </a:cubicBezTo>
                  <a:cubicBezTo>
                    <a:pt x="22366" y="24919"/>
                    <a:pt x="163336" y="37619"/>
                    <a:pt x="264936" y="31269"/>
                  </a:cubicBezTo>
                  <a:cubicBezTo>
                    <a:pt x="400826" y="21109"/>
                    <a:pt x="672606" y="-37311"/>
                    <a:pt x="743726" y="37619"/>
                  </a:cubicBezTo>
                  <a:cubicBezTo>
                    <a:pt x="804686" y="102389"/>
                    <a:pt x="725946" y="395759"/>
                    <a:pt x="725946" y="395759"/>
                  </a:cubicBezTo>
                </a:path>
              </a:pathLst>
            </a:custGeom>
            <a:solidFill>
              <a:srgbClr val="AEFF61">
                <a:alpha val="24706"/>
              </a:srgbClr>
            </a:solidFill>
            <a:ln cap="sq">
              <a:noFill/>
              <a:prstDash val="solid"/>
              <a:miter/>
            </a:ln>
          </p:spPr>
        </p:sp>
      </p:grpSp>
      <p:grpSp>
        <p:nvGrpSpPr>
          <p:cNvPr name="Group 66" id="66"/>
          <p:cNvGrpSpPr/>
          <p:nvPr/>
        </p:nvGrpSpPr>
        <p:grpSpPr>
          <a:xfrm rot="0">
            <a:off x="5246370" y="7658100"/>
            <a:ext cx="785812" cy="350520"/>
            <a:chOff x="0" y="0"/>
            <a:chExt cx="1047750" cy="467360"/>
          </a:xfrm>
        </p:grpSpPr>
        <p:sp>
          <p:nvSpPr>
            <p:cNvPr name="Freeform 67" id="67"/>
            <p:cNvSpPr/>
            <p:nvPr/>
          </p:nvSpPr>
          <p:spPr>
            <a:xfrm flipH="false" flipV="false" rot="0">
              <a:off x="48741" y="7925"/>
              <a:ext cx="973102" cy="407365"/>
            </a:xfrm>
            <a:custGeom>
              <a:avLst/>
              <a:gdLst/>
              <a:ahLst/>
              <a:cxnLst/>
              <a:rect r="r" b="b" t="t" l="l"/>
              <a:pathLst>
                <a:path h="407365" w="973102">
                  <a:moveTo>
                    <a:pt x="930429" y="407365"/>
                  </a:moveTo>
                  <a:cubicBezTo>
                    <a:pt x="221769" y="392125"/>
                    <a:pt x="219229" y="392125"/>
                    <a:pt x="201449" y="376885"/>
                  </a:cubicBezTo>
                  <a:cubicBezTo>
                    <a:pt x="153189" y="336245"/>
                    <a:pt x="-20801" y="135585"/>
                    <a:pt x="2059" y="82245"/>
                  </a:cubicBezTo>
                  <a:cubicBezTo>
                    <a:pt x="21109" y="37795"/>
                    <a:pt x="144299" y="50495"/>
                    <a:pt x="247169" y="42875"/>
                  </a:cubicBezTo>
                  <a:cubicBezTo>
                    <a:pt x="419889" y="28905"/>
                    <a:pt x="854229" y="-49835"/>
                    <a:pt x="946939" y="49225"/>
                  </a:cubicBezTo>
                  <a:cubicBezTo>
                    <a:pt x="1014249" y="119075"/>
                    <a:pt x="930429" y="407365"/>
                    <a:pt x="930429" y="407365"/>
                  </a:cubicBezTo>
                </a:path>
              </a:pathLst>
            </a:custGeom>
            <a:solidFill>
              <a:srgbClr val="AEFF61">
                <a:alpha val="24706"/>
              </a:srgbClr>
            </a:solidFill>
            <a:ln cap="sq">
              <a:noFill/>
              <a:prstDash val="solid"/>
              <a:miter/>
            </a:ln>
          </p:spPr>
        </p:sp>
      </p:grpSp>
      <p:grpSp>
        <p:nvGrpSpPr>
          <p:cNvPr name="Group 68" id="68"/>
          <p:cNvGrpSpPr/>
          <p:nvPr/>
        </p:nvGrpSpPr>
        <p:grpSpPr>
          <a:xfrm rot="0">
            <a:off x="6921818" y="6276022"/>
            <a:ext cx="534352" cy="350520"/>
            <a:chOff x="0" y="0"/>
            <a:chExt cx="712470" cy="467360"/>
          </a:xfrm>
        </p:grpSpPr>
        <p:sp>
          <p:nvSpPr>
            <p:cNvPr name="Freeform 69" id="69"/>
            <p:cNvSpPr/>
            <p:nvPr/>
          </p:nvSpPr>
          <p:spPr>
            <a:xfrm flipH="false" flipV="false" rot="0">
              <a:off x="48054" y="30357"/>
              <a:ext cx="632733" cy="384933"/>
            </a:xfrm>
            <a:custGeom>
              <a:avLst/>
              <a:gdLst/>
              <a:ahLst/>
              <a:cxnLst/>
              <a:rect r="r" b="b" t="t" l="l"/>
              <a:pathLst>
                <a:path h="384933" w="632733">
                  <a:moveTo>
                    <a:pt x="594566" y="384933"/>
                  </a:moveTo>
                  <a:cubicBezTo>
                    <a:pt x="264366" y="370963"/>
                    <a:pt x="236426" y="379853"/>
                    <a:pt x="200866" y="355723"/>
                  </a:cubicBezTo>
                  <a:cubicBezTo>
                    <a:pt x="134826" y="312543"/>
                    <a:pt x="-22654" y="115693"/>
                    <a:pt x="2746" y="59813"/>
                  </a:cubicBezTo>
                  <a:cubicBezTo>
                    <a:pt x="25606" y="9013"/>
                    <a:pt x="207216" y="26793"/>
                    <a:pt x="310086" y="20443"/>
                  </a:cubicBezTo>
                  <a:cubicBezTo>
                    <a:pt x="410416" y="15363"/>
                    <a:pt x="562816" y="-26547"/>
                    <a:pt x="612346" y="26793"/>
                  </a:cubicBezTo>
                  <a:cubicBezTo>
                    <a:pt x="666956" y="85213"/>
                    <a:pt x="594566" y="384933"/>
                    <a:pt x="594566" y="384933"/>
                  </a:cubicBezTo>
                </a:path>
              </a:pathLst>
            </a:custGeom>
            <a:solidFill>
              <a:srgbClr val="AEFF61">
                <a:alpha val="24706"/>
              </a:srgbClr>
            </a:solidFill>
            <a:ln cap="sq">
              <a:noFill/>
              <a:prstDash val="solid"/>
              <a:miter/>
            </a:ln>
          </p:spPr>
        </p:sp>
      </p:grpSp>
      <p:grpSp>
        <p:nvGrpSpPr>
          <p:cNvPr name="Group 70" id="70"/>
          <p:cNvGrpSpPr/>
          <p:nvPr/>
        </p:nvGrpSpPr>
        <p:grpSpPr>
          <a:xfrm rot="0">
            <a:off x="6754178" y="5927408"/>
            <a:ext cx="722948" cy="389572"/>
            <a:chOff x="0" y="0"/>
            <a:chExt cx="963930" cy="519430"/>
          </a:xfrm>
        </p:grpSpPr>
        <p:sp>
          <p:nvSpPr>
            <p:cNvPr name="Freeform 71" id="71"/>
            <p:cNvSpPr/>
            <p:nvPr/>
          </p:nvSpPr>
          <p:spPr>
            <a:xfrm flipH="false" flipV="false" rot="0">
              <a:off x="48425" y="49010"/>
              <a:ext cx="874830" cy="418350"/>
            </a:xfrm>
            <a:custGeom>
              <a:avLst/>
              <a:gdLst/>
              <a:ahLst/>
              <a:cxnLst/>
              <a:rect r="r" b="b" t="t" l="l"/>
              <a:pathLst>
                <a:path h="418350" w="874830">
                  <a:moveTo>
                    <a:pt x="791045" y="418350"/>
                  </a:moveTo>
                  <a:cubicBezTo>
                    <a:pt x="383375" y="354850"/>
                    <a:pt x="316065" y="365010"/>
                    <a:pt x="269075" y="357390"/>
                  </a:cubicBezTo>
                  <a:cubicBezTo>
                    <a:pt x="239865" y="352310"/>
                    <a:pt x="225895" y="354850"/>
                    <a:pt x="200495" y="337070"/>
                  </a:cubicBezTo>
                  <a:cubicBezTo>
                    <a:pt x="144615" y="295160"/>
                    <a:pt x="-21755" y="95770"/>
                    <a:pt x="2375" y="41160"/>
                  </a:cubicBezTo>
                  <a:cubicBezTo>
                    <a:pt x="25235" y="-8370"/>
                    <a:pt x="209385" y="6870"/>
                    <a:pt x="297015" y="1790"/>
                  </a:cubicBezTo>
                  <a:cubicBezTo>
                    <a:pt x="366865" y="-2020"/>
                    <a:pt x="413855" y="520"/>
                    <a:pt x="487515" y="6870"/>
                  </a:cubicBezTo>
                  <a:cubicBezTo>
                    <a:pt x="591655" y="17030"/>
                    <a:pt x="815175" y="-4560"/>
                    <a:pt x="863435" y="66560"/>
                  </a:cubicBezTo>
                  <a:cubicBezTo>
                    <a:pt x="911695" y="136410"/>
                    <a:pt x="791045" y="418350"/>
                    <a:pt x="791045" y="418350"/>
                  </a:cubicBezTo>
                </a:path>
              </a:pathLst>
            </a:custGeom>
            <a:solidFill>
              <a:srgbClr val="AEFF61">
                <a:alpha val="24706"/>
              </a:srgbClr>
            </a:solidFill>
            <a:ln cap="sq">
              <a:noFill/>
              <a:prstDash val="solid"/>
              <a:miter/>
            </a:ln>
          </p:spPr>
        </p:sp>
      </p:grpSp>
      <p:grpSp>
        <p:nvGrpSpPr>
          <p:cNvPr name="Group 72" id="72"/>
          <p:cNvGrpSpPr/>
          <p:nvPr/>
        </p:nvGrpSpPr>
        <p:grpSpPr>
          <a:xfrm rot="0">
            <a:off x="8627745" y="7685722"/>
            <a:ext cx="475297" cy="350520"/>
            <a:chOff x="0" y="0"/>
            <a:chExt cx="633730" cy="467360"/>
          </a:xfrm>
        </p:grpSpPr>
        <p:sp>
          <p:nvSpPr>
            <p:cNvPr name="Freeform 73" id="73"/>
            <p:cNvSpPr/>
            <p:nvPr/>
          </p:nvSpPr>
          <p:spPr>
            <a:xfrm flipH="false" flipV="false" rot="0">
              <a:off x="50732" y="25123"/>
              <a:ext cx="551582" cy="390167"/>
            </a:xfrm>
            <a:custGeom>
              <a:avLst/>
              <a:gdLst/>
              <a:ahLst/>
              <a:cxnLst/>
              <a:rect r="r" b="b" t="t" l="l"/>
              <a:pathLst>
                <a:path h="390167" w="551582">
                  <a:moveTo>
                    <a:pt x="511878" y="390167"/>
                  </a:moveTo>
                  <a:cubicBezTo>
                    <a:pt x="213428" y="362227"/>
                    <a:pt x="341698" y="317777"/>
                    <a:pt x="336618" y="288567"/>
                  </a:cubicBezTo>
                  <a:cubicBezTo>
                    <a:pt x="328998" y="245387"/>
                    <a:pt x="6418" y="221257"/>
                    <a:pt x="68" y="174267"/>
                  </a:cubicBezTo>
                  <a:cubicBezTo>
                    <a:pt x="-3742" y="132357"/>
                    <a:pt x="152468" y="49807"/>
                    <a:pt x="240098" y="25677"/>
                  </a:cubicBezTo>
                  <a:cubicBezTo>
                    <a:pt x="328998" y="1547"/>
                    <a:pt x="483938" y="-20043"/>
                    <a:pt x="532198" y="32027"/>
                  </a:cubicBezTo>
                  <a:cubicBezTo>
                    <a:pt x="585538" y="89177"/>
                    <a:pt x="511878" y="390167"/>
                    <a:pt x="511878" y="390167"/>
                  </a:cubicBezTo>
                </a:path>
              </a:pathLst>
            </a:custGeom>
            <a:solidFill>
              <a:srgbClr val="AEFF61">
                <a:alpha val="24706"/>
              </a:srgbClr>
            </a:solidFill>
            <a:ln cap="sq">
              <a:noFill/>
              <a:prstDash val="solid"/>
              <a:miter/>
            </a:ln>
          </p:spPr>
        </p:sp>
      </p:grpSp>
      <p:grpSp>
        <p:nvGrpSpPr>
          <p:cNvPr name="Group 74" id="74"/>
          <p:cNvGrpSpPr/>
          <p:nvPr/>
        </p:nvGrpSpPr>
        <p:grpSpPr>
          <a:xfrm rot="0">
            <a:off x="11917680" y="7701915"/>
            <a:ext cx="521970" cy="361950"/>
            <a:chOff x="0" y="0"/>
            <a:chExt cx="695960" cy="482600"/>
          </a:xfrm>
        </p:grpSpPr>
        <p:sp>
          <p:nvSpPr>
            <p:cNvPr name="Freeform 75" id="75"/>
            <p:cNvSpPr/>
            <p:nvPr/>
          </p:nvSpPr>
          <p:spPr>
            <a:xfrm flipH="false" flipV="false" rot="0">
              <a:off x="48147" y="41828"/>
              <a:ext cx="615127" cy="389972"/>
            </a:xfrm>
            <a:custGeom>
              <a:avLst/>
              <a:gdLst/>
              <a:ahLst/>
              <a:cxnLst/>
              <a:rect r="r" b="b" t="t" l="l"/>
              <a:pathLst>
                <a:path h="389972" w="615127">
                  <a:moveTo>
                    <a:pt x="575423" y="389972"/>
                  </a:moveTo>
                  <a:cubicBezTo>
                    <a:pt x="250303" y="349332"/>
                    <a:pt x="232523" y="346792"/>
                    <a:pt x="202043" y="321392"/>
                  </a:cubicBezTo>
                  <a:cubicBezTo>
                    <a:pt x="141083" y="273132"/>
                    <a:pt x="-22747" y="78822"/>
                    <a:pt x="2653" y="26752"/>
                  </a:cubicBezTo>
                  <a:cubicBezTo>
                    <a:pt x="25513" y="-20238"/>
                    <a:pt x="213473" y="8972"/>
                    <a:pt x="315073" y="8972"/>
                  </a:cubicBezTo>
                  <a:cubicBezTo>
                    <a:pt x="410323" y="10242"/>
                    <a:pt x="548753" y="-22778"/>
                    <a:pt x="595743" y="30562"/>
                  </a:cubicBezTo>
                  <a:cubicBezTo>
                    <a:pt x="649083" y="91522"/>
                    <a:pt x="575423" y="389972"/>
                    <a:pt x="575423" y="389972"/>
                  </a:cubicBezTo>
                </a:path>
              </a:pathLst>
            </a:custGeom>
            <a:solidFill>
              <a:srgbClr val="AEFF61">
                <a:alpha val="24706"/>
              </a:srgbClr>
            </a:solidFill>
            <a:ln cap="sq">
              <a:noFill/>
              <a:prstDash val="solid"/>
              <a:miter/>
            </a:ln>
          </p:spPr>
        </p:sp>
      </p:grpSp>
      <p:grpSp>
        <p:nvGrpSpPr>
          <p:cNvPr name="Group 76" id="76"/>
          <p:cNvGrpSpPr/>
          <p:nvPr/>
        </p:nvGrpSpPr>
        <p:grpSpPr>
          <a:xfrm rot="0">
            <a:off x="8679180" y="5972175"/>
            <a:ext cx="466725" cy="367665"/>
            <a:chOff x="0" y="0"/>
            <a:chExt cx="622300" cy="490220"/>
          </a:xfrm>
        </p:grpSpPr>
        <p:sp>
          <p:nvSpPr>
            <p:cNvPr name="Freeform 77" id="77"/>
            <p:cNvSpPr/>
            <p:nvPr/>
          </p:nvSpPr>
          <p:spPr>
            <a:xfrm flipH="false" flipV="false" rot="0">
              <a:off x="49024" y="42929"/>
              <a:ext cx="534478" cy="397501"/>
            </a:xfrm>
            <a:custGeom>
              <a:avLst/>
              <a:gdLst/>
              <a:ahLst/>
              <a:cxnLst/>
              <a:rect r="r" b="b" t="t" l="l"/>
              <a:pathLst>
                <a:path h="397501" w="534478">
                  <a:moveTo>
                    <a:pt x="499616" y="368551"/>
                  </a:moveTo>
                  <a:cubicBezTo>
                    <a:pt x="366266" y="366011"/>
                    <a:pt x="264666" y="404111"/>
                    <a:pt x="230376" y="396491"/>
                  </a:cubicBezTo>
                  <a:cubicBezTo>
                    <a:pt x="215136" y="392681"/>
                    <a:pt x="213866" y="388871"/>
                    <a:pt x="201166" y="376171"/>
                  </a:cubicBezTo>
                  <a:cubicBezTo>
                    <a:pt x="161796" y="335531"/>
                    <a:pt x="-19814" y="129791"/>
                    <a:pt x="1776" y="81531"/>
                  </a:cubicBezTo>
                  <a:cubicBezTo>
                    <a:pt x="19556" y="43431"/>
                    <a:pt x="144016" y="67561"/>
                    <a:pt x="215136" y="56131"/>
                  </a:cubicBezTo>
                  <a:cubicBezTo>
                    <a:pt x="288796" y="43431"/>
                    <a:pt x="377696" y="14221"/>
                    <a:pt x="434846" y="7871"/>
                  </a:cubicBezTo>
                  <a:cubicBezTo>
                    <a:pt x="470406" y="5331"/>
                    <a:pt x="504696" y="-9909"/>
                    <a:pt x="522476" y="10411"/>
                  </a:cubicBezTo>
                  <a:cubicBezTo>
                    <a:pt x="559306" y="49781"/>
                    <a:pt x="499616" y="368551"/>
                    <a:pt x="499616" y="368551"/>
                  </a:cubicBezTo>
                </a:path>
              </a:pathLst>
            </a:custGeom>
            <a:solidFill>
              <a:srgbClr val="AEFF61">
                <a:alpha val="24706"/>
              </a:srgbClr>
            </a:solidFill>
            <a:ln cap="sq">
              <a:noFill/>
              <a:prstDash val="solid"/>
              <a:miter/>
            </a:ln>
          </p:spPr>
        </p:sp>
      </p:grpSp>
      <p:grpSp>
        <p:nvGrpSpPr>
          <p:cNvPr name="Group 78" id="78"/>
          <p:cNvGrpSpPr/>
          <p:nvPr/>
        </p:nvGrpSpPr>
        <p:grpSpPr>
          <a:xfrm rot="0">
            <a:off x="8637270" y="6253162"/>
            <a:ext cx="466725" cy="352425"/>
            <a:chOff x="0" y="0"/>
            <a:chExt cx="622300" cy="469900"/>
          </a:xfrm>
        </p:grpSpPr>
        <p:sp>
          <p:nvSpPr>
            <p:cNvPr name="Freeform 79" id="79"/>
            <p:cNvSpPr/>
            <p:nvPr/>
          </p:nvSpPr>
          <p:spPr>
            <a:xfrm flipH="false" flipV="false" rot="0">
              <a:off x="48954" y="30877"/>
              <a:ext cx="533784" cy="380744"/>
            </a:xfrm>
            <a:custGeom>
              <a:avLst/>
              <a:gdLst/>
              <a:ahLst/>
              <a:cxnLst/>
              <a:rect r="r" b="b" t="t" l="l"/>
              <a:pathLst>
                <a:path h="380744" w="533784">
                  <a:moveTo>
                    <a:pt x="522546" y="378063"/>
                  </a:moveTo>
                  <a:cubicBezTo>
                    <a:pt x="224096" y="383143"/>
                    <a:pt x="219016" y="381873"/>
                    <a:pt x="201236" y="366633"/>
                  </a:cubicBezTo>
                  <a:cubicBezTo>
                    <a:pt x="154246" y="325993"/>
                    <a:pt x="-19744" y="125333"/>
                    <a:pt x="1846" y="71993"/>
                  </a:cubicBezTo>
                  <a:cubicBezTo>
                    <a:pt x="20896" y="30083"/>
                    <a:pt x="147896" y="41513"/>
                    <a:pt x="227906" y="32623"/>
                  </a:cubicBezTo>
                  <a:cubicBezTo>
                    <a:pt x="314266" y="22463"/>
                    <a:pt x="448886" y="-27067"/>
                    <a:pt x="499686" y="19923"/>
                  </a:cubicBezTo>
                  <a:cubicBezTo>
                    <a:pt x="559376" y="73263"/>
                    <a:pt x="522546" y="378063"/>
                    <a:pt x="522546" y="378063"/>
                  </a:cubicBezTo>
                </a:path>
              </a:pathLst>
            </a:custGeom>
            <a:solidFill>
              <a:srgbClr val="AEFF61">
                <a:alpha val="24706"/>
              </a:srgbClr>
            </a:solidFill>
            <a:ln cap="sq">
              <a:noFill/>
              <a:prstDash val="solid"/>
              <a:miter/>
            </a:ln>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100000">
              <a:srgbClr val="85AB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1889919"/>
            <a:ext cx="21687578" cy="14066838"/>
          </a:xfrm>
          <a:custGeom>
            <a:avLst/>
            <a:gdLst/>
            <a:ahLst/>
            <a:cxnLst/>
            <a:rect r="r" b="b" t="t" l="l"/>
            <a:pathLst>
              <a:path h="14066838" w="21687578">
                <a:moveTo>
                  <a:pt x="0" y="0"/>
                </a:moveTo>
                <a:lnTo>
                  <a:pt x="21687578" y="0"/>
                </a:lnTo>
                <a:lnTo>
                  <a:pt x="21687578" y="14066838"/>
                </a:lnTo>
                <a:lnTo>
                  <a:pt x="0" y="14066838"/>
                </a:lnTo>
                <a:lnTo>
                  <a:pt x="0" y="0"/>
                </a:lnTo>
                <a:close/>
              </a:path>
            </a:pathLst>
          </a:custGeom>
          <a:blipFill>
            <a:blip r:embed="rId2"/>
            <a:stretch>
              <a:fillRect l="-5131" t="0" r="-5131" b="-13331"/>
            </a:stretch>
          </a:blipFill>
        </p:spPr>
      </p:sp>
      <p:sp>
        <p:nvSpPr>
          <p:cNvPr name="Freeform 3" id="3"/>
          <p:cNvSpPr/>
          <p:nvPr/>
        </p:nvSpPr>
        <p:spPr>
          <a:xfrm flipH="false" flipV="false" rot="0">
            <a:off x="7816890" y="6500132"/>
            <a:ext cx="6526638" cy="2693722"/>
          </a:xfrm>
          <a:custGeom>
            <a:avLst/>
            <a:gdLst/>
            <a:ahLst/>
            <a:cxnLst/>
            <a:rect r="r" b="b" t="t" l="l"/>
            <a:pathLst>
              <a:path h="2693722" w="6526638">
                <a:moveTo>
                  <a:pt x="0" y="0"/>
                </a:moveTo>
                <a:lnTo>
                  <a:pt x="6526638" y="0"/>
                </a:lnTo>
                <a:lnTo>
                  <a:pt x="6526638" y="2693721"/>
                </a:lnTo>
                <a:lnTo>
                  <a:pt x="0" y="26937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18780" y="-3436804"/>
            <a:ext cx="17871339" cy="17871339"/>
          </a:xfrm>
          <a:custGeom>
            <a:avLst/>
            <a:gdLst/>
            <a:ahLst/>
            <a:cxnLst/>
            <a:rect r="r" b="b" t="t" l="l"/>
            <a:pathLst>
              <a:path h="17871339" w="17871339">
                <a:moveTo>
                  <a:pt x="0" y="0"/>
                </a:moveTo>
                <a:lnTo>
                  <a:pt x="17871339" y="0"/>
                </a:lnTo>
                <a:lnTo>
                  <a:pt x="17871339" y="17871339"/>
                </a:lnTo>
                <a:lnTo>
                  <a:pt x="0" y="17871339"/>
                </a:lnTo>
                <a:lnTo>
                  <a:pt x="0" y="0"/>
                </a:lnTo>
                <a:close/>
              </a:path>
            </a:pathLst>
          </a:custGeom>
          <a:blipFill>
            <a:blip r:embed="rId5">
              <a:alphaModFix amt="32999"/>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413810" y="2335918"/>
            <a:ext cx="6802512" cy="2807582"/>
          </a:xfrm>
          <a:custGeom>
            <a:avLst/>
            <a:gdLst/>
            <a:ahLst/>
            <a:cxnLst/>
            <a:rect r="r" b="b" t="t" l="l"/>
            <a:pathLst>
              <a:path h="2807582" w="6802512">
                <a:moveTo>
                  <a:pt x="0" y="0"/>
                </a:moveTo>
                <a:lnTo>
                  <a:pt x="6802511" y="0"/>
                </a:lnTo>
                <a:lnTo>
                  <a:pt x="6802511" y="2807582"/>
                </a:lnTo>
                <a:lnTo>
                  <a:pt x="0" y="28075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401256" y="2335918"/>
            <a:ext cx="6802512" cy="2807582"/>
          </a:xfrm>
          <a:custGeom>
            <a:avLst/>
            <a:gdLst/>
            <a:ahLst/>
            <a:cxnLst/>
            <a:rect r="r" b="b" t="t" l="l"/>
            <a:pathLst>
              <a:path h="2807582" w="6802512">
                <a:moveTo>
                  <a:pt x="0" y="0"/>
                </a:moveTo>
                <a:lnTo>
                  <a:pt x="6802511" y="0"/>
                </a:lnTo>
                <a:lnTo>
                  <a:pt x="6802511" y="2807582"/>
                </a:lnTo>
                <a:lnTo>
                  <a:pt x="0" y="28075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401256" y="6500132"/>
            <a:ext cx="6664575" cy="2750652"/>
          </a:xfrm>
          <a:custGeom>
            <a:avLst/>
            <a:gdLst/>
            <a:ahLst/>
            <a:cxnLst/>
            <a:rect r="r" b="b" t="t" l="l"/>
            <a:pathLst>
              <a:path h="2750652" w="6664575">
                <a:moveTo>
                  <a:pt x="0" y="0"/>
                </a:moveTo>
                <a:lnTo>
                  <a:pt x="6664575" y="0"/>
                </a:lnTo>
                <a:lnTo>
                  <a:pt x="6664575" y="2750651"/>
                </a:lnTo>
                <a:lnTo>
                  <a:pt x="0" y="27506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22234" y="6500132"/>
            <a:ext cx="6682787" cy="2758168"/>
          </a:xfrm>
          <a:custGeom>
            <a:avLst/>
            <a:gdLst/>
            <a:ahLst/>
            <a:cxnLst/>
            <a:rect r="r" b="b" t="t" l="l"/>
            <a:pathLst>
              <a:path h="2758168" w="6682787">
                <a:moveTo>
                  <a:pt x="0" y="0"/>
                </a:moveTo>
                <a:lnTo>
                  <a:pt x="6682787" y="0"/>
                </a:lnTo>
                <a:lnTo>
                  <a:pt x="6682787" y="2758168"/>
                </a:lnTo>
                <a:lnTo>
                  <a:pt x="0" y="27581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490075" y="2538924"/>
            <a:ext cx="6849587" cy="2344420"/>
          </a:xfrm>
          <a:prstGeom prst="rect">
            <a:avLst/>
          </a:prstGeom>
        </p:spPr>
        <p:txBody>
          <a:bodyPr anchor="t" rtlCol="false" tIns="0" lIns="0" bIns="0" rIns="0">
            <a:spAutoFit/>
          </a:bodyPr>
          <a:lstStyle/>
          <a:p>
            <a:pPr algn="l">
              <a:lnSpc>
                <a:spcPts val="3079"/>
              </a:lnSpc>
              <a:spcBef>
                <a:spcPct val="0"/>
              </a:spcBef>
            </a:pPr>
          </a:p>
          <a:p>
            <a:pPr algn="l">
              <a:lnSpc>
                <a:spcPts val="3079"/>
              </a:lnSpc>
              <a:spcBef>
                <a:spcPct val="0"/>
              </a:spcBef>
            </a:pPr>
            <a:r>
              <a:rPr lang="en-US" sz="2199">
                <a:solidFill>
                  <a:srgbClr val="000000"/>
                </a:solidFill>
                <a:latin typeface="Poppins"/>
                <a:ea typeface="Poppins"/>
                <a:cs typeface="Poppins"/>
                <a:sym typeface="Poppins"/>
              </a:rPr>
              <a:t>✔ Préparation et enrichissement des données</a:t>
            </a:r>
          </a:p>
          <a:p>
            <a:pPr algn="l">
              <a:lnSpc>
                <a:spcPts val="3079"/>
              </a:lnSpc>
              <a:spcBef>
                <a:spcPct val="0"/>
              </a:spcBef>
            </a:pPr>
            <a:r>
              <a:rPr lang="en-US" sz="2199">
                <a:solidFill>
                  <a:srgbClr val="000000"/>
                </a:solidFill>
                <a:latin typeface="Poppins"/>
                <a:ea typeface="Poppins"/>
                <a:cs typeface="Poppins"/>
                <a:sym typeface="Poppins"/>
              </a:rPr>
              <a:t>✔ Réduction de dimension par ACP</a:t>
            </a:r>
          </a:p>
          <a:p>
            <a:pPr algn="l">
              <a:lnSpc>
                <a:spcPts val="3079"/>
              </a:lnSpc>
              <a:spcBef>
                <a:spcPct val="0"/>
              </a:spcBef>
            </a:pPr>
            <a:r>
              <a:rPr lang="en-US" sz="2199">
                <a:solidFill>
                  <a:srgbClr val="000000"/>
                </a:solidFill>
                <a:latin typeface="Poppins"/>
                <a:ea typeface="Poppins"/>
                <a:cs typeface="Poppins"/>
                <a:sym typeface="Poppins"/>
              </a:rPr>
              <a:t>✔ Segmentation des pays par CAH et K-Means</a:t>
            </a:r>
          </a:p>
          <a:p>
            <a:pPr algn="l">
              <a:lnSpc>
                <a:spcPts val="3079"/>
              </a:lnSpc>
              <a:spcBef>
                <a:spcPct val="0"/>
              </a:spcBef>
            </a:pPr>
            <a:r>
              <a:rPr lang="en-US" sz="2199">
                <a:solidFill>
                  <a:srgbClr val="000000"/>
                </a:solidFill>
                <a:latin typeface="Poppins"/>
                <a:ea typeface="Poppins"/>
                <a:cs typeface="Poppins"/>
                <a:sym typeface="Poppins"/>
              </a:rPr>
              <a:t>✔ Construction d'un score multicritère</a:t>
            </a:r>
          </a:p>
          <a:p>
            <a:pPr algn="l">
              <a:lnSpc>
                <a:spcPts val="3079"/>
              </a:lnSpc>
              <a:spcBef>
                <a:spcPct val="0"/>
              </a:spcBef>
            </a:pPr>
            <a:r>
              <a:rPr lang="en-US" sz="2199">
                <a:solidFill>
                  <a:srgbClr val="000000"/>
                </a:solidFill>
                <a:latin typeface="Poppins"/>
                <a:ea typeface="Poppins"/>
                <a:cs typeface="Poppins"/>
                <a:sym typeface="Poppins"/>
              </a:rPr>
              <a:t>✔ Recommandation de cinq marchés prioritaires</a:t>
            </a:r>
          </a:p>
        </p:txBody>
      </p:sp>
      <p:sp>
        <p:nvSpPr>
          <p:cNvPr name="TextBox 10" id="10"/>
          <p:cNvSpPr txBox="true"/>
          <p:nvPr/>
        </p:nvSpPr>
        <p:spPr>
          <a:xfrm rot="0">
            <a:off x="6526638" y="632073"/>
            <a:ext cx="8592580" cy="1236345"/>
          </a:xfrm>
          <a:prstGeom prst="rect">
            <a:avLst/>
          </a:prstGeom>
        </p:spPr>
        <p:txBody>
          <a:bodyPr anchor="t" rtlCol="false" tIns="0" lIns="0" bIns="0" rIns="0">
            <a:spAutoFit/>
          </a:bodyPr>
          <a:lstStyle/>
          <a:p>
            <a:pPr algn="l">
              <a:lnSpc>
                <a:spcPts val="10080"/>
              </a:lnSpc>
              <a:spcBef>
                <a:spcPct val="0"/>
              </a:spcBef>
            </a:pPr>
            <a:r>
              <a:rPr lang="en-US" sz="7200">
                <a:solidFill>
                  <a:srgbClr val="262B34"/>
                </a:solidFill>
                <a:latin typeface="Anton"/>
                <a:ea typeface="Anton"/>
                <a:cs typeface="Anton"/>
                <a:sym typeface="Anton"/>
              </a:rPr>
              <a:t>CONCLUSION</a:t>
            </a:r>
          </a:p>
        </p:txBody>
      </p:sp>
      <p:sp>
        <p:nvSpPr>
          <p:cNvPr name="TextBox 11" id="11"/>
          <p:cNvSpPr txBox="true"/>
          <p:nvPr/>
        </p:nvSpPr>
        <p:spPr>
          <a:xfrm rot="0">
            <a:off x="1490075" y="2081918"/>
            <a:ext cx="2537071"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Objectif atteint</a:t>
            </a:r>
          </a:p>
        </p:txBody>
      </p:sp>
      <p:sp>
        <p:nvSpPr>
          <p:cNvPr name="TextBox 12" id="12"/>
          <p:cNvSpPr txBox="true"/>
          <p:nvPr/>
        </p:nvSpPr>
        <p:spPr>
          <a:xfrm rot="0">
            <a:off x="1100551" y="6098524"/>
            <a:ext cx="3371345"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 Perspec</a:t>
            </a:r>
            <a:r>
              <a:rPr lang="en-US" b="true" sz="2499">
                <a:solidFill>
                  <a:srgbClr val="000000"/>
                </a:solidFill>
                <a:latin typeface="Poppins Bold"/>
                <a:ea typeface="Poppins Bold"/>
                <a:cs typeface="Poppins Bold"/>
                <a:sym typeface="Poppins Bold"/>
              </a:rPr>
              <a:t>tives</a:t>
            </a:r>
          </a:p>
        </p:txBody>
      </p:sp>
      <p:sp>
        <p:nvSpPr>
          <p:cNvPr name="Freeform 13" id="13"/>
          <p:cNvSpPr/>
          <p:nvPr/>
        </p:nvSpPr>
        <p:spPr>
          <a:xfrm flipH="false" flipV="false" rot="0">
            <a:off x="8183513" y="6500132"/>
            <a:ext cx="6682787" cy="2758168"/>
          </a:xfrm>
          <a:custGeom>
            <a:avLst/>
            <a:gdLst/>
            <a:ahLst/>
            <a:cxnLst/>
            <a:rect r="r" b="b" t="t" l="l"/>
            <a:pathLst>
              <a:path h="2758168" w="6682787">
                <a:moveTo>
                  <a:pt x="0" y="0"/>
                </a:moveTo>
                <a:lnTo>
                  <a:pt x="6682787" y="0"/>
                </a:lnTo>
                <a:lnTo>
                  <a:pt x="6682787" y="2758168"/>
                </a:lnTo>
                <a:lnTo>
                  <a:pt x="0" y="27581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517688" y="6703137"/>
            <a:ext cx="12251373" cy="2344420"/>
          </a:xfrm>
          <a:prstGeom prst="rect">
            <a:avLst/>
          </a:prstGeom>
        </p:spPr>
        <p:txBody>
          <a:bodyPr anchor="t" rtlCol="false" tIns="0" lIns="0" bIns="0" rIns="0">
            <a:spAutoFit/>
          </a:bodyPr>
          <a:lstStyle/>
          <a:p>
            <a:pPr algn="l">
              <a:lnSpc>
                <a:spcPts val="3079"/>
              </a:lnSpc>
            </a:pPr>
          </a:p>
          <a:p>
            <a:pPr algn="l" marL="474978" indent="-237489" lvl="1">
              <a:lnSpc>
                <a:spcPts val="3079"/>
              </a:lnSpc>
              <a:buFont typeface="Arial"/>
              <a:buChar char="•"/>
            </a:pPr>
            <a:r>
              <a:rPr lang="en-US" sz="2199">
                <a:solidFill>
                  <a:srgbClr val="000000"/>
                </a:solidFill>
                <a:latin typeface="Poppins"/>
                <a:ea typeface="Poppins"/>
                <a:cs typeface="Poppins"/>
                <a:sym typeface="Poppins"/>
              </a:rPr>
              <a:t>Étudier la réglementation sanitaire de</a:t>
            </a:r>
            <a:r>
              <a:rPr lang="en-US" sz="2199">
                <a:solidFill>
                  <a:srgbClr val="000000"/>
                </a:solidFill>
                <a:latin typeface="Poppins"/>
                <a:ea typeface="Poppins"/>
                <a:cs typeface="Poppins"/>
                <a:sym typeface="Poppins"/>
              </a:rPr>
              <a:t> chaque pays.</a:t>
            </a:r>
          </a:p>
          <a:p>
            <a:pPr algn="l" marL="474978" indent="-237489" lvl="1">
              <a:lnSpc>
                <a:spcPts val="3079"/>
              </a:lnSpc>
              <a:buFont typeface="Arial"/>
              <a:buChar char="•"/>
            </a:pPr>
            <a:r>
              <a:rPr lang="en-US" sz="2199">
                <a:solidFill>
                  <a:srgbClr val="000000"/>
                </a:solidFill>
                <a:latin typeface="Poppins"/>
                <a:ea typeface="Poppins"/>
                <a:cs typeface="Poppins"/>
                <a:sym typeface="Poppins"/>
              </a:rPr>
              <a:t>Évaluer les coûts logistiques.</a:t>
            </a:r>
          </a:p>
          <a:p>
            <a:pPr algn="l" marL="474978" indent="-237489" lvl="1">
              <a:lnSpc>
                <a:spcPts val="3079"/>
              </a:lnSpc>
              <a:buFont typeface="Arial"/>
              <a:buChar char="•"/>
            </a:pPr>
            <a:r>
              <a:rPr lang="en-US" sz="2199">
                <a:solidFill>
                  <a:srgbClr val="000000"/>
                </a:solidFill>
                <a:latin typeface="Poppins"/>
                <a:ea typeface="Poppins"/>
                <a:cs typeface="Poppins"/>
                <a:sym typeface="Poppins"/>
              </a:rPr>
              <a:t>Analyser la concurrence locale.</a:t>
            </a:r>
          </a:p>
          <a:p>
            <a:pPr algn="l" marL="474978" indent="-237489" lvl="1">
              <a:lnSpc>
                <a:spcPts val="3079"/>
              </a:lnSpc>
              <a:buFont typeface="Arial"/>
              <a:buChar char="•"/>
            </a:pPr>
            <a:r>
              <a:rPr lang="en-US" sz="2199">
                <a:solidFill>
                  <a:srgbClr val="000000"/>
                </a:solidFill>
                <a:latin typeface="Poppins"/>
                <a:ea typeface="Poppins"/>
                <a:cs typeface="Poppins"/>
                <a:sym typeface="Poppins"/>
              </a:rPr>
              <a:t>Réaliser une étude de marché plus approfondie avant toute décision d'implantation.</a:t>
            </a:r>
          </a:p>
          <a:p>
            <a:pPr algn="l">
              <a:lnSpc>
                <a:spcPts val="3079"/>
              </a:lnSpc>
              <a:spcBef>
                <a:spcPct val="0"/>
              </a:spcBef>
            </a:pPr>
          </a:p>
        </p:txBody>
      </p:sp>
      <p:sp>
        <p:nvSpPr>
          <p:cNvPr name="Freeform 15" id="15"/>
          <p:cNvSpPr/>
          <p:nvPr/>
        </p:nvSpPr>
        <p:spPr>
          <a:xfrm flipH="false" flipV="false" rot="0">
            <a:off x="11080209" y="2998717"/>
            <a:ext cx="7519617" cy="3103551"/>
          </a:xfrm>
          <a:custGeom>
            <a:avLst/>
            <a:gdLst/>
            <a:ahLst/>
            <a:cxnLst/>
            <a:rect r="r" b="b" t="t" l="l"/>
            <a:pathLst>
              <a:path h="3103551" w="7519617">
                <a:moveTo>
                  <a:pt x="0" y="0"/>
                </a:moveTo>
                <a:lnTo>
                  <a:pt x="7519617" y="0"/>
                </a:lnTo>
                <a:lnTo>
                  <a:pt x="7519617" y="3103551"/>
                </a:lnTo>
                <a:lnTo>
                  <a:pt x="0" y="31035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1498274" y="3544970"/>
            <a:ext cx="6169581" cy="1953895"/>
          </a:xfrm>
          <a:prstGeom prst="rect">
            <a:avLst/>
          </a:prstGeom>
        </p:spPr>
        <p:txBody>
          <a:bodyPr anchor="t" rtlCol="false" tIns="0" lIns="0" bIns="0" rIns="0">
            <a:spAutoFit/>
          </a:bodyPr>
          <a:lstStyle/>
          <a:p>
            <a:pPr algn="l">
              <a:lnSpc>
                <a:spcPts val="3079"/>
              </a:lnSpc>
              <a:spcBef>
                <a:spcPct val="0"/>
              </a:spcBef>
            </a:pPr>
            <a:r>
              <a:rPr lang="en-US" b="true" sz="2199">
                <a:solidFill>
                  <a:srgbClr val="000000"/>
                </a:solidFill>
                <a:latin typeface="Poppins Bold"/>
                <a:ea typeface="Poppins Bold"/>
                <a:cs typeface="Poppins Bold"/>
                <a:sym typeface="Poppins Bold"/>
              </a:rPr>
              <a:t>L</a:t>
            </a:r>
            <a:r>
              <a:rPr lang="en-US" b="true" sz="2199">
                <a:solidFill>
                  <a:srgbClr val="000000"/>
                </a:solidFill>
                <a:latin typeface="Poppins Bold"/>
                <a:ea typeface="Poppins Bold"/>
                <a:cs typeface="Poppins Bold"/>
                <a:sym typeface="Poppins Bold"/>
              </a:rPr>
              <a:t>es Émirats arabes unis, l'Australie, le Chili, le Danemark et le Koweït apparaissent comme les marchés les plus prometteurs pour soutenir le développement international de La Poule Qui Chante.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DAHOuA3Wob4</dc:identifier>
  <dcterms:modified xsi:type="dcterms:W3CDTF">2011-08-01T06:04:30Z</dcterms:modified>
  <cp:revision>1</cp:revision>
  <dc:title>P11</dc:title>
</cp:coreProperties>
</file>